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embeddedFontLst>
    <p:embeddedFont>
      <p:font typeface="Segoe UI" panose="020B0502040204020203" pitchFamily="34" charset="0"/>
      <p:regular r:id="rId20"/>
      <p:bold r:id="rId21"/>
      <p:italic r:id="rId22"/>
      <p:boldItalic r:id="rId2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4" roundtripDataSignature="AMtx7mgVqUjjyhyITIqzF0EAJq4i3IfCS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BDA1C82-3BD5-4FBE-BF4D-7157B478B294}">
  <a:tblStyle styleId="{9BDA1C82-3BD5-4FBE-BF4D-7157B478B29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(15 s) Presentación del proyecto: Empresa Demo Sistema de Gestión, desarrollado en el área de Servicios Conectados de Empresa Demo.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(20 s) Integrantes y roles. la contraparte comercial es la Product Owner por parte de Empresa Demo.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(40 s) Contexto: el área de Conectividad administra los camiones conectados. Mencionar que el dashboard ahora es una página web de otro practicante que une Conectividad y Academia; la app solo la muestra en Inicio.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(50 s) Problemática: planillas dispersas, trabajo manual y prohibición de SQL. Solución: app de escritorio sobre los mismos archivos de SharePoint, con una base central por camión.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(40 s) Objetivo general y los cuatro objetivos específicos: centralizar, automatizar, rendimiento y seguridad.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(30 s) Alcances y limitaciones. Recalcar que el contenido del dashboard no es parte de esta app.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(35 s) Metodología híbrida: Scrum para el desarrollo (sprints de dos semanas con la Product Owner) y PMBOK para la gobernanza (alcance, riesgos, cambios y calidad).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(40 s) Cronograma semana a semana desde el 13-07. Hoy estamos en el Sprint 5; los sprints 6 a 8 quedan planificados hasta el 15-11, y el cierre Capstone en diciembre.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(5 s) Pasamos a la arquitectura.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(50 s) Quién usa la app, qué pantallas tiene, qué hace por dentro de forma automática, con qué servicios externos se conecta y dónde quedan los datos.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(40 s) Cómo llegaban los datos: siete archivos de distintos dueños, con el mismo dato escrito de formas distintas.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(45 s) Cómo se unieron: todo se conecta a una base central de camiones usando el VIN (camión) y el CDB (cliente). La app genera Correos, Instalaciones y los casos de revisión de CM.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(30 s) Tecnologías principales y para qué se usa cada una.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(2 a 3 min) Reproducir el video de demostración.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(40 s) Resultados ligados a cada objetivo específico.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(40 s) Obstáculos técnicos y de gestión, y cómo se resolvieron.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Cierre y preguntas.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16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4" name="Google Shape;14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1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" name="Google Shape;20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8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8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9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9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0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20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20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20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20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23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23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24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5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6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2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2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L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 spd="slow">
    <p:wipe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g"/><Relationship Id="rId4" Type="http://schemas.openxmlformats.org/officeDocument/2006/relationships/image" Target="../media/image1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p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p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p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1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p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p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8431" y="493776"/>
            <a:ext cx="3145536" cy="786384"/>
          </a:xfrm>
          <a:prstGeom prst="rect">
            <a:avLst/>
          </a:prstGeom>
        </p:spPr>
      </p:pic>
      <p:pic>
        <p:nvPicPr>
          <p:cNvPr id="3" name="Picture 2" descr="splash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" y="457200"/>
            <a:ext cx="868680" cy="868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0" y="1783080"/>
            <a:ext cx="12191695" cy="8229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4000" b="1" i="0">
                <a:solidFill>
                  <a:srgbClr val="003057"/>
                </a:solidFill>
                <a:latin typeface="Segoe UI"/>
              </a:rPr>
              <a:t>PROYECTO EMPRESA SISTEMA DE GESTIÓN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2606040"/>
            <a:ext cx="12191695" cy="4572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2000" b="0" i="0">
                <a:solidFill>
                  <a:srgbClr val="475569"/>
                </a:solidFill>
                <a:latin typeface="Segoe UI"/>
              </a:rPr>
              <a:t>Plataforma de escritorio para centralizar la gestión de la flota conectada de Empresa Demo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184648" y="3310128"/>
            <a:ext cx="182880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3520440"/>
            <a:ext cx="12191695" cy="41148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1500" b="0" i="0">
                <a:solidFill>
                  <a:srgbClr val="64748B"/>
                </a:solidFill>
                <a:latin typeface="Segoe UI"/>
              </a:rPr>
              <a:t>Área de Servicios Conectados  ·  Proyecto Capstone 2026</a:t>
            </a:r>
          </a:p>
        </p:txBody>
      </p:sp>
      <p:pic>
        <p:nvPicPr>
          <p:cNvPr id="8" name="Picture 7" descr="sidebar.jpg"/>
          <p:cNvPicPr>
            <a:picLocks noChangeAspect="1"/>
          </p:cNvPicPr>
          <p:nvPr/>
        </p:nvPicPr>
        <p:blipFill>
          <a:blip r:embed="rId5"/>
          <a:srcRect t="30000" b="5000"/>
          <a:stretch>
            <a:fillRect/>
          </a:stretch>
        </p:blipFill>
        <p:spPr>
          <a:xfrm>
            <a:off x="0" y="4343400"/>
            <a:ext cx="12191695" cy="251460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4343400"/>
            <a:ext cx="12191695" cy="2514600"/>
          </a:xfrm>
          <a:prstGeom prst="rect">
            <a:avLst/>
          </a:prstGeom>
          <a:solidFill>
            <a:srgbClr val="003057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5989320"/>
            <a:ext cx="11064240" cy="5486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Segoe UI"/>
              </a:rPr>
              <a:t>Felipe Monsalve</a:t>
            </a:r>
            <a:r>
              <a:rPr sz="1500" b="0" i="0">
                <a:solidFill>
                  <a:srgbClr val="DCE6F2"/>
                </a:solidFill>
                <a:latin typeface="Segoe UI"/>
              </a:rPr>
              <a:t>   ·   </a:t>
            </a:r>
            <a:r>
              <a:rPr sz="1500" b="1" i="0">
                <a:solidFill>
                  <a:srgbClr val="FFFFFF"/>
                </a:solidFill>
                <a:latin typeface="Segoe UI"/>
              </a:rPr>
              <a:t>Integrante B</a:t>
            </a:r>
            <a:r>
              <a:rPr sz="1300" b="0" i="0">
                <a:solidFill>
                  <a:srgbClr val="DCE6F2"/>
                </a:solidFill>
                <a:latin typeface="Segoe UI"/>
              </a:rPr>
              <a:t>        Escuela de Informática y Telecomunicaciones · Duoc UC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" y="347472"/>
            <a:ext cx="5486400" cy="384048"/>
          </a:xfrm>
          <a:prstGeom prst="rect">
            <a:avLst/>
          </a:prstGeom>
          <a:noFill/>
        </p:spPr>
        <p:txBody>
          <a:bodyPr wrap="square" rIns="73152" anchor="t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  <a:latin typeface="Segoe UI"/>
              </a:rPr>
              <a:t>Empresa Demo Sistema de Gestión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758952"/>
            <a:ext cx="4087368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splas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7" y="246888"/>
            <a:ext cx="713232" cy="713232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8705088" y="274320"/>
            <a:ext cx="0" cy="658368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9096" y="210312"/>
            <a:ext cx="3145536" cy="7863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37744" y="2743200"/>
            <a:ext cx="3611880" cy="128016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400" b="0" i="0">
                <a:solidFill>
                  <a:srgbClr val="0B2A4A"/>
                </a:solidFill>
                <a:latin typeface="Segoe UI"/>
              </a:rPr>
              <a:t>INTEGRANTES DEL PROYECTO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" y="4160520"/>
            <a:ext cx="3611880" cy="7315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1200" b="0" i="0">
                <a:solidFill>
                  <a:srgbClr val="64748B"/>
                </a:solidFill>
                <a:latin typeface="Segoe UI"/>
              </a:rPr>
              <a:t>Product Owner (Empresa Demo)</a:t>
            </a:r>
          </a:p>
          <a:p>
            <a:pPr algn="ctr"/>
            <a:r>
              <a:rPr sz="1400" b="1" i="0">
                <a:solidFill>
                  <a:srgbClr val="003057"/>
                </a:solidFill>
                <a:latin typeface="Segoe UI"/>
              </a:rPr>
              <a:t>la contraparte comercial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69663" y="1097280"/>
            <a:ext cx="7671816" cy="2423160"/>
          </a:xfrm>
          <a:prstGeom prst="roundRect">
            <a:avLst>
              <a:gd name="adj" fmla="val 12000"/>
            </a:avLst>
          </a:prstGeom>
          <a:solidFill>
            <a:srgbClr val="003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4434840" y="1481328"/>
            <a:ext cx="1508760" cy="1645920"/>
          </a:xfrm>
          <a:prstGeom prst="roundRect">
            <a:avLst>
              <a:gd name="adj" fmla="val 10000"/>
            </a:avLst>
          </a:prstGeom>
          <a:solidFill>
            <a:srgbClr val="DCE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00" b="0" i="0">
                <a:solidFill>
                  <a:srgbClr val="64748B"/>
                </a:solidFill>
                <a:latin typeface="Segoe UI"/>
              </a:rPr>
              <a:t>Foto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72200" y="1325880"/>
            <a:ext cx="5486400" cy="2103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Segoe UI"/>
              </a:rPr>
              <a:t>Integrante B</a:t>
            </a:r>
          </a:p>
          <a:p>
            <a:pPr marL="164592" indent="-164592" algn="l">
              <a:spcBef>
                <a:spcPts val="600"/>
              </a:spcBef>
              <a:buClr>
                <a:srgbClr val="FFFFFF"/>
              </a:buClr>
              <a:buChar char="•"/>
            </a:pPr>
            <a:r>
              <a:rPr sz="1500" b="0" i="0">
                <a:solidFill>
                  <a:srgbClr val="FFFFFF"/>
                </a:solidFill>
                <a:latin typeface="Segoe UI"/>
              </a:rPr>
              <a:t>Scrum Master / Gestora de Proyecto</a:t>
            </a:r>
          </a:p>
          <a:p>
            <a:pPr marL="164592" indent="-164592" algn="l">
              <a:spcBef>
                <a:spcPts val="400"/>
              </a:spcBef>
              <a:buClr>
                <a:srgbClr val="FFFFFF"/>
              </a:buClr>
              <a:buChar char="•"/>
            </a:pPr>
            <a:r>
              <a:rPr sz="1300" b="0" i="0">
                <a:solidFill>
                  <a:srgbClr val="DCE6F2"/>
                </a:solidFill>
                <a:latin typeface="Segoe UI"/>
              </a:rPr>
              <a:t>Gobernanza del proyecto bajo estándar PMBOK, gestión del Product Backlog y de los Sprints en Scrum, matriz de riesgos y documentación académica Capstone.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69663" y="3886200"/>
            <a:ext cx="7671816" cy="2423160"/>
          </a:xfrm>
          <a:prstGeom prst="roundRect">
            <a:avLst>
              <a:gd name="adj" fmla="val 12000"/>
            </a:avLst>
          </a:prstGeom>
          <a:solidFill>
            <a:srgbClr val="003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4434840" y="4270248"/>
            <a:ext cx="1508760" cy="1645920"/>
          </a:xfrm>
          <a:prstGeom prst="roundRect">
            <a:avLst>
              <a:gd name="adj" fmla="val 10000"/>
            </a:avLst>
          </a:prstGeom>
          <a:solidFill>
            <a:srgbClr val="DCE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73152" rtlCol="0" anchor="ctr"/>
          <a:lstStyle/>
          <a:p>
            <a:pPr algn="ctr"/>
            <a:r>
              <a:rPr sz="1100" b="0" i="0">
                <a:solidFill>
                  <a:srgbClr val="64748B"/>
                </a:solidFill>
                <a:latin typeface="Segoe UI"/>
              </a:rPr>
              <a:t>Foto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4114800"/>
            <a:ext cx="5486400" cy="21031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2400" b="0" i="0">
                <a:solidFill>
                  <a:srgbClr val="FFFFFF"/>
                </a:solidFill>
                <a:latin typeface="Segoe UI"/>
              </a:rPr>
              <a:t>Felipe Monsalve</a:t>
            </a:r>
          </a:p>
          <a:p>
            <a:pPr marL="164592" indent="-164592" algn="l">
              <a:spcBef>
                <a:spcPts val="600"/>
              </a:spcBef>
              <a:buClr>
                <a:srgbClr val="FFFFFF"/>
              </a:buClr>
              <a:buChar char="•"/>
            </a:pPr>
            <a:r>
              <a:rPr sz="1500" b="0" i="0">
                <a:solidFill>
                  <a:srgbClr val="FFFFFF"/>
                </a:solidFill>
                <a:latin typeface="Segoe UI"/>
              </a:rPr>
              <a:t>Líder de Desarrollo / Arquitecto de Software</a:t>
            </a:r>
          </a:p>
          <a:p>
            <a:pPr marL="164592" indent="-164592" algn="l">
              <a:spcBef>
                <a:spcPts val="400"/>
              </a:spcBef>
              <a:buClr>
                <a:srgbClr val="FFFFFF"/>
              </a:buClr>
              <a:buChar char="•"/>
            </a:pPr>
            <a:r>
              <a:rPr sz="1300" b="0" i="0">
                <a:solidFill>
                  <a:srgbClr val="DCE6F2"/>
                </a:solidFill>
                <a:latin typeface="Segoe UI"/>
              </a:rPr>
              <a:t>Diseño de la arquitectura y la interfaz de la aplicación, guardado seguro de los datos, integración con Outlook y con la página web del dashboard, pruebas automáticas y ejecutable.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" y="347472"/>
            <a:ext cx="5486400" cy="384048"/>
          </a:xfrm>
          <a:prstGeom prst="rect">
            <a:avLst/>
          </a:prstGeom>
          <a:noFill/>
        </p:spPr>
        <p:txBody>
          <a:bodyPr wrap="square" rIns="73152" anchor="t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  <a:latin typeface="Segoe UI"/>
              </a:rPr>
              <a:t>Empresa Demo Sistema de Gestión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758952"/>
            <a:ext cx="4087368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splas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7" y="246888"/>
            <a:ext cx="713232" cy="713232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8705088" y="274320"/>
            <a:ext cx="0" cy="658368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9096" y="210312"/>
            <a:ext cx="3145536" cy="7863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0" y="914400"/>
            <a:ext cx="12191695" cy="6858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400" b="1" i="0">
                <a:solidFill>
                  <a:srgbClr val="003057"/>
                </a:solidFill>
                <a:latin typeface="Segoe UI"/>
              </a:rPr>
              <a:t>CONTEXTO</a:t>
            </a:r>
          </a:p>
        </p:txBody>
      </p:sp>
      <p:pic>
        <p:nvPicPr>
          <p:cNvPr id="8" name="Picture 7" descr="sidebar.jpg"/>
          <p:cNvPicPr>
            <a:picLocks noChangeAspect="1"/>
          </p:cNvPicPr>
          <p:nvPr/>
        </p:nvPicPr>
        <p:blipFill>
          <a:blip r:embed="rId5"/>
          <a:srcRect l="22000" r="12000"/>
          <a:stretch>
            <a:fillRect/>
          </a:stretch>
        </p:blipFill>
        <p:spPr>
          <a:xfrm>
            <a:off x="640080" y="1874519"/>
            <a:ext cx="4572000" cy="434340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577840" y="1874519"/>
            <a:ext cx="6035040" cy="132588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577840" y="1874519"/>
            <a:ext cx="82296" cy="13258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760720" y="1947672"/>
            <a:ext cx="5760720" cy="12344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1" i="0">
                <a:solidFill>
                  <a:srgbClr val="003057"/>
                </a:solidFill>
                <a:latin typeface="Segoe UI"/>
              </a:rPr>
              <a:t>Empresa Demo · Área de Servicios Conectados (Conectividad)</a:t>
            </a:r>
          </a:p>
          <a:p>
            <a:pPr algn="l">
              <a:spcBef>
                <a:spcPts val="400"/>
              </a:spcBef>
            </a:pPr>
            <a:r>
              <a:rPr sz="1200" b="0" i="0">
                <a:solidFill>
                  <a:srgbClr val="1E293B"/>
                </a:solidFill>
                <a:latin typeface="Segoe UI"/>
              </a:rPr>
              <a:t>Administra los camiones conectados a Servicios Conectados: contratos de servicio, cobros mensuales (provisiones), contratos de mantenimiento y comunicación con los clientes.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577840" y="3355848"/>
            <a:ext cx="6035040" cy="132588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577840" y="3355848"/>
            <a:ext cx="82296" cy="13258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760720" y="3429000"/>
            <a:ext cx="5760720" cy="12344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1" i="0">
                <a:solidFill>
                  <a:srgbClr val="003057"/>
                </a:solidFill>
                <a:latin typeface="Segoe UI"/>
              </a:rPr>
              <a:t>Un equipo, la misma información</a:t>
            </a:r>
          </a:p>
          <a:p>
            <a:pPr algn="l">
              <a:spcBef>
                <a:spcPts val="400"/>
              </a:spcBef>
            </a:pPr>
            <a:r>
              <a:rPr sz="1200" b="0" i="0">
                <a:solidFill>
                  <a:srgbClr val="1E293B"/>
                </a:solidFill>
                <a:latin typeface="Segoe UI"/>
              </a:rPr>
              <a:t>Comercial, Operaciones y Finanzas trabajan sobre los datos de cada camión (más de 12.000 unidades), que vivían repartidos en planillas Excel de distintas personas.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77840" y="4837176"/>
            <a:ext cx="6035040" cy="132588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577840" y="4837176"/>
            <a:ext cx="82296" cy="132588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760720" y="4910328"/>
            <a:ext cx="5760720" cy="123444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l"/>
            <a:r>
              <a:rPr sz="1400" b="1" i="0">
                <a:solidFill>
                  <a:srgbClr val="003057"/>
                </a:solidFill>
                <a:latin typeface="Segoe UI"/>
              </a:rPr>
              <a:t>Integración con el área de Academia</a:t>
            </a:r>
          </a:p>
          <a:p>
            <a:pPr algn="l">
              <a:spcBef>
                <a:spcPts val="400"/>
              </a:spcBef>
            </a:pPr>
            <a:r>
              <a:rPr sz="1200" b="0" i="0">
                <a:solidFill>
                  <a:srgbClr val="1E293B"/>
                </a:solidFill>
                <a:latin typeface="Segoe UI"/>
              </a:rPr>
              <a:t>Academia (conductores) y Conectividad comparten un panel de indicadores. Otro practicante lo desarrolla como página web y esta aplicación lo muestra en su pantalla de Inicio.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6291072"/>
            <a:ext cx="10972800" cy="3657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1100" b="0" i="0">
                <a:solidFill>
                  <a:srgbClr val="64748B"/>
                </a:solidFill>
                <a:latin typeface="Segoe UI"/>
              </a:rPr>
              <a:t>Práctica profesional: 13-07-2026 al 15-11-2026   ·   Proyecto Capstone: hasta diciembre de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" y="347472"/>
            <a:ext cx="5486400" cy="384048"/>
          </a:xfrm>
          <a:prstGeom prst="rect">
            <a:avLst/>
          </a:prstGeom>
          <a:noFill/>
        </p:spPr>
        <p:txBody>
          <a:bodyPr wrap="square" rIns="73152" anchor="t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  <a:latin typeface="Segoe UI"/>
              </a:rPr>
              <a:t>Empresa Demo Sistema de Gestión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758952"/>
            <a:ext cx="4087368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splas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7" y="246888"/>
            <a:ext cx="713232" cy="713232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8705088" y="274320"/>
            <a:ext cx="0" cy="658368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9096" y="210312"/>
            <a:ext cx="3145536" cy="7863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0" y="960120"/>
            <a:ext cx="12191695" cy="6858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400" b="1" i="0">
                <a:solidFill>
                  <a:srgbClr val="003057"/>
                </a:solidFill>
                <a:latin typeface="Segoe UI"/>
              </a:rPr>
              <a:t>DESCRIPCIÓN DEL PROYECTO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2011680"/>
            <a:ext cx="4617720" cy="4434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1C6B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Ins="182880" rtlCol="0" anchor="t"/>
          <a:lstStyle/>
          <a:p>
            <a:pPr algn="ctr"/>
            <a:r>
              <a:rPr sz="2400" b="0" i="0">
                <a:solidFill>
                  <a:srgbClr val="003057"/>
                </a:solidFill>
                <a:latin typeface="Segoe UI"/>
              </a:rPr>
              <a:t>Problemática</a:t>
            </a:r>
          </a:p>
          <a:p>
            <a:pPr algn="l">
              <a:spcBef>
                <a:spcPts val="1000"/>
              </a:spcBef>
            </a:pPr>
            <a:r>
              <a:rPr sz="1300" b="1" i="0">
                <a:solidFill>
                  <a:srgbClr val="1E293B"/>
                </a:solidFill>
                <a:latin typeface="Segoe UI"/>
              </a:rPr>
              <a:t>Información dispersa</a:t>
            </a:r>
          </a:p>
          <a:p>
            <a:pPr marL="164592" indent="-164592" algn="l">
              <a:buClr>
                <a:srgbClr val="2563EB"/>
              </a:buClr>
              <a:buChar char="-"/>
            </a:pPr>
            <a:r>
              <a:rPr sz="1200" b="0" i="0">
                <a:solidFill>
                  <a:srgbClr val="1E293B"/>
                </a:solidFill>
                <a:latin typeface="Segoe UI"/>
              </a:rPr>
              <a:t>Entre 10 y 15 planillas Excel independientes, cada una con su propio formato y responsable.</a:t>
            </a:r>
          </a:p>
          <a:p>
            <a:pPr algn="l">
              <a:spcBef>
                <a:spcPts val="600"/>
              </a:spcBef>
            </a:pPr>
            <a:r>
              <a:rPr sz="1300" b="1" i="0">
                <a:solidFill>
                  <a:srgbClr val="1E293B"/>
                </a:solidFill>
                <a:latin typeface="Segoe UI"/>
              </a:rPr>
              <a:t>Trabajo manual</a:t>
            </a:r>
          </a:p>
          <a:p>
            <a:pPr marL="164592" indent="-164592" algn="l">
              <a:buClr>
                <a:srgbClr val="2563EB"/>
              </a:buClr>
              <a:buChar char="-"/>
            </a:pPr>
            <a:r>
              <a:rPr sz="1200" b="0" i="0">
                <a:solidFill>
                  <a:srgbClr val="1E293B"/>
                </a:solidFill>
                <a:latin typeface="Segoe UI"/>
              </a:rPr>
              <a:t>Cruces de datos, fórmulas y correos hechos a mano, con alto riesgo de error humano.</a:t>
            </a:r>
          </a:p>
          <a:p>
            <a:pPr algn="l">
              <a:spcBef>
                <a:spcPts val="600"/>
              </a:spcBef>
            </a:pPr>
            <a:r>
              <a:rPr sz="1300" b="1" i="0">
                <a:solidFill>
                  <a:srgbClr val="1E293B"/>
                </a:solidFill>
                <a:latin typeface="Segoe UI"/>
              </a:rPr>
              <a:t>Sin control de cambios</a:t>
            </a:r>
          </a:p>
          <a:p>
            <a:pPr marL="164592" indent="-164592" algn="l">
              <a:buClr>
                <a:srgbClr val="2563EB"/>
              </a:buClr>
              <a:buChar char="-"/>
            </a:pPr>
            <a:r>
              <a:rPr sz="1200" b="0" i="0">
                <a:solidFill>
                  <a:srgbClr val="1E293B"/>
                </a:solidFill>
                <a:latin typeface="Segoe UI"/>
              </a:rPr>
              <a:t>No había respaldos ni registro de quién modificó cada dato.</a:t>
            </a:r>
          </a:p>
          <a:p>
            <a:pPr algn="l">
              <a:spcBef>
                <a:spcPts val="600"/>
              </a:spcBef>
            </a:pPr>
            <a:r>
              <a:rPr sz="1300" b="1" i="0">
                <a:solidFill>
                  <a:srgbClr val="1E293B"/>
                </a:solidFill>
                <a:latin typeface="Segoe UI"/>
              </a:rPr>
              <a:t>Restricción de ciberseguridad</a:t>
            </a:r>
          </a:p>
          <a:p>
            <a:pPr marL="164592" indent="-164592" algn="l">
              <a:buClr>
                <a:srgbClr val="2563EB"/>
              </a:buClr>
              <a:buChar char="-"/>
            </a:pPr>
            <a:r>
              <a:rPr sz="1200" b="0" i="0">
                <a:solidFill>
                  <a:srgbClr val="1E293B"/>
                </a:solidFill>
                <a:latin typeface="Segoe UI"/>
              </a:rPr>
              <a:t>Prohibido usar bases de datos SQL o servidores propios: solo Excel y SharePoint.</a:t>
            </a:r>
          </a:p>
        </p:txBody>
      </p:sp>
      <p:sp>
        <p:nvSpPr>
          <p:cNvPr id="9" name="Right Arrow 8"/>
          <p:cNvSpPr/>
          <p:nvPr/>
        </p:nvSpPr>
        <p:spPr>
          <a:xfrm>
            <a:off x="5413248" y="3703320"/>
            <a:ext cx="1051560" cy="777240"/>
          </a:xfrm>
          <a:prstGeom prst="rightArrow">
            <a:avLst/>
          </a:prstGeom>
          <a:solidFill>
            <a:srgbClr val="003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6766560" y="2011680"/>
            <a:ext cx="4983480" cy="443484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1C6B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28600" tIns="137160" rIns="182880" rtlCol="0" anchor="t"/>
          <a:lstStyle/>
          <a:p>
            <a:pPr algn="ctr"/>
            <a:r>
              <a:rPr sz="2400" b="0" i="0">
                <a:solidFill>
                  <a:srgbClr val="003057"/>
                </a:solidFill>
                <a:latin typeface="Segoe UI"/>
              </a:rPr>
              <a:t>Propuesta de solución</a:t>
            </a:r>
          </a:p>
          <a:p>
            <a:pPr algn="l">
              <a:spcBef>
                <a:spcPts val="1000"/>
              </a:spcBef>
            </a:pPr>
            <a:r>
              <a:rPr sz="1300" b="1" i="0">
                <a:solidFill>
                  <a:srgbClr val="1E293B"/>
                </a:solidFill>
                <a:latin typeface="Segoe UI"/>
              </a:rPr>
              <a:t>Aplicación de escritorio para Windows</a:t>
            </a:r>
          </a:p>
          <a:p>
            <a:pPr marL="164592" indent="-164592" algn="l">
              <a:buClr>
                <a:srgbClr val="2563EB"/>
              </a:buClr>
              <a:buChar char="-"/>
            </a:pPr>
            <a:r>
              <a:rPr sz="1200" b="0" i="0">
                <a:solidFill>
                  <a:srgbClr val="1E293B"/>
                </a:solidFill>
                <a:latin typeface="Segoe UI"/>
              </a:rPr>
              <a:t>Hecha en Python, trabaja sobre los mismos archivos compartidos en SharePoint.</a:t>
            </a:r>
          </a:p>
          <a:p>
            <a:pPr algn="l">
              <a:spcBef>
                <a:spcPts val="600"/>
              </a:spcBef>
            </a:pPr>
            <a:r>
              <a:rPr sz="1300" b="1" i="0">
                <a:solidFill>
                  <a:srgbClr val="1E293B"/>
                </a:solidFill>
                <a:latin typeface="Segoe UI"/>
              </a:rPr>
              <a:t>Una base central por camión</a:t>
            </a:r>
          </a:p>
          <a:p>
            <a:pPr marL="164592" indent="-164592" algn="l">
              <a:buClr>
                <a:srgbClr val="2563EB"/>
              </a:buClr>
              <a:buChar char="-"/>
            </a:pPr>
            <a:r>
              <a:rPr sz="1200" b="0" i="0">
                <a:solidFill>
                  <a:srgbClr val="1E293B"/>
                </a:solidFill>
                <a:latin typeface="Segoe UI"/>
              </a:rPr>
              <a:t>Provisiones, contratos de mantenimiento, contactos y clientes conectados a ella.</a:t>
            </a:r>
          </a:p>
          <a:p>
            <a:pPr algn="l">
              <a:spcBef>
                <a:spcPts val="600"/>
              </a:spcBef>
            </a:pPr>
            <a:r>
              <a:rPr sz="1300" b="1" i="0">
                <a:solidFill>
                  <a:srgbClr val="1E293B"/>
                </a:solidFill>
                <a:latin typeface="Segoe UI"/>
              </a:rPr>
              <a:t>Procesos automáticos</a:t>
            </a:r>
          </a:p>
          <a:p>
            <a:pPr marL="164592" indent="-164592" algn="l">
              <a:buClr>
                <a:srgbClr val="2563EB"/>
              </a:buClr>
              <a:buChar char="-"/>
            </a:pPr>
            <a:r>
              <a:rPr sz="1200" b="0" i="0">
                <a:solidFill>
                  <a:srgbClr val="1E293B"/>
                </a:solidFill>
                <a:latin typeface="Segoe UI"/>
              </a:rPr>
              <a:t>Importación de reportes, cálculo de contratos y correos vía Outlook.</a:t>
            </a:r>
          </a:p>
          <a:p>
            <a:pPr algn="l">
              <a:spcBef>
                <a:spcPts val="600"/>
              </a:spcBef>
            </a:pPr>
            <a:r>
              <a:rPr sz="1300" b="1" i="0">
                <a:solidFill>
                  <a:srgbClr val="1E293B"/>
                </a:solidFill>
                <a:latin typeface="Segoe UI"/>
              </a:rPr>
              <a:t>Datos protegidos</a:t>
            </a:r>
          </a:p>
          <a:p>
            <a:pPr marL="164592" indent="-164592" algn="l">
              <a:buClr>
                <a:srgbClr val="2563EB"/>
              </a:buClr>
              <a:buChar char="-"/>
            </a:pPr>
            <a:r>
              <a:rPr sz="1200" b="0" i="0">
                <a:solidFill>
                  <a:srgbClr val="1E293B"/>
                </a:solidFill>
                <a:latin typeface="Segoe UI"/>
              </a:rPr>
              <a:t>Respaldo obligatorio antes de guardar, historial de cambios y aviso si otra persona modifica un archivo.</a:t>
            </a:r>
          </a:p>
          <a:p>
            <a:pPr algn="l">
              <a:spcBef>
                <a:spcPts val="600"/>
              </a:spcBef>
            </a:pPr>
            <a:r>
              <a:rPr sz="1300" b="1" i="0">
                <a:solidFill>
                  <a:srgbClr val="1E293B"/>
                </a:solidFill>
                <a:latin typeface="Segoe UI"/>
              </a:rPr>
              <a:t>Dashboard integrado</a:t>
            </a:r>
          </a:p>
          <a:p>
            <a:pPr marL="164592" indent="-164592" algn="l">
              <a:buClr>
                <a:srgbClr val="2563EB"/>
              </a:buClr>
              <a:buChar char="-"/>
            </a:pPr>
            <a:r>
              <a:rPr sz="1200" b="0" i="0">
                <a:solidFill>
                  <a:srgbClr val="1E293B"/>
                </a:solidFill>
                <a:latin typeface="Segoe UI"/>
              </a:rPr>
              <a:t>Muestra la página web de indicadores de Conectividad y Academia.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" y="347472"/>
            <a:ext cx="5486400" cy="384048"/>
          </a:xfrm>
          <a:prstGeom prst="rect">
            <a:avLst/>
          </a:prstGeom>
          <a:noFill/>
        </p:spPr>
        <p:txBody>
          <a:bodyPr wrap="square" rIns="73152" anchor="t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  <a:latin typeface="Segoe UI"/>
              </a:rPr>
              <a:t>Empresa Demo Sistema de Gestión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758952"/>
            <a:ext cx="4087368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splas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7" y="246888"/>
            <a:ext cx="713232" cy="713232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8705088" y="274320"/>
            <a:ext cx="0" cy="658368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9096" y="210312"/>
            <a:ext cx="3145536" cy="7863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0" y="1051560"/>
            <a:ext cx="12191695" cy="5943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3400" b="0" i="0">
                <a:solidFill>
                  <a:srgbClr val="0B2A4A"/>
                </a:solidFill>
                <a:latin typeface="Segoe UI"/>
              </a:rPr>
              <a:t>Objetivo General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1737360"/>
            <a:ext cx="10963656" cy="1325880"/>
          </a:xfrm>
          <a:prstGeom prst="roundRect">
            <a:avLst>
              <a:gd name="adj" fmla="val 25000"/>
            </a:avLst>
          </a:prstGeom>
          <a:solidFill>
            <a:srgbClr val="FFFFFF"/>
          </a:solidFill>
          <a:ln w="15875">
            <a:solidFill>
              <a:srgbClr val="1C6B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rIns="274320" rtlCol="0" anchor="ctr"/>
          <a:lstStyle/>
          <a:p>
            <a:pPr algn="l"/>
            <a:r>
              <a:rPr sz="1500" b="0" i="0">
                <a:solidFill>
                  <a:srgbClr val="1E293B"/>
                </a:solidFill>
                <a:latin typeface="Segoe UI"/>
              </a:rPr>
              <a:t>Centralizar y automatizar, desde una aplicación de escritorio, la gestión de la información de la flota conectada del área de Servicios Conectados de Empresa Demo, reduciendo la dependencia de múltiples planillas y procesos manuales, y respetando las restricciones de ciberseguridad e infraestructura de la empresa.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3291840"/>
            <a:ext cx="12191695" cy="59436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3400" b="0" i="0">
                <a:solidFill>
                  <a:srgbClr val="0B2A4A"/>
                </a:solidFill>
                <a:latin typeface="Segoe UI"/>
              </a:rPr>
              <a:t>Objetivos Específicos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" y="4023360"/>
            <a:ext cx="2624328" cy="242316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1" name="Rounded Rectangle 10"/>
          <p:cNvSpPr/>
          <p:nvPr/>
        </p:nvSpPr>
        <p:spPr>
          <a:xfrm>
            <a:off x="612648" y="4023360"/>
            <a:ext cx="2624328" cy="502920"/>
          </a:xfrm>
          <a:prstGeom prst="roundRect">
            <a:avLst>
              <a:gd name="adj" fmla="val 30000"/>
            </a:avLst>
          </a:prstGeom>
          <a:solidFill>
            <a:srgbClr val="003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73152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Centralizar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4572000"/>
            <a:ext cx="2532888" cy="1828800"/>
          </a:xfrm>
          <a:prstGeom prst="rect">
            <a:avLst/>
          </a:prstGeom>
          <a:noFill/>
        </p:spPr>
        <p:txBody>
          <a:bodyPr wrap="square" lIns="109728" tIns="73152" rIns="109728" anchor="t">
            <a:spAutoFit/>
          </a:bodyPr>
          <a:lstStyle/>
          <a:p>
            <a:pPr algn="ctr"/>
            <a:r>
              <a:rPr sz="1250" b="0" i="0">
                <a:solidFill>
                  <a:srgbClr val="1E293B"/>
                </a:solidFill>
                <a:latin typeface="Segoe UI"/>
              </a:rPr>
              <a:t>Unificar en una sola aplicación la información comercial, operativa, financiera y de contacto de cada camión.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92424" y="4023360"/>
            <a:ext cx="2624328" cy="242316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3392424" y="4023360"/>
            <a:ext cx="2624328" cy="502920"/>
          </a:xfrm>
          <a:prstGeom prst="roundRect">
            <a:avLst>
              <a:gd name="adj" fmla="val 30000"/>
            </a:avLst>
          </a:prstGeom>
          <a:solidFill>
            <a:srgbClr val="003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73152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Automatizar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38144" y="4572000"/>
            <a:ext cx="2532888" cy="1828800"/>
          </a:xfrm>
          <a:prstGeom prst="rect">
            <a:avLst/>
          </a:prstGeom>
          <a:noFill/>
        </p:spPr>
        <p:txBody>
          <a:bodyPr wrap="square" lIns="109728" tIns="73152" rIns="109728" anchor="t">
            <a:spAutoFit/>
          </a:bodyPr>
          <a:lstStyle/>
          <a:p>
            <a:pPr algn="ctr"/>
            <a:r>
              <a:rPr sz="1250" b="0" i="0">
                <a:solidFill>
                  <a:srgbClr val="1E293B"/>
                </a:solidFill>
                <a:latin typeface="Segoe UI"/>
              </a:rPr>
              <a:t>Automatizar la importación de reportes, el cálculo de vigencia de contratos y provisiones, y la comunicación con clientes.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4023360"/>
            <a:ext cx="2624328" cy="242316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6172200" y="4023360"/>
            <a:ext cx="2624328" cy="502920"/>
          </a:xfrm>
          <a:prstGeom prst="roundRect">
            <a:avLst>
              <a:gd name="adj" fmla="val 30000"/>
            </a:avLst>
          </a:prstGeom>
          <a:solidFill>
            <a:srgbClr val="003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73152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Rendimiento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17920" y="4572000"/>
            <a:ext cx="2532888" cy="1828800"/>
          </a:xfrm>
          <a:prstGeom prst="rect">
            <a:avLst/>
          </a:prstGeom>
          <a:noFill/>
        </p:spPr>
        <p:txBody>
          <a:bodyPr wrap="square" lIns="109728" tIns="73152" rIns="109728" anchor="t">
            <a:spAutoFit/>
          </a:bodyPr>
          <a:lstStyle/>
          <a:p>
            <a:pPr algn="ctr"/>
            <a:r>
              <a:rPr sz="1250" b="0" i="0">
                <a:solidFill>
                  <a:srgbClr val="1E293B"/>
                </a:solidFill>
                <a:latin typeface="Segoe UI"/>
              </a:rPr>
              <a:t>Que la aplicación responda con fluidez con más de 12.000 camiones, sin congelarse al cargar, buscar o guardar.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951976" y="4023360"/>
            <a:ext cx="2624328" cy="242316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8951976" y="4023360"/>
            <a:ext cx="2624328" cy="502920"/>
          </a:xfrm>
          <a:prstGeom prst="roundRect">
            <a:avLst>
              <a:gd name="adj" fmla="val 30000"/>
            </a:avLst>
          </a:prstGeom>
          <a:solidFill>
            <a:srgbClr val="003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73152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Seguridad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97696" y="4572000"/>
            <a:ext cx="2532888" cy="1828800"/>
          </a:xfrm>
          <a:prstGeom prst="rect">
            <a:avLst/>
          </a:prstGeom>
          <a:noFill/>
        </p:spPr>
        <p:txBody>
          <a:bodyPr wrap="square" lIns="109728" tIns="73152" rIns="109728" anchor="t">
            <a:spAutoFit/>
          </a:bodyPr>
          <a:lstStyle/>
          <a:p>
            <a:pPr algn="ctr"/>
            <a:r>
              <a:rPr sz="1250" b="0" i="0">
                <a:solidFill>
                  <a:srgbClr val="1E293B"/>
                </a:solidFill>
                <a:latin typeface="Segoe UI"/>
              </a:rPr>
              <a:t>Proteger los datos con respaldo obligatorio antes de guardar, historial de cambios y protección ante archivos en uso.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" y="347472"/>
            <a:ext cx="5486400" cy="384048"/>
          </a:xfrm>
          <a:prstGeom prst="rect">
            <a:avLst/>
          </a:prstGeom>
          <a:noFill/>
        </p:spPr>
        <p:txBody>
          <a:bodyPr wrap="square" rIns="73152" anchor="t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  <a:latin typeface="Segoe UI"/>
              </a:rPr>
              <a:t>Empresa Demo Sistema de Gestión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758952"/>
            <a:ext cx="4087368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splas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7" y="246888"/>
            <a:ext cx="713232" cy="713232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8705088" y="274320"/>
            <a:ext cx="0" cy="658368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9096" y="210312"/>
            <a:ext cx="3145536" cy="7863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0" y="1097280"/>
            <a:ext cx="12191695" cy="6858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400" b="1" i="0">
                <a:solidFill>
                  <a:srgbClr val="003057"/>
                </a:solidFill>
                <a:latin typeface="Segoe UI"/>
              </a:rPr>
              <a:t>Alcances y limitaciones del proyecto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0624" y="2103120"/>
            <a:ext cx="5577840" cy="4526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C6B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28600" rtlCol="0" anchor="t"/>
          <a:lstStyle/>
          <a:p>
            <a:pPr algn="l"/>
            <a:r>
              <a:rPr sz="1500" b="1" i="0">
                <a:solidFill>
                  <a:srgbClr val="003057"/>
                </a:solidFill>
                <a:latin typeface="Segoe UI"/>
              </a:rPr>
              <a:t>Alcances del Proyecto</a:t>
            </a:r>
          </a:p>
          <a:p>
            <a:pPr marL="164592" indent="-164592" algn="l">
              <a:spcBef>
                <a:spcPts val="800"/>
              </a:spcBef>
              <a:buClr>
                <a:srgbClr val="2563EB"/>
              </a:buClr>
              <a:buChar char="•"/>
            </a:pPr>
            <a:r>
              <a:rPr sz="1350" b="1" i="0">
                <a:solidFill>
                  <a:srgbClr val="1E293B"/>
                </a:solidFill>
                <a:latin typeface="Segoe UI"/>
              </a:rPr>
              <a:t>Módulos de gestión: </a:t>
            </a:r>
            <a:r>
              <a:rPr sz="1350" b="0" i="0">
                <a:solidFill>
                  <a:srgbClr val="1E293B"/>
                </a:solidFill>
                <a:latin typeface="Segoe UI"/>
              </a:rPr>
              <a:t>Clientes y Flota, Comercial, Operaciones, Provisiones, Contratos CM, JustTime, Facturación Manual, Contactos e Instalaciones.</a:t>
            </a:r>
          </a:p>
          <a:p>
            <a:pPr marL="164592" indent="-164592" algn="l">
              <a:spcBef>
                <a:spcPts val="400"/>
              </a:spcBef>
              <a:buClr>
                <a:srgbClr val="2563EB"/>
              </a:buClr>
              <a:buChar char="•"/>
            </a:pPr>
            <a:r>
              <a:rPr sz="1350" b="1" i="0">
                <a:solidFill>
                  <a:srgbClr val="1E293B"/>
                </a:solidFill>
                <a:latin typeface="Segoe UI"/>
              </a:rPr>
              <a:t>Importación de reportes externos: </a:t>
            </a:r>
            <a:r>
              <a:rPr sz="1350" b="0" i="0">
                <a:solidFill>
                  <a:srgbClr val="1E293B"/>
                </a:solidFill>
                <a:latin typeface="Segoe UI"/>
              </a:rPr>
              <a:t>provisiones (SharePoint), notas de venta (Power BI) y contratos de mantenimiento (3PC).</a:t>
            </a:r>
          </a:p>
          <a:p>
            <a:pPr marL="164592" indent="-164592" algn="l">
              <a:spcBef>
                <a:spcPts val="400"/>
              </a:spcBef>
              <a:buClr>
                <a:srgbClr val="2563EB"/>
              </a:buClr>
              <a:buChar char="•"/>
            </a:pPr>
            <a:r>
              <a:rPr sz="1350" b="1" i="0">
                <a:solidFill>
                  <a:srgbClr val="1E293B"/>
                </a:solidFill>
                <a:latin typeface="Segoe UI"/>
              </a:rPr>
              <a:t>Comunicación con clientes </a:t>
            </a:r>
            <a:r>
              <a:rPr sz="1350" b="0" i="0">
                <a:solidFill>
                  <a:srgbClr val="1E293B"/>
                </a:solidFill>
                <a:latin typeface="Segoe UI"/>
              </a:rPr>
              <a:t>mediante correos de Outlook con plantillas.</a:t>
            </a:r>
          </a:p>
          <a:p>
            <a:pPr marL="164592" indent="-164592" algn="l">
              <a:spcBef>
                <a:spcPts val="400"/>
              </a:spcBef>
              <a:buClr>
                <a:srgbClr val="2563EB"/>
              </a:buClr>
              <a:buChar char="•"/>
            </a:pPr>
            <a:r>
              <a:rPr sz="1350" b="1" i="0">
                <a:solidFill>
                  <a:srgbClr val="1E293B"/>
                </a:solidFill>
                <a:latin typeface="Segoe UI"/>
              </a:rPr>
              <a:t>Pantalla de Inicio </a:t>
            </a:r>
            <a:r>
              <a:rPr sz="1350" b="0" i="0">
                <a:solidFill>
                  <a:srgbClr val="1E293B"/>
                </a:solidFill>
                <a:latin typeface="Segoe UI"/>
              </a:rPr>
              <a:t>que muestra la página web del dashboard de Conectividad y Academia, desarrollada por otro practicante.</a:t>
            </a:r>
          </a:p>
          <a:p>
            <a:pPr marL="164592" indent="-164592" algn="l">
              <a:spcBef>
                <a:spcPts val="400"/>
              </a:spcBef>
              <a:buClr>
                <a:srgbClr val="2563EB"/>
              </a:buClr>
              <a:buChar char="•"/>
            </a:pPr>
            <a:r>
              <a:rPr sz="1350" b="1" i="0">
                <a:solidFill>
                  <a:srgbClr val="1E293B"/>
                </a:solidFill>
                <a:latin typeface="Segoe UI"/>
              </a:rPr>
              <a:t>Historial de cambios, </a:t>
            </a:r>
            <a:r>
              <a:rPr sz="1350" b="0" i="0">
                <a:solidFill>
                  <a:srgbClr val="1E293B"/>
                </a:solidFill>
                <a:latin typeface="Segoe UI"/>
              </a:rPr>
              <a:t>respaldos y papelera de registros eliminados.</a:t>
            </a:r>
          </a:p>
          <a:p>
            <a:pPr marL="164592" indent="-164592" algn="l">
              <a:spcBef>
                <a:spcPts val="400"/>
              </a:spcBef>
              <a:buClr>
                <a:srgbClr val="2563EB"/>
              </a:buClr>
              <a:buChar char="•"/>
            </a:pPr>
            <a:r>
              <a:rPr sz="1350" b="1" i="0">
                <a:solidFill>
                  <a:srgbClr val="1E293B"/>
                </a:solidFill>
                <a:latin typeface="Segoe UI"/>
              </a:rPr>
              <a:t>Pruebas automáticas </a:t>
            </a:r>
            <a:r>
              <a:rPr sz="1350" b="0" i="0">
                <a:solidFill>
                  <a:srgbClr val="1E293B"/>
                </a:solidFill>
                <a:latin typeface="Segoe UI"/>
              </a:rPr>
              <a:t>y ejecutable (.exe) listo para usar.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2103120"/>
            <a:ext cx="5394960" cy="4526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1C6B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274320" tIns="182880" rIns="228600" rtlCol="0" anchor="t"/>
          <a:lstStyle/>
          <a:p>
            <a:pPr algn="l"/>
            <a:r>
              <a:rPr sz="1500" b="1" i="0">
                <a:solidFill>
                  <a:srgbClr val="003057"/>
                </a:solidFill>
                <a:latin typeface="Segoe UI"/>
              </a:rPr>
              <a:t>Limitaciones del Proyecto</a:t>
            </a:r>
          </a:p>
          <a:p>
            <a:pPr marL="164592" indent="-164592" algn="l">
              <a:spcBef>
                <a:spcPts val="800"/>
              </a:spcBef>
              <a:buClr>
                <a:srgbClr val="2563EB"/>
              </a:buClr>
              <a:buChar char="•"/>
            </a:pPr>
            <a:r>
              <a:rPr sz="1350" b="1" i="0">
                <a:solidFill>
                  <a:srgbClr val="1E293B"/>
                </a:solidFill>
                <a:latin typeface="Segoe UI"/>
              </a:rPr>
              <a:t>Sin bases de datos SQL </a:t>
            </a:r>
            <a:r>
              <a:rPr sz="1350" b="0" i="0">
                <a:solidFill>
                  <a:srgbClr val="1E293B"/>
                </a:solidFill>
                <a:latin typeface="Segoe UI"/>
              </a:rPr>
              <a:t>por políticas de ciberseguridad: los datos viven en archivos Excel y CSV.</a:t>
            </a:r>
          </a:p>
          <a:p>
            <a:pPr marL="164592" indent="-164592" algn="l">
              <a:spcBef>
                <a:spcPts val="400"/>
              </a:spcBef>
              <a:buClr>
                <a:srgbClr val="2563EB"/>
              </a:buClr>
              <a:buChar char="•"/>
            </a:pPr>
            <a:r>
              <a:rPr sz="1350" b="1" i="0">
                <a:solidFill>
                  <a:srgbClr val="1E293B"/>
                </a:solidFill>
                <a:latin typeface="Segoe UI"/>
              </a:rPr>
              <a:t>Depende de la red </a:t>
            </a:r>
            <a:r>
              <a:rPr sz="1350" b="0" i="0">
                <a:solidFill>
                  <a:srgbClr val="1E293B"/>
                </a:solidFill>
                <a:latin typeface="Segoe UI"/>
              </a:rPr>
              <a:t>y de SharePoint/OneDrive para compartir los archivos entre el equipo.</a:t>
            </a:r>
          </a:p>
          <a:p>
            <a:pPr marL="164592" indent="-164592" algn="l">
              <a:spcBef>
                <a:spcPts val="400"/>
              </a:spcBef>
              <a:buClr>
                <a:srgbClr val="2563EB"/>
              </a:buClr>
              <a:buChar char="•"/>
            </a:pPr>
            <a:r>
              <a:rPr sz="1350" b="1" i="0">
                <a:solidFill>
                  <a:srgbClr val="1E293B"/>
                </a:solidFill>
                <a:latin typeface="Segoe UI"/>
              </a:rPr>
              <a:t>Requiere Windows </a:t>
            </a:r>
            <a:r>
              <a:rPr sz="1350" b="0" i="0">
                <a:solidFill>
                  <a:srgbClr val="1E293B"/>
                </a:solidFill>
                <a:latin typeface="Segoe UI"/>
              </a:rPr>
              <a:t>y Outlook configurado para el envío de correos.</a:t>
            </a:r>
          </a:p>
          <a:p>
            <a:pPr marL="164592" indent="-164592" algn="l">
              <a:spcBef>
                <a:spcPts val="400"/>
              </a:spcBef>
              <a:buClr>
                <a:srgbClr val="2563EB"/>
              </a:buClr>
              <a:buChar char="•"/>
            </a:pPr>
            <a:r>
              <a:rPr sz="1350" b="1" i="0">
                <a:solidFill>
                  <a:srgbClr val="1E293B"/>
                </a:solidFill>
                <a:latin typeface="Segoe UI"/>
              </a:rPr>
              <a:t>El dashboard no se construye en la app: </a:t>
            </a:r>
            <a:r>
              <a:rPr sz="1350" b="0" i="0">
                <a:solidFill>
                  <a:srgbClr val="1E293B"/>
                </a:solidFill>
                <a:latin typeface="Segoe UI"/>
              </a:rPr>
              <a:t>su contenido es responsabilidad del practicante a cargo de la página web.</a:t>
            </a:r>
          </a:p>
          <a:p>
            <a:pPr marL="164592" indent="-164592" algn="l">
              <a:spcBef>
                <a:spcPts val="400"/>
              </a:spcBef>
              <a:buClr>
                <a:srgbClr val="2563EB"/>
              </a:buClr>
              <a:buChar char="•"/>
            </a:pPr>
            <a:r>
              <a:rPr sz="1350" b="1" i="0">
                <a:solidFill>
                  <a:srgbClr val="1E293B"/>
                </a:solidFill>
                <a:latin typeface="Segoe UI"/>
              </a:rPr>
              <a:t>Algunos reportes llegan protegidos </a:t>
            </a:r>
            <a:r>
              <a:rPr sz="1350" b="0" i="0">
                <a:solidFill>
                  <a:srgbClr val="1E293B"/>
                </a:solidFill>
                <a:latin typeface="Segoe UI"/>
              </a:rPr>
              <a:t>(notas de venta) y requieren un paso manual antes de importarlos.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" y="347472"/>
            <a:ext cx="5486400" cy="384048"/>
          </a:xfrm>
          <a:prstGeom prst="rect">
            <a:avLst/>
          </a:prstGeom>
          <a:noFill/>
        </p:spPr>
        <p:txBody>
          <a:bodyPr wrap="square" rIns="73152" anchor="t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  <a:latin typeface="Segoe UI"/>
              </a:rPr>
              <a:t>Empresa Demo Sistema de Gestión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758952"/>
            <a:ext cx="4087368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splas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7" y="246888"/>
            <a:ext cx="713232" cy="713232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8705088" y="274320"/>
            <a:ext cx="0" cy="658368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9096" y="210312"/>
            <a:ext cx="3145536" cy="7863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0" y="868680"/>
            <a:ext cx="12191695" cy="6858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200" b="1" i="0">
                <a:solidFill>
                  <a:srgbClr val="003057"/>
                </a:solidFill>
                <a:latin typeface="Segoe UI"/>
              </a:rPr>
              <a:t>Metodología de trabajo para el desarrollo del proyecto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4672" y="1691640"/>
            <a:ext cx="8595360" cy="777240"/>
          </a:xfrm>
          <a:prstGeom prst="roundRect">
            <a:avLst>
              <a:gd name="adj" fmla="val 12000"/>
            </a:avLst>
          </a:prstGeom>
          <a:solidFill>
            <a:srgbClr val="003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73152" rtlCol="0" anchor="ctr"/>
          <a:lstStyle/>
          <a:p>
            <a:pPr algn="ctr"/>
            <a:r>
              <a:rPr sz="1600" b="1" i="0">
                <a:solidFill>
                  <a:srgbClr val="FFFFFF"/>
                </a:solidFill>
                <a:latin typeface="Segoe UI"/>
              </a:rPr>
              <a:t>METODOLOGÍA HÍBRIDA DE GESTIÓN</a:t>
            </a:r>
          </a:p>
          <a:p>
            <a:pPr algn="ctr"/>
            <a:r>
              <a:rPr sz="1300" b="0" i="0">
                <a:solidFill>
                  <a:srgbClr val="DCE6F2"/>
                </a:solidFill>
                <a:latin typeface="Segoe UI"/>
              </a:rPr>
              <a:t>Gobernanza del proyecto (PMBOK) + Agilidad en el desarrollo (Scrum)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" y="2606040"/>
            <a:ext cx="4206240" cy="4069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969264" y="2743200"/>
            <a:ext cx="3877056" cy="502920"/>
          </a:xfrm>
          <a:prstGeom prst="roundRect">
            <a:avLst>
              <a:gd name="adj" fmla="val 12000"/>
            </a:avLst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73152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SCRUM (AGILIDAD)</a:t>
            </a:r>
          </a:p>
        </p:txBody>
      </p:sp>
      <p:sp>
        <p:nvSpPr>
          <p:cNvPr id="11" name="Oval 10"/>
          <p:cNvSpPr/>
          <p:nvPr/>
        </p:nvSpPr>
        <p:spPr>
          <a:xfrm>
            <a:off x="1097280" y="3493008"/>
            <a:ext cx="146304" cy="146304"/>
          </a:xfrm>
          <a:prstGeom prst="ellipse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07592" y="3392424"/>
            <a:ext cx="3611880" cy="777240"/>
          </a:xfrm>
          <a:prstGeom prst="rect">
            <a:avLst/>
          </a:prstGeom>
          <a:noFill/>
        </p:spPr>
        <p:txBody>
          <a:bodyPr wrap="square" lIns="73152" tIns="0" rIns="73152" anchor="t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Segoe UI"/>
              </a:rPr>
              <a:t>Sprints de dos semanas</a:t>
            </a:r>
          </a:p>
          <a:p>
            <a:pPr algn="l"/>
            <a:r>
              <a:rPr sz="1050" b="0" i="0">
                <a:solidFill>
                  <a:srgbClr val="64748B"/>
                </a:solidFill>
                <a:latin typeface="Segoe UI"/>
              </a:rPr>
              <a:t>Incrementos funcionales y continuos de la aplicación.</a:t>
            </a:r>
          </a:p>
        </p:txBody>
      </p:sp>
      <p:sp>
        <p:nvSpPr>
          <p:cNvPr id="13" name="Oval 12"/>
          <p:cNvSpPr/>
          <p:nvPr/>
        </p:nvSpPr>
        <p:spPr>
          <a:xfrm>
            <a:off x="1097280" y="4297680"/>
            <a:ext cx="146304" cy="146304"/>
          </a:xfrm>
          <a:prstGeom prst="ellipse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307592" y="4197096"/>
            <a:ext cx="3611880" cy="777240"/>
          </a:xfrm>
          <a:prstGeom prst="rect">
            <a:avLst/>
          </a:prstGeom>
          <a:noFill/>
        </p:spPr>
        <p:txBody>
          <a:bodyPr wrap="square" lIns="73152" tIns="0" rIns="73152" anchor="t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Segoe UI"/>
              </a:rPr>
              <a:t>Product Backlog priorizado</a:t>
            </a:r>
          </a:p>
          <a:p>
            <a:pPr algn="l"/>
            <a:r>
              <a:rPr sz="1050" b="0" i="0">
                <a:solidFill>
                  <a:srgbClr val="64748B"/>
                </a:solidFill>
                <a:latin typeface="Segoe UI"/>
              </a:rPr>
              <a:t>Requerimientos ordenados junto a la Product Owner.</a:t>
            </a:r>
          </a:p>
        </p:txBody>
      </p:sp>
      <p:sp>
        <p:nvSpPr>
          <p:cNvPr id="15" name="Oval 14"/>
          <p:cNvSpPr/>
          <p:nvPr/>
        </p:nvSpPr>
        <p:spPr>
          <a:xfrm>
            <a:off x="1097280" y="5102352"/>
            <a:ext cx="146304" cy="146304"/>
          </a:xfrm>
          <a:prstGeom prst="ellipse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1307592" y="5001768"/>
            <a:ext cx="3611880" cy="777240"/>
          </a:xfrm>
          <a:prstGeom prst="rect">
            <a:avLst/>
          </a:prstGeom>
          <a:noFill/>
        </p:spPr>
        <p:txBody>
          <a:bodyPr wrap="square" lIns="73152" tIns="0" rIns="73152" anchor="t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Segoe UI"/>
              </a:rPr>
              <a:t>Historias de usuario</a:t>
            </a:r>
          </a:p>
          <a:p>
            <a:pPr algn="l"/>
            <a:r>
              <a:rPr sz="1050" b="0" i="0">
                <a:solidFill>
                  <a:srgbClr val="64748B"/>
                </a:solidFill>
                <a:latin typeface="Segoe UI"/>
              </a:rPr>
              <a:t>Cada función definida desde lo que necesita el equipo.</a:t>
            </a:r>
          </a:p>
        </p:txBody>
      </p:sp>
      <p:sp>
        <p:nvSpPr>
          <p:cNvPr id="17" name="Oval 16"/>
          <p:cNvSpPr/>
          <p:nvPr/>
        </p:nvSpPr>
        <p:spPr>
          <a:xfrm>
            <a:off x="1097280" y="5907024"/>
            <a:ext cx="146304" cy="146304"/>
          </a:xfrm>
          <a:prstGeom prst="ellipse">
            <a:avLst/>
          </a:prstGeom>
          <a:solidFill>
            <a:srgbClr val="0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307592" y="5806440"/>
            <a:ext cx="3611880" cy="777240"/>
          </a:xfrm>
          <a:prstGeom prst="rect">
            <a:avLst/>
          </a:prstGeom>
          <a:noFill/>
        </p:spPr>
        <p:txBody>
          <a:bodyPr wrap="square" lIns="73152" tIns="0" rIns="73152" anchor="t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Segoe UI"/>
              </a:rPr>
              <a:t>Criterios de aceptación</a:t>
            </a:r>
          </a:p>
          <a:p>
            <a:pPr algn="l"/>
            <a:r>
              <a:rPr sz="1050" b="0" i="0">
                <a:solidFill>
                  <a:srgbClr val="64748B"/>
                </a:solidFill>
                <a:latin typeface="Segoe UI"/>
              </a:rPr>
              <a:t>Validación de cada entrega con la Product Owner.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193792" y="2606040"/>
            <a:ext cx="4206240" cy="40690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5358383" y="2743200"/>
            <a:ext cx="3877056" cy="502920"/>
          </a:xfrm>
          <a:prstGeom prst="roundRect">
            <a:avLst>
              <a:gd name="adj" fmla="val 12000"/>
            </a:avLst>
          </a:prstGeom>
          <a:solidFill>
            <a:srgbClr val="1C6B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73152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PMBOK (GOBERNANZA)</a:t>
            </a:r>
          </a:p>
        </p:txBody>
      </p:sp>
      <p:sp>
        <p:nvSpPr>
          <p:cNvPr id="21" name="Oval 20"/>
          <p:cNvSpPr/>
          <p:nvPr/>
        </p:nvSpPr>
        <p:spPr>
          <a:xfrm>
            <a:off x="5486400" y="3493008"/>
            <a:ext cx="146304" cy="146304"/>
          </a:xfrm>
          <a:prstGeom prst="ellipse">
            <a:avLst/>
          </a:prstGeom>
          <a:solidFill>
            <a:srgbClr val="1C6B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696712" y="3392424"/>
            <a:ext cx="3611880" cy="777240"/>
          </a:xfrm>
          <a:prstGeom prst="rect">
            <a:avLst/>
          </a:prstGeom>
          <a:noFill/>
        </p:spPr>
        <p:txBody>
          <a:bodyPr wrap="square" lIns="73152" tIns="0" rIns="73152" anchor="t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Segoe UI"/>
              </a:rPr>
              <a:t>Gestión del alcance</a:t>
            </a:r>
          </a:p>
          <a:p>
            <a:pPr algn="l"/>
            <a:r>
              <a:rPr sz="1050" b="0" i="0">
                <a:solidFill>
                  <a:srgbClr val="64748B"/>
                </a:solidFill>
                <a:latin typeface="Segoe UI"/>
              </a:rPr>
              <a:t>Qué entra y qué no entra en el proyecto.</a:t>
            </a:r>
          </a:p>
        </p:txBody>
      </p:sp>
      <p:sp>
        <p:nvSpPr>
          <p:cNvPr id="23" name="Oval 22"/>
          <p:cNvSpPr/>
          <p:nvPr/>
        </p:nvSpPr>
        <p:spPr>
          <a:xfrm>
            <a:off x="5486400" y="4297680"/>
            <a:ext cx="146304" cy="146304"/>
          </a:xfrm>
          <a:prstGeom prst="ellipse">
            <a:avLst/>
          </a:prstGeom>
          <a:solidFill>
            <a:srgbClr val="1C6B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696712" y="4197096"/>
            <a:ext cx="3611880" cy="777240"/>
          </a:xfrm>
          <a:prstGeom prst="rect">
            <a:avLst/>
          </a:prstGeom>
          <a:noFill/>
        </p:spPr>
        <p:txBody>
          <a:bodyPr wrap="square" lIns="73152" tIns="0" rIns="73152" anchor="t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Segoe UI"/>
              </a:rPr>
              <a:t>Gestión de riesgos</a:t>
            </a:r>
          </a:p>
          <a:p>
            <a:pPr algn="l"/>
            <a:r>
              <a:rPr sz="1050" b="0" i="0">
                <a:solidFill>
                  <a:srgbClr val="64748B"/>
                </a:solidFill>
                <a:latin typeface="Segoe UI"/>
              </a:rPr>
              <a:t>Riesgos de red, ciberseguridad y pérdida de datos.</a:t>
            </a:r>
          </a:p>
        </p:txBody>
      </p:sp>
      <p:sp>
        <p:nvSpPr>
          <p:cNvPr id="25" name="Oval 24"/>
          <p:cNvSpPr/>
          <p:nvPr/>
        </p:nvSpPr>
        <p:spPr>
          <a:xfrm>
            <a:off x="5486400" y="5102352"/>
            <a:ext cx="146304" cy="146304"/>
          </a:xfrm>
          <a:prstGeom prst="ellipse">
            <a:avLst/>
          </a:prstGeom>
          <a:solidFill>
            <a:srgbClr val="1C6B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696712" y="5001768"/>
            <a:ext cx="3611880" cy="777240"/>
          </a:xfrm>
          <a:prstGeom prst="rect">
            <a:avLst/>
          </a:prstGeom>
          <a:noFill/>
        </p:spPr>
        <p:txBody>
          <a:bodyPr wrap="square" lIns="73152" tIns="0" rIns="73152" anchor="t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Segoe UI"/>
              </a:rPr>
              <a:t>Control formal de cambios (RFC)</a:t>
            </a:r>
          </a:p>
          <a:p>
            <a:pPr algn="l"/>
            <a:r>
              <a:rPr sz="1050" b="0" i="0">
                <a:solidFill>
                  <a:srgbClr val="64748B"/>
                </a:solidFill>
                <a:latin typeface="Segoe UI"/>
              </a:rPr>
              <a:t>Cada cambio solicitado queda registrado y evaluado.</a:t>
            </a:r>
          </a:p>
        </p:txBody>
      </p:sp>
      <p:sp>
        <p:nvSpPr>
          <p:cNvPr id="27" name="Oval 26"/>
          <p:cNvSpPr/>
          <p:nvPr/>
        </p:nvSpPr>
        <p:spPr>
          <a:xfrm>
            <a:off x="5486400" y="5907024"/>
            <a:ext cx="146304" cy="146304"/>
          </a:xfrm>
          <a:prstGeom prst="ellipse">
            <a:avLst/>
          </a:prstGeom>
          <a:solidFill>
            <a:srgbClr val="1C6B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696712" y="5806440"/>
            <a:ext cx="3611880" cy="777240"/>
          </a:xfrm>
          <a:prstGeom prst="rect">
            <a:avLst/>
          </a:prstGeom>
          <a:noFill/>
        </p:spPr>
        <p:txBody>
          <a:bodyPr wrap="square" lIns="73152" tIns="0" rIns="73152" anchor="t">
            <a:spAutoFit/>
          </a:bodyPr>
          <a:lstStyle/>
          <a:p>
            <a:pPr algn="l"/>
            <a:r>
              <a:rPr sz="1300" b="0" i="0">
                <a:solidFill>
                  <a:srgbClr val="1E293B"/>
                </a:solidFill>
                <a:latin typeface="Segoe UI"/>
              </a:rPr>
              <a:t>Gestión de calidad</a:t>
            </a:r>
          </a:p>
          <a:p>
            <a:pPr algn="l"/>
            <a:r>
              <a:rPr sz="1050" b="0" i="0">
                <a:solidFill>
                  <a:srgbClr val="64748B"/>
                </a:solidFill>
                <a:latin typeface="Segoe UI"/>
              </a:rPr>
              <a:t>Plan de pruebas, casos de prueba y reportes de ejecución.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601200" y="2606040"/>
            <a:ext cx="2331720" cy="4069080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12700">
            <a:solidFill>
              <a:srgbClr val="1C6B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64592" tIns="137160" rIns="128016" rtlCol="0" anchor="t"/>
          <a:lstStyle/>
          <a:p>
            <a:pPr algn="ctr"/>
            <a:r>
              <a:rPr sz="1200" b="1" i="0">
                <a:solidFill>
                  <a:srgbClr val="003057"/>
                </a:solidFill>
                <a:latin typeface="Segoe UI"/>
              </a:rPr>
              <a:t>CÓMO SE APLICÓ</a:t>
            </a:r>
          </a:p>
          <a:p>
            <a:pPr algn="ctr">
              <a:spcBef>
                <a:spcPts val="800"/>
              </a:spcBef>
            </a:pPr>
            <a:r>
              <a:rPr sz="1050" b="0" i="0">
                <a:solidFill>
                  <a:srgbClr val="475569"/>
                </a:solidFill>
                <a:latin typeface="Segoe UI"/>
              </a:rPr>
              <a:t>En cada cambio de la app:</a:t>
            </a:r>
          </a:p>
          <a:p>
            <a:pPr algn="l">
              <a:spcBef>
                <a:spcPts val="800"/>
              </a:spcBef>
            </a:pPr>
            <a:r>
              <a:rPr sz="1100" b="1" i="0">
                <a:solidFill>
                  <a:srgbClr val="1E293B"/>
                </a:solidFill>
                <a:latin typeface="Segoe UI"/>
              </a:rPr>
              <a:t>1. Entender</a:t>
            </a:r>
          </a:p>
          <a:p>
            <a:pPr algn="l"/>
            <a:r>
              <a:rPr sz="1000" b="0" i="0">
                <a:solidFill>
                  <a:srgbClr val="64748B"/>
                </a:solidFill>
                <a:latin typeface="Segoe UI"/>
              </a:rPr>
              <a:t>la regla con la Product Owner</a:t>
            </a:r>
          </a:p>
          <a:p>
            <a:pPr algn="l">
              <a:spcBef>
                <a:spcPts val="500"/>
              </a:spcBef>
            </a:pPr>
            <a:r>
              <a:rPr sz="1100" b="1" i="0">
                <a:solidFill>
                  <a:srgbClr val="1E293B"/>
                </a:solidFill>
                <a:latin typeface="Segoe UI"/>
              </a:rPr>
              <a:t>2. Implementar</a:t>
            </a:r>
          </a:p>
          <a:p>
            <a:pPr algn="l"/>
            <a:r>
              <a:rPr sz="1000" b="0" i="0">
                <a:solidFill>
                  <a:srgbClr val="64748B"/>
                </a:solidFill>
                <a:latin typeface="Segoe UI"/>
              </a:rPr>
              <a:t>el cambio acotado</a:t>
            </a:r>
          </a:p>
          <a:p>
            <a:pPr algn="l">
              <a:spcBef>
                <a:spcPts val="500"/>
              </a:spcBef>
            </a:pPr>
            <a:r>
              <a:rPr sz="1100" b="1" i="0">
                <a:solidFill>
                  <a:srgbClr val="1E293B"/>
                </a:solidFill>
                <a:latin typeface="Segoe UI"/>
              </a:rPr>
              <a:t>3. Probar y medir</a:t>
            </a:r>
          </a:p>
          <a:p>
            <a:pPr algn="l"/>
            <a:r>
              <a:rPr sz="1000" b="0" i="0">
                <a:solidFill>
                  <a:srgbClr val="64748B"/>
                </a:solidFill>
                <a:latin typeface="Segoe UI"/>
              </a:rPr>
              <a:t>con datos de prueba, sin tocar los reales</a:t>
            </a:r>
          </a:p>
          <a:p>
            <a:pPr algn="l">
              <a:spcBef>
                <a:spcPts val="500"/>
              </a:spcBef>
            </a:pPr>
            <a:r>
              <a:rPr sz="1100" b="1" i="0">
                <a:solidFill>
                  <a:srgbClr val="1E293B"/>
                </a:solidFill>
                <a:latin typeface="Segoe UI"/>
              </a:rPr>
              <a:t>4. Documentar</a:t>
            </a:r>
          </a:p>
          <a:p>
            <a:pPr algn="l"/>
            <a:r>
              <a:rPr sz="1000" b="0" i="0">
                <a:solidFill>
                  <a:srgbClr val="64748B"/>
                </a:solidFill>
                <a:latin typeface="Segoe UI"/>
              </a:rPr>
              <a:t>en la bitácora y la documentación técnica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plas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7" y="246888"/>
            <a:ext cx="713232" cy="713232"/>
          </a:xfrm>
          <a:prstGeom prst="rect">
            <a:avLst/>
          </a:prstGeom>
        </p:spPr>
      </p:pic>
      <p:cxnSp>
        <p:nvCxnSpPr>
          <p:cNvPr id="3" name="Connector 2"/>
          <p:cNvCxnSpPr/>
          <p:nvPr/>
        </p:nvCxnSpPr>
        <p:spPr>
          <a:xfrm>
            <a:off x="8705088" y="274320"/>
            <a:ext cx="0" cy="658368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9096" y="210312"/>
            <a:ext cx="3145536" cy="7863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109728"/>
            <a:ext cx="7498079" cy="11887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003057"/>
                </a:solidFill>
                <a:latin typeface="Segoe UI"/>
              </a:rPr>
              <a:t>Cronograma para el desarrollo del proyecto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371600"/>
            <a:ext cx="3246120" cy="329184"/>
          </a:xfrm>
          <a:prstGeom prst="rect">
            <a:avLst/>
          </a:prstGeom>
          <a:solidFill>
            <a:srgbClr val="0B2A4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73152" rtlCol="0" anchor="ctr"/>
          <a:lstStyle/>
          <a:p>
            <a:pPr algn="l"/>
            <a:r>
              <a:rPr sz="1050" b="1" i="0">
                <a:solidFill>
                  <a:srgbClr val="FFFFFF"/>
                </a:solidFill>
                <a:latin typeface="Segoe UI"/>
              </a:rPr>
              <a:t>SPRINT Y ENTREGABLES</a:t>
            </a:r>
          </a:p>
        </p:txBody>
      </p:sp>
      <p:sp>
        <p:nvSpPr>
          <p:cNvPr id="7" name="Rectangle 6"/>
          <p:cNvSpPr/>
          <p:nvPr/>
        </p:nvSpPr>
        <p:spPr>
          <a:xfrm>
            <a:off x="3520439" y="1371600"/>
            <a:ext cx="1767198" cy="329184"/>
          </a:xfrm>
          <a:prstGeom prst="rect">
            <a:avLst/>
          </a:prstGeom>
          <a:solidFill>
            <a:srgbClr val="1C6BBA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rIns="18288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FASE 1 · INICIO</a:t>
            </a:r>
          </a:p>
        </p:txBody>
      </p:sp>
      <p:sp>
        <p:nvSpPr>
          <p:cNvPr id="8" name="Rectangle 7"/>
          <p:cNvSpPr/>
          <p:nvPr/>
        </p:nvSpPr>
        <p:spPr>
          <a:xfrm>
            <a:off x="5287638" y="1371600"/>
            <a:ext cx="3534396" cy="329184"/>
          </a:xfrm>
          <a:prstGeom prst="rect">
            <a:avLst/>
          </a:prstGeom>
          <a:solidFill>
            <a:srgbClr val="003057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rIns="18288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FASE 2 · DESARROLLO, INTEGRACIÓN Y CALIDAD</a:t>
            </a:r>
          </a:p>
        </p:txBody>
      </p:sp>
      <p:sp>
        <p:nvSpPr>
          <p:cNvPr id="9" name="Rectangle 8"/>
          <p:cNvSpPr/>
          <p:nvPr/>
        </p:nvSpPr>
        <p:spPr>
          <a:xfrm>
            <a:off x="8822034" y="1371600"/>
            <a:ext cx="2650797" cy="329184"/>
          </a:xfrm>
          <a:prstGeom prst="rect">
            <a:avLst/>
          </a:prstGeom>
          <a:solidFill>
            <a:srgbClr val="334155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rIns="18288" rtlCol="0" anchor="ctr"/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FASE 3 · INTEGRACIÓN Y ENTREGA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72832" y="1371600"/>
            <a:ext cx="441799" cy="329184"/>
          </a:xfrm>
          <a:prstGeom prst="rect">
            <a:avLst/>
          </a:prstGeom>
          <a:solidFill>
            <a:srgbClr val="64748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8288" rIns="18288" rtlCol="0" anchor="ctr"/>
          <a:lstStyle/>
          <a:p>
            <a:pPr algn="ctr"/>
            <a:r>
              <a:rPr sz="800" b="1" i="0">
                <a:solidFill>
                  <a:srgbClr val="FFFFFF"/>
                </a:solidFill>
                <a:latin typeface="Segoe UI"/>
              </a:rPr>
              <a:t>CIERRE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700784"/>
            <a:ext cx="3246120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73152" rtlCol="0" anchor="ctr"/>
          <a:lstStyle/>
          <a:p>
            <a:pPr algn="l"/>
            <a:r>
              <a:rPr sz="950" b="0" i="0">
                <a:solidFill>
                  <a:srgbClr val="CBD5E1"/>
                </a:solidFill>
                <a:latin typeface="Segoe UI"/>
              </a:rPr>
              <a:t>Semana (inicio lunes)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520439" y="1700784"/>
            <a:ext cx="441799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1" i="0">
                <a:solidFill>
                  <a:srgbClr val="FFFFFF"/>
                </a:solidFill>
                <a:latin typeface="Segoe UI"/>
              </a:rPr>
              <a:t>S1</a:t>
            </a:r>
          </a:p>
          <a:p>
            <a:pPr algn="ctr"/>
            <a:r>
              <a:rPr sz="700" b="0" i="0">
                <a:solidFill>
                  <a:srgbClr val="CBD5E1"/>
                </a:solidFill>
                <a:latin typeface="Segoe UI"/>
              </a:rPr>
              <a:t>13/07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62239" y="1700784"/>
            <a:ext cx="441799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1" i="0">
                <a:solidFill>
                  <a:srgbClr val="FFFFFF"/>
                </a:solidFill>
                <a:latin typeface="Segoe UI"/>
              </a:rPr>
              <a:t>S2</a:t>
            </a:r>
          </a:p>
          <a:p>
            <a:pPr algn="ctr"/>
            <a:r>
              <a:rPr sz="700" b="0" i="0">
                <a:solidFill>
                  <a:srgbClr val="CBD5E1"/>
                </a:solidFill>
                <a:latin typeface="Segoe UI"/>
              </a:rPr>
              <a:t>20/07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404039" y="1700784"/>
            <a:ext cx="441799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1" i="0">
                <a:solidFill>
                  <a:srgbClr val="FFFFFF"/>
                </a:solidFill>
                <a:latin typeface="Segoe UI"/>
              </a:rPr>
              <a:t>S3</a:t>
            </a:r>
          </a:p>
          <a:p>
            <a:pPr algn="ctr"/>
            <a:r>
              <a:rPr sz="700" b="0" i="0">
                <a:solidFill>
                  <a:srgbClr val="CBD5E1"/>
                </a:solidFill>
                <a:latin typeface="Segoe UI"/>
              </a:rPr>
              <a:t>27/07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45838" y="1700784"/>
            <a:ext cx="441799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1" i="0">
                <a:solidFill>
                  <a:srgbClr val="FFFFFF"/>
                </a:solidFill>
                <a:latin typeface="Segoe UI"/>
              </a:rPr>
              <a:t>S4</a:t>
            </a:r>
          </a:p>
          <a:p>
            <a:pPr algn="ctr"/>
            <a:r>
              <a:rPr sz="700" b="0" i="0">
                <a:solidFill>
                  <a:srgbClr val="CBD5E1"/>
                </a:solidFill>
                <a:latin typeface="Segoe UI"/>
              </a:rPr>
              <a:t>03/08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287638" y="1700784"/>
            <a:ext cx="441799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1" i="0">
                <a:solidFill>
                  <a:srgbClr val="FFFFFF"/>
                </a:solidFill>
                <a:latin typeface="Segoe UI"/>
              </a:rPr>
              <a:t>S5</a:t>
            </a:r>
          </a:p>
          <a:p>
            <a:pPr algn="ctr"/>
            <a:r>
              <a:rPr sz="700" b="0" i="0">
                <a:solidFill>
                  <a:srgbClr val="CBD5E1"/>
                </a:solidFill>
                <a:latin typeface="Segoe UI"/>
              </a:rPr>
              <a:t>10/08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29437" y="1700784"/>
            <a:ext cx="441799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1" i="0">
                <a:solidFill>
                  <a:srgbClr val="FFFFFF"/>
                </a:solidFill>
                <a:latin typeface="Segoe UI"/>
              </a:rPr>
              <a:t>S6</a:t>
            </a:r>
          </a:p>
          <a:p>
            <a:pPr algn="ctr"/>
            <a:r>
              <a:rPr sz="700" b="0" i="0">
                <a:solidFill>
                  <a:srgbClr val="CBD5E1"/>
                </a:solidFill>
                <a:latin typeface="Segoe UI"/>
              </a:rPr>
              <a:t>17/08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71237" y="1700784"/>
            <a:ext cx="441799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1" i="0">
                <a:solidFill>
                  <a:srgbClr val="FFFFFF"/>
                </a:solidFill>
                <a:latin typeface="Segoe UI"/>
              </a:rPr>
              <a:t>S7</a:t>
            </a:r>
          </a:p>
          <a:p>
            <a:pPr algn="ctr"/>
            <a:r>
              <a:rPr sz="700" b="0" i="0">
                <a:solidFill>
                  <a:srgbClr val="CBD5E1"/>
                </a:solidFill>
                <a:latin typeface="Segoe UI"/>
              </a:rPr>
              <a:t>24/08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13037" y="1700784"/>
            <a:ext cx="441799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1" i="0">
                <a:solidFill>
                  <a:srgbClr val="FFFFFF"/>
                </a:solidFill>
                <a:latin typeface="Segoe UI"/>
              </a:rPr>
              <a:t>S8</a:t>
            </a:r>
          </a:p>
          <a:p>
            <a:pPr algn="ctr"/>
            <a:r>
              <a:rPr sz="700" b="0" i="0">
                <a:solidFill>
                  <a:srgbClr val="CBD5E1"/>
                </a:solidFill>
                <a:latin typeface="Segoe UI"/>
              </a:rPr>
              <a:t>31/08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54836" y="1700784"/>
            <a:ext cx="441799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1" i="0">
                <a:solidFill>
                  <a:srgbClr val="FFFFFF"/>
                </a:solidFill>
                <a:latin typeface="Segoe UI"/>
              </a:rPr>
              <a:t>S9</a:t>
            </a:r>
          </a:p>
          <a:p>
            <a:pPr algn="ctr"/>
            <a:r>
              <a:rPr sz="700" b="0" i="0">
                <a:solidFill>
                  <a:srgbClr val="CBD5E1"/>
                </a:solidFill>
                <a:latin typeface="Segoe UI"/>
              </a:rPr>
              <a:t>07/09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496636" y="1700784"/>
            <a:ext cx="441799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1" i="0">
                <a:solidFill>
                  <a:srgbClr val="FFFFFF"/>
                </a:solidFill>
                <a:latin typeface="Segoe UI"/>
              </a:rPr>
              <a:t>S10</a:t>
            </a:r>
          </a:p>
          <a:p>
            <a:pPr algn="ctr"/>
            <a:r>
              <a:rPr sz="700" b="0" i="0">
                <a:solidFill>
                  <a:srgbClr val="CBD5E1"/>
                </a:solidFill>
                <a:latin typeface="Segoe UI"/>
              </a:rPr>
              <a:t>14/09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38435" y="1700784"/>
            <a:ext cx="441799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1" i="0">
                <a:solidFill>
                  <a:srgbClr val="FFFFFF"/>
                </a:solidFill>
                <a:latin typeface="Segoe UI"/>
              </a:rPr>
              <a:t>S11</a:t>
            </a:r>
          </a:p>
          <a:p>
            <a:pPr algn="ctr"/>
            <a:r>
              <a:rPr sz="700" b="0" i="0">
                <a:solidFill>
                  <a:srgbClr val="CBD5E1"/>
                </a:solidFill>
                <a:latin typeface="Segoe UI"/>
              </a:rPr>
              <a:t>21/09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80235" y="1700784"/>
            <a:ext cx="441799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1" i="0">
                <a:solidFill>
                  <a:srgbClr val="FFFFFF"/>
                </a:solidFill>
                <a:latin typeface="Segoe UI"/>
              </a:rPr>
              <a:t>S12</a:t>
            </a:r>
          </a:p>
          <a:p>
            <a:pPr algn="ctr"/>
            <a:r>
              <a:rPr sz="700" b="0" i="0">
                <a:solidFill>
                  <a:srgbClr val="CBD5E1"/>
                </a:solidFill>
                <a:latin typeface="Segoe UI"/>
              </a:rPr>
              <a:t>28/09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822034" y="1700784"/>
            <a:ext cx="441799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1" i="0">
                <a:solidFill>
                  <a:srgbClr val="FFFFFF"/>
                </a:solidFill>
                <a:latin typeface="Segoe UI"/>
              </a:rPr>
              <a:t>S13</a:t>
            </a:r>
          </a:p>
          <a:p>
            <a:pPr algn="ctr"/>
            <a:r>
              <a:rPr sz="700" b="0" i="0">
                <a:solidFill>
                  <a:srgbClr val="CBD5E1"/>
                </a:solidFill>
                <a:latin typeface="Segoe UI"/>
              </a:rPr>
              <a:t>05/10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263834" y="1700784"/>
            <a:ext cx="441799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1" i="0">
                <a:solidFill>
                  <a:srgbClr val="FFFFFF"/>
                </a:solidFill>
                <a:latin typeface="Segoe UI"/>
              </a:rPr>
              <a:t>S14</a:t>
            </a:r>
          </a:p>
          <a:p>
            <a:pPr algn="ctr"/>
            <a:r>
              <a:rPr sz="700" b="0" i="0">
                <a:solidFill>
                  <a:srgbClr val="CBD5E1"/>
                </a:solidFill>
                <a:latin typeface="Segoe UI"/>
              </a:rPr>
              <a:t>12/10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705634" y="1700784"/>
            <a:ext cx="441799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1" i="0">
                <a:solidFill>
                  <a:srgbClr val="FFFFFF"/>
                </a:solidFill>
                <a:latin typeface="Segoe UI"/>
              </a:rPr>
              <a:t>S15</a:t>
            </a:r>
          </a:p>
          <a:p>
            <a:pPr algn="ctr"/>
            <a:r>
              <a:rPr sz="700" b="0" i="0">
                <a:solidFill>
                  <a:srgbClr val="CBD5E1"/>
                </a:solidFill>
                <a:latin typeface="Segoe UI"/>
              </a:rPr>
              <a:t>19/10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147433" y="1700784"/>
            <a:ext cx="441799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1" i="0">
                <a:solidFill>
                  <a:srgbClr val="FFFFFF"/>
                </a:solidFill>
                <a:latin typeface="Segoe UI"/>
              </a:rPr>
              <a:t>S16</a:t>
            </a:r>
          </a:p>
          <a:p>
            <a:pPr algn="ctr"/>
            <a:r>
              <a:rPr sz="700" b="0" i="0">
                <a:solidFill>
                  <a:srgbClr val="CBD5E1"/>
                </a:solidFill>
                <a:latin typeface="Segoe UI"/>
              </a:rPr>
              <a:t>26/10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589233" y="1700784"/>
            <a:ext cx="441799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1" i="0">
                <a:solidFill>
                  <a:srgbClr val="FFFFFF"/>
                </a:solidFill>
                <a:latin typeface="Segoe UI"/>
              </a:rPr>
              <a:t>S17</a:t>
            </a:r>
          </a:p>
          <a:p>
            <a:pPr algn="ctr"/>
            <a:r>
              <a:rPr sz="700" b="0" i="0">
                <a:solidFill>
                  <a:srgbClr val="CBD5E1"/>
                </a:solidFill>
                <a:latin typeface="Segoe UI"/>
              </a:rPr>
              <a:t>02/11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031032" y="1700784"/>
            <a:ext cx="441799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850" b="1" i="0">
                <a:solidFill>
                  <a:srgbClr val="FFFFFF"/>
                </a:solidFill>
                <a:latin typeface="Segoe UI"/>
              </a:rPr>
              <a:t>S18</a:t>
            </a:r>
          </a:p>
          <a:p>
            <a:pPr algn="ctr"/>
            <a:r>
              <a:rPr sz="700" b="0" i="0">
                <a:solidFill>
                  <a:srgbClr val="CBD5E1"/>
                </a:solidFill>
                <a:latin typeface="Segoe UI"/>
              </a:rPr>
              <a:t>09/11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1472832" y="1700784"/>
            <a:ext cx="441799" cy="384048"/>
          </a:xfrm>
          <a:prstGeom prst="rect">
            <a:avLst/>
          </a:prstGeom>
          <a:solidFill>
            <a:srgbClr val="1E293B"/>
          </a:solidFill>
          <a:ln w="1270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rIns="0" rtlCol="0" anchor="ctr"/>
          <a:lstStyle/>
          <a:p>
            <a:pPr algn="ctr"/>
            <a:r>
              <a:rPr sz="750" b="1" i="0">
                <a:solidFill>
                  <a:srgbClr val="FFFFFF"/>
                </a:solidFill>
                <a:latin typeface="Segoe UI"/>
              </a:rPr>
              <a:t>Nov–Dic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2084832"/>
            <a:ext cx="11640311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20040" y="2066544"/>
            <a:ext cx="3200400" cy="429768"/>
          </a:xfrm>
          <a:prstGeom prst="rect">
            <a:avLst/>
          </a:prstGeom>
          <a:noFill/>
        </p:spPr>
        <p:txBody>
          <a:bodyPr wrap="square" lIns="73152" tIns="27432" rIns="73152" anchor="t">
            <a:spAutoFit/>
          </a:bodyPr>
          <a:lstStyle/>
          <a:p>
            <a:pPr algn="l"/>
            <a:r>
              <a:rPr sz="950" b="1" i="0">
                <a:solidFill>
                  <a:srgbClr val="1E293B"/>
                </a:solidFill>
                <a:latin typeface="Segoe UI"/>
              </a:rPr>
              <a:t>Sprint 0 · Inducción y diagnóstico</a:t>
            </a:r>
          </a:p>
          <a:p>
            <a:pPr algn="l"/>
            <a:r>
              <a:rPr sz="750" b="0" i="0">
                <a:solidFill>
                  <a:srgbClr val="64748B"/>
                </a:solidFill>
                <a:latin typeface="Segoe UI"/>
              </a:rPr>
              <a:t>Problema levantado; propuesta web con SQL descartada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557015" y="2148840"/>
            <a:ext cx="368647" cy="301751"/>
          </a:xfrm>
          <a:prstGeom prst="roundRect">
            <a:avLst>
              <a:gd name="adj" fmla="val 18000"/>
            </a:avLst>
          </a:prstGeom>
          <a:solidFill>
            <a:srgbClr val="003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3998815" y="2148840"/>
            <a:ext cx="368647" cy="301751"/>
          </a:xfrm>
          <a:prstGeom prst="roundRect">
            <a:avLst>
              <a:gd name="adj" fmla="val 18000"/>
            </a:avLst>
          </a:prstGeom>
          <a:solidFill>
            <a:srgbClr val="003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274320" y="2514600"/>
            <a:ext cx="11640311" cy="4297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320040" y="2496312"/>
            <a:ext cx="3200400" cy="429768"/>
          </a:xfrm>
          <a:prstGeom prst="rect">
            <a:avLst/>
          </a:prstGeom>
          <a:noFill/>
        </p:spPr>
        <p:txBody>
          <a:bodyPr wrap="square" lIns="73152" tIns="27432" rIns="73152" anchor="t">
            <a:spAutoFit/>
          </a:bodyPr>
          <a:lstStyle/>
          <a:p>
            <a:pPr algn="l"/>
            <a:r>
              <a:rPr sz="950" b="1" i="0">
                <a:solidFill>
                  <a:srgbClr val="1E293B"/>
                </a:solidFill>
                <a:latin typeface="Segoe UI"/>
              </a:rPr>
              <a:t>Sprint 1 · Arquitectura y base</a:t>
            </a:r>
          </a:p>
          <a:p>
            <a:pPr algn="l"/>
            <a:r>
              <a:rPr sz="750" b="0" i="0">
                <a:solidFill>
                  <a:srgbClr val="64748B"/>
                </a:solidFill>
                <a:latin typeface="Segoe UI"/>
              </a:rPr>
              <a:t>App de escritorio, Comercial, Provisiones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4440615" y="2578608"/>
            <a:ext cx="368647" cy="301751"/>
          </a:xfrm>
          <a:prstGeom prst="roundRect">
            <a:avLst>
              <a:gd name="adj" fmla="val 18000"/>
            </a:avLst>
          </a:prstGeom>
          <a:solidFill>
            <a:srgbClr val="003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8" name="Rounded Rectangle 37"/>
          <p:cNvSpPr/>
          <p:nvPr/>
        </p:nvSpPr>
        <p:spPr>
          <a:xfrm>
            <a:off x="4882414" y="2578608"/>
            <a:ext cx="368647" cy="301751"/>
          </a:xfrm>
          <a:prstGeom prst="roundRect">
            <a:avLst>
              <a:gd name="adj" fmla="val 18000"/>
            </a:avLst>
          </a:prstGeom>
          <a:solidFill>
            <a:srgbClr val="003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9" name="Rectangle 38"/>
          <p:cNvSpPr/>
          <p:nvPr/>
        </p:nvSpPr>
        <p:spPr>
          <a:xfrm>
            <a:off x="274320" y="2944368"/>
            <a:ext cx="11640311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20040" y="2926080"/>
            <a:ext cx="3200400" cy="429768"/>
          </a:xfrm>
          <a:prstGeom prst="rect">
            <a:avLst/>
          </a:prstGeom>
          <a:noFill/>
        </p:spPr>
        <p:txBody>
          <a:bodyPr wrap="square" lIns="73152" tIns="27432" rIns="73152" anchor="t">
            <a:spAutoFit/>
          </a:bodyPr>
          <a:lstStyle/>
          <a:p>
            <a:pPr algn="l"/>
            <a:r>
              <a:rPr sz="950" b="1" i="0">
                <a:solidFill>
                  <a:srgbClr val="1E293B"/>
                </a:solidFill>
                <a:latin typeface="Segoe UI"/>
              </a:rPr>
              <a:t>Sprint 2 · Módulos e integraciones</a:t>
            </a:r>
          </a:p>
          <a:p>
            <a:pPr algn="l"/>
            <a:r>
              <a:rPr sz="750" b="0" i="0">
                <a:solidFill>
                  <a:srgbClr val="64748B"/>
                </a:solidFill>
                <a:latin typeface="Segoe UI"/>
              </a:rPr>
              <a:t>Instalaciones, sincronización RM, Contactos, Correos, primer .exe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324214" y="3008376"/>
            <a:ext cx="368647" cy="301751"/>
          </a:xfrm>
          <a:prstGeom prst="roundRect">
            <a:avLst>
              <a:gd name="adj" fmla="val 18000"/>
            </a:avLst>
          </a:prstGeom>
          <a:solidFill>
            <a:srgbClr val="003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5766013" y="3008376"/>
            <a:ext cx="368647" cy="301751"/>
          </a:xfrm>
          <a:prstGeom prst="roundRect">
            <a:avLst>
              <a:gd name="adj" fmla="val 18000"/>
            </a:avLst>
          </a:prstGeom>
          <a:solidFill>
            <a:srgbClr val="003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3" name="Rectangle 42"/>
          <p:cNvSpPr/>
          <p:nvPr/>
        </p:nvSpPr>
        <p:spPr>
          <a:xfrm>
            <a:off x="274320" y="3374136"/>
            <a:ext cx="11640311" cy="4297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320040" y="3355848"/>
            <a:ext cx="3200400" cy="429768"/>
          </a:xfrm>
          <a:prstGeom prst="rect">
            <a:avLst/>
          </a:prstGeom>
          <a:noFill/>
        </p:spPr>
        <p:txBody>
          <a:bodyPr wrap="square" lIns="73152" tIns="27432" rIns="73152" anchor="t">
            <a:spAutoFit/>
          </a:bodyPr>
          <a:lstStyle/>
          <a:p>
            <a:pPr algn="l"/>
            <a:r>
              <a:rPr sz="950" b="1" i="0">
                <a:solidFill>
                  <a:srgbClr val="1E293B"/>
                </a:solidFill>
                <a:latin typeface="Segoe UI"/>
              </a:rPr>
              <a:t>Sprint 3 · Seguridad y pruebas</a:t>
            </a:r>
          </a:p>
          <a:p>
            <a:pPr algn="l"/>
            <a:r>
              <a:rPr sz="750" b="0" i="0">
                <a:solidFill>
                  <a:srgbClr val="64748B"/>
                </a:solidFill>
                <a:latin typeface="Segoe UI"/>
              </a:rPr>
              <a:t>Guardado seguro, respaldo obligatorio, pruebas automáticas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207813" y="3438144"/>
            <a:ext cx="368647" cy="301751"/>
          </a:xfrm>
          <a:prstGeom prst="roundRect">
            <a:avLst>
              <a:gd name="adj" fmla="val 18000"/>
            </a:avLst>
          </a:prstGeom>
          <a:solidFill>
            <a:srgbClr val="003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6" name="Rounded Rectangle 45"/>
          <p:cNvSpPr/>
          <p:nvPr/>
        </p:nvSpPr>
        <p:spPr>
          <a:xfrm>
            <a:off x="6649613" y="3438144"/>
            <a:ext cx="368647" cy="301751"/>
          </a:xfrm>
          <a:prstGeom prst="roundRect">
            <a:avLst>
              <a:gd name="adj" fmla="val 18000"/>
            </a:avLst>
          </a:prstGeom>
          <a:solidFill>
            <a:srgbClr val="003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7" name="Rectangle 46"/>
          <p:cNvSpPr/>
          <p:nvPr/>
        </p:nvSpPr>
        <p:spPr>
          <a:xfrm>
            <a:off x="274320" y="3803904"/>
            <a:ext cx="11640311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320040" y="3785616"/>
            <a:ext cx="3200400" cy="429768"/>
          </a:xfrm>
          <a:prstGeom prst="rect">
            <a:avLst/>
          </a:prstGeom>
          <a:noFill/>
        </p:spPr>
        <p:txBody>
          <a:bodyPr wrap="square" lIns="73152" tIns="27432" rIns="73152" anchor="t">
            <a:spAutoFit/>
          </a:bodyPr>
          <a:lstStyle/>
          <a:p>
            <a:pPr algn="l"/>
            <a:r>
              <a:rPr sz="950" b="1" i="0">
                <a:solidFill>
                  <a:srgbClr val="1E293B"/>
                </a:solidFill>
                <a:latin typeface="Segoe UI"/>
              </a:rPr>
              <a:t>Sprint 4 · Calidad y Contratos CM</a:t>
            </a:r>
          </a:p>
          <a:p>
            <a:pPr algn="l"/>
            <a:r>
              <a:rPr sz="750" b="0" i="0">
                <a:solidFill>
                  <a:srgbClr val="64748B"/>
                </a:solidFill>
                <a:latin typeface="Segoe UI"/>
              </a:rPr>
              <a:t>Auditoría de pruebas, revisión CM, reglas de negocio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091412" y="3867912"/>
            <a:ext cx="368647" cy="301751"/>
          </a:xfrm>
          <a:prstGeom prst="roundRect">
            <a:avLst>
              <a:gd name="adj" fmla="val 18000"/>
            </a:avLst>
          </a:prstGeom>
          <a:solidFill>
            <a:srgbClr val="003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0" name="Rounded Rectangle 49"/>
          <p:cNvSpPr/>
          <p:nvPr/>
        </p:nvSpPr>
        <p:spPr>
          <a:xfrm>
            <a:off x="7533212" y="3867912"/>
            <a:ext cx="368647" cy="301751"/>
          </a:xfrm>
          <a:prstGeom prst="roundRect">
            <a:avLst>
              <a:gd name="adj" fmla="val 18000"/>
            </a:avLst>
          </a:prstGeom>
          <a:solidFill>
            <a:srgbClr val="003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1" name="Rectangle 50"/>
          <p:cNvSpPr/>
          <p:nvPr/>
        </p:nvSpPr>
        <p:spPr>
          <a:xfrm>
            <a:off x="274320" y="4233672"/>
            <a:ext cx="11640311" cy="4297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20040" y="4215384"/>
            <a:ext cx="3200400" cy="429768"/>
          </a:xfrm>
          <a:prstGeom prst="rect">
            <a:avLst/>
          </a:prstGeom>
          <a:noFill/>
        </p:spPr>
        <p:txBody>
          <a:bodyPr wrap="square" lIns="73152" tIns="27432" rIns="73152" anchor="t">
            <a:spAutoFit/>
          </a:bodyPr>
          <a:lstStyle/>
          <a:p>
            <a:pPr algn="l"/>
            <a:r>
              <a:rPr sz="950" b="1" i="0">
                <a:solidFill>
                  <a:srgbClr val="1E293B"/>
                </a:solidFill>
                <a:latin typeface="Segoe UI"/>
              </a:rPr>
              <a:t>Sprint 5 · Rendimiento y rediseño</a:t>
            </a:r>
          </a:p>
          <a:p>
            <a:pPr algn="l"/>
            <a:r>
              <a:rPr sz="750" b="0" i="0">
                <a:solidFill>
                  <a:srgbClr val="64748B"/>
                </a:solidFill>
                <a:latin typeface="Segoe UI"/>
              </a:rPr>
              <a:t>Optimización, archivo CSV, Operaciones, JustTime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7975011" y="4297680"/>
            <a:ext cx="368647" cy="301751"/>
          </a:xfrm>
          <a:prstGeom prst="roundRect">
            <a:avLst>
              <a:gd name="adj" fmla="val 18000"/>
            </a:avLst>
          </a:prstGeom>
          <a:solidFill>
            <a:srgbClr val="003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4" name="Rounded Rectangle 53"/>
          <p:cNvSpPr/>
          <p:nvPr/>
        </p:nvSpPr>
        <p:spPr>
          <a:xfrm>
            <a:off x="8416811" y="4297680"/>
            <a:ext cx="368647" cy="301751"/>
          </a:xfrm>
          <a:prstGeom prst="roundRect">
            <a:avLst>
              <a:gd name="adj" fmla="val 18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5" name="Rectangle 54"/>
          <p:cNvSpPr/>
          <p:nvPr/>
        </p:nvSpPr>
        <p:spPr>
          <a:xfrm>
            <a:off x="274320" y="4663440"/>
            <a:ext cx="11640311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320040" y="4645152"/>
            <a:ext cx="3200400" cy="429768"/>
          </a:xfrm>
          <a:prstGeom prst="rect">
            <a:avLst/>
          </a:prstGeom>
          <a:noFill/>
        </p:spPr>
        <p:txBody>
          <a:bodyPr wrap="square" lIns="73152" tIns="27432" rIns="73152" anchor="t">
            <a:spAutoFit/>
          </a:bodyPr>
          <a:lstStyle/>
          <a:p>
            <a:pPr algn="l"/>
            <a:r>
              <a:rPr sz="950" b="1" i="0">
                <a:solidFill>
                  <a:srgbClr val="1E293B"/>
                </a:solidFill>
                <a:latin typeface="Segoe UI"/>
              </a:rPr>
              <a:t>Sprint 6 · Integración del dashboard</a:t>
            </a:r>
          </a:p>
          <a:p>
            <a:pPr algn="l"/>
            <a:r>
              <a:rPr sz="750" b="0" i="0">
                <a:solidFill>
                  <a:srgbClr val="64748B"/>
                </a:solidFill>
                <a:latin typeface="Segoe UI"/>
              </a:rPr>
              <a:t>Página web de Conectividad + Academia en Inicio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8858610" y="4727448"/>
            <a:ext cx="368647" cy="301751"/>
          </a:xfrm>
          <a:prstGeom prst="roundRect">
            <a:avLst>
              <a:gd name="adj" fmla="val 18000"/>
            </a:avLst>
          </a:prstGeom>
          <a:solidFill>
            <a:srgbClr val="DBEAFE"/>
          </a:solidFill>
          <a:ln w="9525">
            <a:solidFill>
              <a:srgbClr val="1C6B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8" name="Rounded Rectangle 57"/>
          <p:cNvSpPr/>
          <p:nvPr/>
        </p:nvSpPr>
        <p:spPr>
          <a:xfrm>
            <a:off x="9300410" y="4727448"/>
            <a:ext cx="368647" cy="301751"/>
          </a:xfrm>
          <a:prstGeom prst="roundRect">
            <a:avLst>
              <a:gd name="adj" fmla="val 18000"/>
            </a:avLst>
          </a:prstGeom>
          <a:solidFill>
            <a:srgbClr val="DBEAFE"/>
          </a:solidFill>
          <a:ln w="9525">
            <a:solidFill>
              <a:srgbClr val="1C6B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59" name="Rectangle 58"/>
          <p:cNvSpPr/>
          <p:nvPr/>
        </p:nvSpPr>
        <p:spPr>
          <a:xfrm>
            <a:off x="274320" y="5093208"/>
            <a:ext cx="11640311" cy="4297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320040" y="5074920"/>
            <a:ext cx="3200400" cy="429768"/>
          </a:xfrm>
          <a:prstGeom prst="rect">
            <a:avLst/>
          </a:prstGeom>
          <a:noFill/>
        </p:spPr>
        <p:txBody>
          <a:bodyPr wrap="square" lIns="73152" tIns="27432" rIns="73152" anchor="t">
            <a:spAutoFit/>
          </a:bodyPr>
          <a:lstStyle/>
          <a:p>
            <a:pPr algn="l"/>
            <a:r>
              <a:rPr sz="950" b="1" i="0">
                <a:solidFill>
                  <a:srgbClr val="1E293B"/>
                </a:solidFill>
                <a:latin typeface="Segoe UI"/>
              </a:rPr>
              <a:t>Sprint 7 · Pruebas con usuarios</a:t>
            </a:r>
          </a:p>
          <a:p>
            <a:pPr algn="l"/>
            <a:r>
              <a:rPr sz="750" b="0" i="0">
                <a:solidFill>
                  <a:srgbClr val="64748B"/>
                </a:solidFill>
                <a:latin typeface="Segoe UI"/>
              </a:rPr>
              <a:t>Validación de flujos reales con el equipo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9742210" y="5157216"/>
            <a:ext cx="368647" cy="301751"/>
          </a:xfrm>
          <a:prstGeom prst="roundRect">
            <a:avLst>
              <a:gd name="adj" fmla="val 18000"/>
            </a:avLst>
          </a:prstGeom>
          <a:solidFill>
            <a:srgbClr val="DBEAFE"/>
          </a:solidFill>
          <a:ln w="9525">
            <a:solidFill>
              <a:srgbClr val="1C6B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2" name="Rounded Rectangle 61"/>
          <p:cNvSpPr/>
          <p:nvPr/>
        </p:nvSpPr>
        <p:spPr>
          <a:xfrm>
            <a:off x="10184009" y="5157216"/>
            <a:ext cx="368647" cy="301751"/>
          </a:xfrm>
          <a:prstGeom prst="roundRect">
            <a:avLst>
              <a:gd name="adj" fmla="val 18000"/>
            </a:avLst>
          </a:prstGeom>
          <a:solidFill>
            <a:srgbClr val="DBEAFE"/>
          </a:solidFill>
          <a:ln w="9525">
            <a:solidFill>
              <a:srgbClr val="1C6B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3" name="Rectangle 62"/>
          <p:cNvSpPr/>
          <p:nvPr/>
        </p:nvSpPr>
        <p:spPr>
          <a:xfrm>
            <a:off x="274320" y="5522976"/>
            <a:ext cx="11640311" cy="4297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320040" y="5504688"/>
            <a:ext cx="3200400" cy="429768"/>
          </a:xfrm>
          <a:prstGeom prst="rect">
            <a:avLst/>
          </a:prstGeom>
          <a:noFill/>
        </p:spPr>
        <p:txBody>
          <a:bodyPr wrap="square" lIns="73152" tIns="27432" rIns="73152" anchor="t">
            <a:spAutoFit/>
          </a:bodyPr>
          <a:lstStyle/>
          <a:p>
            <a:pPr algn="l"/>
            <a:r>
              <a:rPr sz="950" b="1" i="0">
                <a:solidFill>
                  <a:srgbClr val="1E293B"/>
                </a:solidFill>
                <a:latin typeface="Segoe UI"/>
              </a:rPr>
              <a:t>Sprint 8 · Entrega al cliente</a:t>
            </a:r>
          </a:p>
          <a:p>
            <a:pPr algn="l"/>
            <a:r>
              <a:rPr sz="750" b="0" i="0">
                <a:solidFill>
                  <a:srgbClr val="64748B"/>
                </a:solidFill>
                <a:latin typeface="Segoe UI"/>
              </a:rPr>
              <a:t>Versión final, manual y traspaso a la contraparte comercial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0625809" y="5586984"/>
            <a:ext cx="368647" cy="301751"/>
          </a:xfrm>
          <a:prstGeom prst="roundRect">
            <a:avLst>
              <a:gd name="adj" fmla="val 18000"/>
            </a:avLst>
          </a:prstGeom>
          <a:solidFill>
            <a:srgbClr val="DBEAFE"/>
          </a:solidFill>
          <a:ln w="9525">
            <a:solidFill>
              <a:srgbClr val="1C6B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6" name="Rounded Rectangle 65"/>
          <p:cNvSpPr/>
          <p:nvPr/>
        </p:nvSpPr>
        <p:spPr>
          <a:xfrm>
            <a:off x="11067608" y="5586984"/>
            <a:ext cx="368647" cy="301751"/>
          </a:xfrm>
          <a:prstGeom prst="roundRect">
            <a:avLst>
              <a:gd name="adj" fmla="val 18000"/>
            </a:avLst>
          </a:prstGeom>
          <a:solidFill>
            <a:srgbClr val="DBEAFE"/>
          </a:solidFill>
          <a:ln w="9525">
            <a:solidFill>
              <a:srgbClr val="1C6B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7" name="Rectangle 66"/>
          <p:cNvSpPr/>
          <p:nvPr/>
        </p:nvSpPr>
        <p:spPr>
          <a:xfrm>
            <a:off x="274320" y="5952744"/>
            <a:ext cx="11640311" cy="429768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320040" y="5934456"/>
            <a:ext cx="3200400" cy="429768"/>
          </a:xfrm>
          <a:prstGeom prst="rect">
            <a:avLst/>
          </a:prstGeom>
          <a:noFill/>
        </p:spPr>
        <p:txBody>
          <a:bodyPr wrap="square" lIns="73152" tIns="27432" rIns="73152" anchor="t">
            <a:spAutoFit/>
          </a:bodyPr>
          <a:lstStyle/>
          <a:p>
            <a:pPr algn="l"/>
            <a:r>
              <a:rPr sz="950" b="1" i="0">
                <a:solidFill>
                  <a:srgbClr val="1E293B"/>
                </a:solidFill>
                <a:latin typeface="Segoe UI"/>
              </a:rPr>
              <a:t>Cierre Capstone</a:t>
            </a:r>
          </a:p>
          <a:p>
            <a:pPr algn="l"/>
            <a:r>
              <a:rPr sz="750" b="0" i="0">
                <a:solidFill>
                  <a:srgbClr val="64748B"/>
                </a:solidFill>
                <a:latin typeface="Segoe UI"/>
              </a:rPr>
              <a:t>Documentación final y presentación (diciembre)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1509408" y="6016752"/>
            <a:ext cx="368647" cy="301751"/>
          </a:xfrm>
          <a:prstGeom prst="roundRect">
            <a:avLst>
              <a:gd name="adj" fmla="val 18000"/>
            </a:avLst>
          </a:prstGeom>
          <a:solidFill>
            <a:srgbClr val="DBEAFE"/>
          </a:solidFill>
          <a:ln w="9525">
            <a:solidFill>
              <a:srgbClr val="1C6B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cxnSp>
        <p:nvCxnSpPr>
          <p:cNvPr id="70" name="Connector 69"/>
          <p:cNvCxnSpPr/>
          <p:nvPr/>
        </p:nvCxnSpPr>
        <p:spPr>
          <a:xfrm>
            <a:off x="8570209" y="2084832"/>
            <a:ext cx="0" cy="4297680"/>
          </a:xfrm>
          <a:prstGeom prst="line">
            <a:avLst/>
          </a:prstGeom>
          <a:ln w="19050">
            <a:solidFill>
              <a:srgbClr val="EF4444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/>
          <p:cNvSpPr txBox="1"/>
          <p:nvPr/>
        </p:nvSpPr>
        <p:spPr>
          <a:xfrm>
            <a:off x="8021569" y="6382512"/>
            <a:ext cx="1097280" cy="176972"/>
          </a:xfrm>
          <a:prstGeom prst="rect">
            <a:avLst/>
          </a:prstGeom>
          <a:noFill/>
        </p:spPr>
        <p:txBody>
          <a:bodyPr wrap="square" lIns="73152" tIns="0" rIns="73152" anchor="t">
            <a:spAutoFit/>
          </a:bodyPr>
          <a:lstStyle/>
          <a:p>
            <a:pPr algn="ctr"/>
            <a:r>
              <a:rPr sz="850" b="1" i="0" dirty="0">
                <a:solidFill>
                  <a:srgbClr val="B91C1C"/>
                </a:solidFill>
                <a:latin typeface="Segoe UI"/>
              </a:rPr>
              <a:t>Hoy </a:t>
            </a:r>
            <a:r>
              <a:rPr lang="es-CL" sz="850" b="1" dirty="0">
                <a:solidFill>
                  <a:srgbClr val="B91C1C"/>
                </a:solidFill>
                <a:latin typeface="Segoe UI"/>
              </a:rPr>
              <a:t>01-10</a:t>
            </a:r>
            <a:endParaRPr sz="850" b="1" i="0" dirty="0">
              <a:solidFill>
                <a:srgbClr val="B91C1C"/>
              </a:solidFill>
              <a:latin typeface="Segoe UI"/>
            </a:endParaRPr>
          </a:p>
        </p:txBody>
      </p:sp>
      <p:sp>
        <p:nvSpPr>
          <p:cNvPr id="72" name="Rounded Rectangle 71"/>
          <p:cNvSpPr/>
          <p:nvPr/>
        </p:nvSpPr>
        <p:spPr>
          <a:xfrm>
            <a:off x="365760" y="6547103"/>
            <a:ext cx="274320" cy="182880"/>
          </a:xfrm>
          <a:prstGeom prst="roundRect">
            <a:avLst>
              <a:gd name="adj" fmla="val 20000"/>
            </a:avLst>
          </a:prstGeom>
          <a:solidFill>
            <a:srgbClr val="003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685800" y="6492240"/>
            <a:ext cx="1280160" cy="292608"/>
          </a:xfrm>
          <a:prstGeom prst="rect">
            <a:avLst/>
          </a:prstGeom>
          <a:noFill/>
        </p:spPr>
        <p:txBody>
          <a:bodyPr wrap="square" lIns="73152" tIns="18288" rIns="73152" anchor="t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Segoe UI"/>
              </a:rPr>
              <a:t>Completado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1965960" y="6547103"/>
            <a:ext cx="274320" cy="182880"/>
          </a:xfrm>
          <a:prstGeom prst="roundRect">
            <a:avLst>
              <a:gd name="adj" fmla="val 20000"/>
            </a:avLst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2286000" y="6492240"/>
            <a:ext cx="1280160" cy="292608"/>
          </a:xfrm>
          <a:prstGeom prst="rect">
            <a:avLst/>
          </a:prstGeom>
          <a:noFill/>
        </p:spPr>
        <p:txBody>
          <a:bodyPr wrap="square" lIns="73152" tIns="18288" rIns="73152" anchor="t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Segoe UI"/>
              </a:rPr>
              <a:t>En curso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3566160" y="6547103"/>
            <a:ext cx="274320" cy="182880"/>
          </a:xfrm>
          <a:prstGeom prst="roundRect">
            <a:avLst>
              <a:gd name="adj" fmla="val 20000"/>
            </a:avLst>
          </a:prstGeom>
          <a:solidFill>
            <a:srgbClr val="DBEAFE"/>
          </a:solidFill>
          <a:ln w="12700">
            <a:solidFill>
              <a:srgbClr val="1C6B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77" name="TextBox 76"/>
          <p:cNvSpPr txBox="1"/>
          <p:nvPr/>
        </p:nvSpPr>
        <p:spPr>
          <a:xfrm>
            <a:off x="3886200" y="6492240"/>
            <a:ext cx="1280160" cy="292608"/>
          </a:xfrm>
          <a:prstGeom prst="rect">
            <a:avLst/>
          </a:prstGeom>
          <a:noFill/>
        </p:spPr>
        <p:txBody>
          <a:bodyPr wrap="square" lIns="73152" tIns="18288" rIns="73152" anchor="t">
            <a:spAutoFit/>
          </a:bodyPr>
          <a:lstStyle/>
          <a:p>
            <a:pPr algn="l"/>
            <a:r>
              <a:rPr sz="950" b="0" i="0">
                <a:solidFill>
                  <a:srgbClr val="475569"/>
                </a:solidFill>
                <a:latin typeface="Segoe UI"/>
              </a:rPr>
              <a:t>Planificado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5212080" y="6492240"/>
            <a:ext cx="6720840" cy="292608"/>
          </a:xfrm>
          <a:prstGeom prst="rect">
            <a:avLst/>
          </a:prstGeom>
          <a:noFill/>
        </p:spPr>
        <p:txBody>
          <a:bodyPr wrap="square" lIns="73152" tIns="18288" rIns="73152" anchor="t">
            <a:spAutoFit/>
          </a:bodyPr>
          <a:lstStyle/>
          <a:p>
            <a:pPr algn="r"/>
            <a:r>
              <a:rPr sz="900" b="0" i="0">
                <a:solidFill>
                  <a:srgbClr val="64748B"/>
                </a:solidFill>
                <a:latin typeface="Segoe UI"/>
              </a:rPr>
              <a:t>Práctica y proyecto Empresa Demo: 13-07 al 15-11-2026  ·  Capstone Duoc UC: hasta diciembre de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" y="347472"/>
            <a:ext cx="5486400" cy="384048"/>
          </a:xfrm>
          <a:prstGeom prst="rect">
            <a:avLst/>
          </a:prstGeom>
          <a:noFill/>
        </p:spPr>
        <p:txBody>
          <a:bodyPr wrap="square" rIns="73152" anchor="t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  <a:latin typeface="Segoe UI"/>
              </a:rPr>
              <a:t>Empresa Demo Sistema de Gestión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758952"/>
            <a:ext cx="4087368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splas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7" y="246888"/>
            <a:ext cx="713232" cy="713232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8705088" y="274320"/>
            <a:ext cx="0" cy="658368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9096" y="210312"/>
            <a:ext cx="3145536" cy="7863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0" y="2779776"/>
            <a:ext cx="12191695" cy="996696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4400" b="1" i="0">
                <a:solidFill>
                  <a:srgbClr val="003057"/>
                </a:solidFill>
                <a:latin typeface="Segoe UI"/>
              </a:rPr>
              <a:t>Arquitectura del software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184648" y="3886200"/>
            <a:ext cx="182880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" y="347472"/>
            <a:ext cx="5486400" cy="384048"/>
          </a:xfrm>
          <a:prstGeom prst="rect">
            <a:avLst/>
          </a:prstGeom>
          <a:noFill/>
        </p:spPr>
        <p:txBody>
          <a:bodyPr wrap="square" rIns="73152" anchor="t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  <a:latin typeface="Segoe UI"/>
              </a:rPr>
              <a:t>Empresa Demo Sistema de Gestión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758952"/>
            <a:ext cx="4087368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splas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7" y="246888"/>
            <a:ext cx="713232" cy="713232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8705088" y="274320"/>
            <a:ext cx="0" cy="658368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9096" y="210312"/>
            <a:ext cx="3145536" cy="7863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0" y="896112"/>
            <a:ext cx="12191695" cy="5029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600" b="1" i="0">
                <a:solidFill>
                  <a:srgbClr val="003057"/>
                </a:solidFill>
                <a:latin typeface="Segoe UI"/>
              </a:rPr>
              <a:t>Arquitectura general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" y="1508760"/>
            <a:ext cx="1874519" cy="5120640"/>
          </a:xfrm>
          <a:prstGeom prst="roundRect">
            <a:avLst>
              <a:gd name="adj" fmla="val 5000"/>
            </a:avLst>
          </a:prstGeom>
          <a:solidFill>
            <a:srgbClr val="EEF4FB"/>
          </a:solidFill>
          <a:ln w="12700">
            <a:solidFill>
              <a:srgbClr val="1C6B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274320" y="1508760"/>
            <a:ext cx="1874519" cy="411480"/>
          </a:xfrm>
          <a:prstGeom prst="roundRect">
            <a:avLst>
              <a:gd name="adj" fmla="val 25000"/>
            </a:avLst>
          </a:prstGeom>
          <a:solidFill>
            <a:srgbClr val="1C6B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73152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QUIÉN LA USA</a:t>
            </a:r>
          </a:p>
        </p:txBody>
      </p:sp>
      <p:sp>
        <p:nvSpPr>
          <p:cNvPr id="10" name="Oval 9"/>
          <p:cNvSpPr/>
          <p:nvPr/>
        </p:nvSpPr>
        <p:spPr>
          <a:xfrm>
            <a:off x="1040587" y="2103120"/>
            <a:ext cx="341985" cy="341985"/>
          </a:xfrm>
          <a:prstGeom prst="ellipse">
            <a:avLst/>
          </a:prstGeom>
          <a:solidFill>
            <a:srgbClr val="003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ound Same Side Corner Rectangle 10"/>
          <p:cNvSpPr/>
          <p:nvPr/>
        </p:nvSpPr>
        <p:spPr>
          <a:xfrm>
            <a:off x="909827" y="2485339"/>
            <a:ext cx="603504" cy="422452"/>
          </a:xfrm>
          <a:prstGeom prst="round2SameRect">
            <a:avLst/>
          </a:prstGeom>
          <a:solidFill>
            <a:srgbClr val="003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20040" y="2971800"/>
            <a:ext cx="1783080" cy="91440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1100" b="1" i="0">
                <a:solidFill>
                  <a:srgbClr val="1E293B"/>
                </a:solidFill>
                <a:latin typeface="Segoe UI"/>
              </a:rPr>
              <a:t>Equipo de Servicios Conectados</a:t>
            </a:r>
          </a:p>
          <a:p>
            <a:pPr algn="ctr"/>
            <a:r>
              <a:rPr sz="950" b="0" i="0">
                <a:solidFill>
                  <a:srgbClr val="64748B"/>
                </a:solidFill>
                <a:latin typeface="Segoe UI"/>
              </a:rPr>
              <a:t>Comercial · Operaciones · Finanzas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84048" y="3931920"/>
            <a:ext cx="1655064" cy="25603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tIns="91440" rIns="54864" rtlCol="0" anchor="t"/>
          <a:lstStyle/>
          <a:p>
            <a:pPr algn="l"/>
            <a:r>
              <a:rPr sz="1050" b="1" i="0">
                <a:solidFill>
                  <a:srgbClr val="003057"/>
                </a:solidFill>
                <a:latin typeface="Segoe UI"/>
              </a:rPr>
              <a:t>En el día a día</a:t>
            </a:r>
          </a:p>
          <a:p>
            <a:pPr marL="164592" indent="-164592" algn="l">
              <a:spcBef>
                <a:spcPts val="400"/>
              </a:spcBef>
              <a:buClr>
                <a:srgbClr val="2563EB"/>
              </a:buClr>
              <a:buChar char="•"/>
            </a:pPr>
            <a:r>
              <a:rPr sz="950" b="0" i="0">
                <a:solidFill>
                  <a:srgbClr val="1E293B"/>
                </a:solidFill>
                <a:latin typeface="Segoe UI"/>
              </a:rPr>
              <a:t>Busca un camión o cliente</a:t>
            </a:r>
          </a:p>
          <a:p>
            <a:pPr marL="164592" indent="-164592" algn="l">
              <a:spcBef>
                <a:spcPts val="300"/>
              </a:spcBef>
              <a:buClr>
                <a:srgbClr val="2563EB"/>
              </a:buClr>
              <a:buChar char="•"/>
            </a:pPr>
            <a:r>
              <a:rPr sz="950" b="0" i="0">
                <a:solidFill>
                  <a:srgbClr val="1E293B"/>
                </a:solidFill>
                <a:latin typeface="Segoe UI"/>
              </a:rPr>
              <a:t>Revisa y cambia estados</a:t>
            </a:r>
          </a:p>
          <a:p>
            <a:pPr marL="164592" indent="-164592" algn="l">
              <a:spcBef>
                <a:spcPts val="300"/>
              </a:spcBef>
              <a:buClr>
                <a:srgbClr val="2563EB"/>
              </a:buClr>
              <a:buChar char="•"/>
            </a:pPr>
            <a:r>
              <a:rPr sz="950" b="0" i="0">
                <a:solidFill>
                  <a:srgbClr val="1E293B"/>
                </a:solidFill>
                <a:latin typeface="Segoe UI"/>
              </a:rPr>
              <a:t>Importa reportes</a:t>
            </a:r>
          </a:p>
          <a:p>
            <a:pPr marL="164592" indent="-164592" algn="l">
              <a:spcBef>
                <a:spcPts val="300"/>
              </a:spcBef>
              <a:buClr>
                <a:srgbClr val="2563EB"/>
              </a:buClr>
              <a:buChar char="•"/>
            </a:pPr>
            <a:r>
              <a:rPr sz="950" b="0" i="0">
                <a:solidFill>
                  <a:srgbClr val="1E293B"/>
                </a:solidFill>
                <a:latin typeface="Segoe UI"/>
              </a:rPr>
              <a:t>Envía correos</a:t>
            </a:r>
          </a:p>
          <a:p>
            <a:pPr marL="164592" indent="-164592" algn="l">
              <a:spcBef>
                <a:spcPts val="300"/>
              </a:spcBef>
              <a:buClr>
                <a:srgbClr val="2563EB"/>
              </a:buClr>
              <a:buChar char="•"/>
            </a:pPr>
            <a:r>
              <a:rPr sz="950" b="0" i="0">
                <a:solidFill>
                  <a:srgbClr val="1E293B"/>
                </a:solidFill>
                <a:latin typeface="Segoe UI"/>
              </a:rPr>
              <a:t>Revisa el historial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468880" y="1508760"/>
            <a:ext cx="5669280" cy="51206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9050">
            <a:solidFill>
              <a:srgbClr val="0030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5" name="Rounded Rectangle 14"/>
          <p:cNvSpPr/>
          <p:nvPr/>
        </p:nvSpPr>
        <p:spPr>
          <a:xfrm>
            <a:off x="2468880" y="1508760"/>
            <a:ext cx="5669280" cy="411480"/>
          </a:xfrm>
          <a:prstGeom prst="roundRect">
            <a:avLst>
              <a:gd name="adj" fmla="val 20000"/>
            </a:avLst>
          </a:prstGeom>
          <a:solidFill>
            <a:srgbClr val="003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73152" rtlCol="0" anchor="ctr"/>
          <a:lstStyle/>
          <a:p>
            <a:pPr algn="ctr"/>
            <a:r>
              <a:rPr sz="1150" b="1" i="0">
                <a:solidFill>
                  <a:srgbClr val="FFFFFF"/>
                </a:solidFill>
                <a:latin typeface="Segoe UI"/>
              </a:rPr>
              <a:t>EMPRESA SISTEMA DE GESTIÓN · aplicación de escritorio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1984248"/>
            <a:ext cx="5394960" cy="274320"/>
          </a:xfrm>
          <a:prstGeom prst="rect">
            <a:avLst/>
          </a:prstGeom>
          <a:noFill/>
        </p:spPr>
        <p:txBody>
          <a:bodyPr wrap="square" lIns="73152" tIns="0" rIns="73152" anchor="t">
            <a:spAutoFit/>
          </a:bodyPr>
          <a:lstStyle/>
          <a:p>
            <a:pPr algn="l"/>
            <a:r>
              <a:rPr sz="1050" b="1" i="0">
                <a:solidFill>
                  <a:srgbClr val="1C6BBA"/>
                </a:solidFill>
                <a:latin typeface="Segoe UI"/>
              </a:rPr>
              <a:t>Pantallas del menú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06040" y="2258568"/>
            <a:ext cx="1719072" cy="932688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12700">
            <a:solidFill>
              <a:srgbClr val="1C6B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54864" rIns="54864" rtlCol="0" anchor="t"/>
          <a:lstStyle/>
          <a:p>
            <a:pPr algn="l"/>
            <a:r>
              <a:rPr sz="1050" b="1" i="0">
                <a:solidFill>
                  <a:srgbClr val="003057"/>
                </a:solidFill>
                <a:latin typeface="Segoe UI"/>
              </a:rPr>
              <a:t>Inicio</a:t>
            </a:r>
          </a:p>
          <a:p>
            <a:pPr algn="l">
              <a:spcBef>
                <a:spcPts val="200"/>
              </a:spcBef>
            </a:pPr>
            <a:r>
              <a:rPr sz="850" b="0" i="0">
                <a:solidFill>
                  <a:srgbClr val="1E293B"/>
                </a:solidFill>
                <a:latin typeface="Segoe UI"/>
              </a:rPr>
              <a:t>Página web del dashboard (Conectividad + Academia)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16552" y="2258568"/>
            <a:ext cx="1719072" cy="932688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12700">
            <a:solidFill>
              <a:srgbClr val="1C6B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54864" rIns="54864" rtlCol="0" anchor="t"/>
          <a:lstStyle/>
          <a:p>
            <a:pPr algn="l"/>
            <a:r>
              <a:rPr sz="1050" b="1" i="0">
                <a:solidFill>
                  <a:srgbClr val="003057"/>
                </a:solidFill>
                <a:latin typeface="Segoe UI"/>
              </a:rPr>
              <a:t>Clientes y Flota</a:t>
            </a:r>
          </a:p>
          <a:p>
            <a:pPr algn="l">
              <a:spcBef>
                <a:spcPts val="200"/>
              </a:spcBef>
            </a:pPr>
            <a:r>
              <a:rPr sz="850" b="0" i="0">
                <a:solidFill>
                  <a:srgbClr val="1E293B"/>
                </a:solidFill>
                <a:latin typeface="Segoe UI"/>
              </a:rPr>
              <a:t>Directorio de clientes, flotas y camiones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27064" y="2258568"/>
            <a:ext cx="1719072" cy="932688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9050">
            <a:solidFill>
              <a:srgbClr val="0030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54864" rIns="54864" rtlCol="0" anchor="t"/>
          <a:lstStyle/>
          <a:p>
            <a:pPr algn="l"/>
            <a:r>
              <a:rPr sz="1050" b="1" i="0">
                <a:solidFill>
                  <a:srgbClr val="003057"/>
                </a:solidFill>
                <a:latin typeface="Segoe UI"/>
              </a:rPr>
              <a:t>Comercial</a:t>
            </a:r>
          </a:p>
          <a:p>
            <a:pPr algn="l">
              <a:spcBef>
                <a:spcPts val="200"/>
              </a:spcBef>
            </a:pPr>
            <a:r>
              <a:rPr sz="850" b="0" i="0">
                <a:solidFill>
                  <a:srgbClr val="1E293B"/>
                </a:solidFill>
                <a:latin typeface="Segoe UI"/>
              </a:rPr>
              <a:t>Una fila por camión: cliente, plan, estado y contrato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2606040" y="3282696"/>
            <a:ext cx="1719072" cy="932688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12700">
            <a:solidFill>
              <a:srgbClr val="1C6B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54864" rIns="54864" rtlCol="0" anchor="t"/>
          <a:lstStyle/>
          <a:p>
            <a:pPr algn="l"/>
            <a:r>
              <a:rPr sz="1050" b="1" i="0">
                <a:solidFill>
                  <a:srgbClr val="003057"/>
                </a:solidFill>
                <a:latin typeface="Segoe UI"/>
              </a:rPr>
              <a:t>Operaciones</a:t>
            </a:r>
          </a:p>
          <a:p>
            <a:pPr algn="l">
              <a:spcBef>
                <a:spcPts val="200"/>
              </a:spcBef>
            </a:pPr>
            <a:r>
              <a:rPr sz="850" b="0" i="0">
                <a:solidFill>
                  <a:srgbClr val="1E293B"/>
                </a:solidFill>
                <a:latin typeface="Segoe UI"/>
              </a:rPr>
              <a:t>Activaciones, bajas y camiones sin flota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16552" y="3282696"/>
            <a:ext cx="1719072" cy="932688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12700">
            <a:solidFill>
              <a:srgbClr val="1C6B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54864" rIns="54864" rtlCol="0" anchor="t"/>
          <a:lstStyle/>
          <a:p>
            <a:pPr algn="l"/>
            <a:r>
              <a:rPr sz="1050" b="1" i="0">
                <a:solidFill>
                  <a:srgbClr val="003057"/>
                </a:solidFill>
                <a:latin typeface="Segoe UI"/>
              </a:rPr>
              <a:t>Ingresos y Conciliación</a:t>
            </a:r>
          </a:p>
          <a:p>
            <a:pPr algn="l">
              <a:spcBef>
                <a:spcPts val="200"/>
              </a:spcBef>
            </a:pPr>
            <a:r>
              <a:rPr sz="850" b="0" i="0">
                <a:solidFill>
                  <a:srgbClr val="1E293B"/>
                </a:solidFill>
                <a:latin typeface="Segoe UI"/>
              </a:rPr>
              <a:t>Provisiones, Contratos CM, Facturación Manual, JustTime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27064" y="3282696"/>
            <a:ext cx="1719072" cy="932688"/>
          </a:xfrm>
          <a:prstGeom prst="roundRect">
            <a:avLst>
              <a:gd name="adj" fmla="val 8000"/>
            </a:avLst>
          </a:prstGeom>
          <a:solidFill>
            <a:srgbClr val="EEF4FB"/>
          </a:solidFill>
          <a:ln w="12700">
            <a:solidFill>
              <a:srgbClr val="1C6B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54864" rIns="54864" rtlCol="0" anchor="t"/>
          <a:lstStyle/>
          <a:p>
            <a:pPr algn="l"/>
            <a:r>
              <a:rPr sz="1050" b="1" i="0">
                <a:solidFill>
                  <a:srgbClr val="003057"/>
                </a:solidFill>
                <a:latin typeface="Segoe UI"/>
              </a:rPr>
              <a:t>Administración</a:t>
            </a:r>
          </a:p>
          <a:p>
            <a:pPr algn="l">
              <a:spcBef>
                <a:spcPts val="200"/>
              </a:spcBef>
            </a:pPr>
            <a:r>
              <a:rPr sz="850" b="0" i="0">
                <a:solidFill>
                  <a:srgbClr val="1E293B"/>
                </a:solidFill>
                <a:latin typeface="Segoe UI"/>
              </a:rPr>
              <a:t>Historial, Instalaciones y Contactos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06040" y="4343400"/>
            <a:ext cx="5394960" cy="274320"/>
          </a:xfrm>
          <a:prstGeom prst="rect">
            <a:avLst/>
          </a:prstGeom>
          <a:noFill/>
        </p:spPr>
        <p:txBody>
          <a:bodyPr wrap="square" lIns="73152" tIns="0" rIns="73152" anchor="t">
            <a:spAutoFit/>
          </a:bodyPr>
          <a:lstStyle/>
          <a:p>
            <a:pPr algn="l"/>
            <a:r>
              <a:rPr sz="1050" b="1" i="0">
                <a:solidFill>
                  <a:srgbClr val="1C6BBA"/>
                </a:solidFill>
                <a:latin typeface="Segoe UI"/>
              </a:rPr>
              <a:t>Lo que hace por dentro (automático)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606040" y="4617720"/>
            <a:ext cx="1719072" cy="896112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54864" rIns="54864" rtlCol="0" anchor="t"/>
          <a:lstStyle/>
          <a:p>
            <a:pPr algn="l"/>
            <a:r>
              <a:rPr sz="1000" b="1" i="0">
                <a:solidFill>
                  <a:srgbClr val="1E293B"/>
                </a:solidFill>
                <a:latin typeface="Segoe UI"/>
              </a:rPr>
              <a:t>Carga en segundo plano</a:t>
            </a:r>
          </a:p>
          <a:p>
            <a:pPr algn="l">
              <a:spcBef>
                <a:spcPts val="200"/>
              </a:spcBef>
            </a:pPr>
            <a:r>
              <a:rPr sz="850" b="0" i="0">
                <a:solidFill>
                  <a:srgbClr val="64748B"/>
                </a:solidFill>
                <a:latin typeface="Segoe UI"/>
              </a:rPr>
              <a:t>Lee los archivos sin congelar la pantalla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416552" y="4617720"/>
            <a:ext cx="1719072" cy="896112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54864" rIns="54864" rtlCol="0" anchor="t"/>
          <a:lstStyle/>
          <a:p>
            <a:pPr algn="l"/>
            <a:r>
              <a:rPr sz="1000" b="1" i="0">
                <a:solidFill>
                  <a:srgbClr val="1E293B"/>
                </a:solidFill>
                <a:latin typeface="Segoe UI"/>
              </a:rPr>
              <a:t>Trabaja en memoria</a:t>
            </a:r>
          </a:p>
          <a:p>
            <a:pPr algn="l">
              <a:spcBef>
                <a:spcPts val="200"/>
              </a:spcBef>
            </a:pPr>
            <a:r>
              <a:rPr sz="850" b="0" i="0">
                <a:solidFill>
                  <a:srgbClr val="64748B"/>
                </a:solidFill>
                <a:latin typeface="Segoe UI"/>
              </a:rPr>
              <a:t>Búsquedas y filtros instantáneos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27064" y="4617720"/>
            <a:ext cx="1719072" cy="896112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54864" rIns="54864" rtlCol="0" anchor="t"/>
          <a:lstStyle/>
          <a:p>
            <a:pPr algn="l"/>
            <a:r>
              <a:rPr sz="1000" b="1" i="0">
                <a:solidFill>
                  <a:srgbClr val="1E293B"/>
                </a:solidFill>
                <a:latin typeface="Segoe UI"/>
              </a:rPr>
              <a:t>Vigilante de cambios</a:t>
            </a:r>
          </a:p>
          <a:p>
            <a:pPr algn="l">
              <a:spcBef>
                <a:spcPts val="200"/>
              </a:spcBef>
            </a:pPr>
            <a:r>
              <a:rPr sz="850" b="0" i="0">
                <a:solidFill>
                  <a:srgbClr val="64748B"/>
                </a:solidFill>
                <a:latin typeface="Segoe UI"/>
              </a:rPr>
              <a:t>Avisa si otra persona modifica un archivo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606040" y="5605272"/>
            <a:ext cx="1719072" cy="896112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54864" rIns="54864" rtlCol="0" anchor="t"/>
          <a:lstStyle/>
          <a:p>
            <a:pPr algn="l"/>
            <a:r>
              <a:rPr sz="1000" b="1" i="0">
                <a:solidFill>
                  <a:srgbClr val="1E293B"/>
                </a:solidFill>
                <a:latin typeface="Segoe UI"/>
              </a:rPr>
              <a:t>Guardado seguro</a:t>
            </a:r>
          </a:p>
          <a:p>
            <a:pPr algn="l">
              <a:spcBef>
                <a:spcPts val="200"/>
              </a:spcBef>
            </a:pPr>
            <a:r>
              <a:rPr sz="850" b="0" i="0">
                <a:solidFill>
                  <a:srgbClr val="64748B"/>
                </a:solidFill>
                <a:latin typeface="Segoe UI"/>
              </a:rPr>
              <a:t>Respaldo previo y copia temporal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416552" y="5605272"/>
            <a:ext cx="1719072" cy="896112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54864" rIns="54864" rtlCol="0" anchor="t"/>
          <a:lstStyle/>
          <a:p>
            <a:pPr algn="l"/>
            <a:r>
              <a:rPr sz="1000" b="1" i="0">
                <a:solidFill>
                  <a:srgbClr val="1E293B"/>
                </a:solidFill>
                <a:latin typeface="Segoe UI"/>
              </a:rPr>
              <a:t>Todo queda anotado</a:t>
            </a:r>
          </a:p>
          <a:p>
            <a:pPr algn="l">
              <a:spcBef>
                <a:spcPts val="200"/>
              </a:spcBef>
            </a:pPr>
            <a:r>
              <a:rPr sz="850" b="0" i="0">
                <a:solidFill>
                  <a:srgbClr val="64748B"/>
                </a:solidFill>
                <a:latin typeface="Segoe UI"/>
              </a:rPr>
              <a:t>Historial de cada cambio guardado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27064" y="5605272"/>
            <a:ext cx="1719072" cy="896112"/>
          </a:xfrm>
          <a:prstGeom prst="roundRect">
            <a:avLst>
              <a:gd name="adj" fmla="val 8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tIns="54864" rIns="54864" rtlCol="0" anchor="t"/>
          <a:lstStyle/>
          <a:p>
            <a:pPr algn="l"/>
            <a:r>
              <a:rPr sz="1000" b="1" i="0">
                <a:solidFill>
                  <a:srgbClr val="1E293B"/>
                </a:solidFill>
                <a:latin typeface="Segoe UI"/>
              </a:rPr>
              <a:t>Archivo en uso</a:t>
            </a:r>
          </a:p>
          <a:p>
            <a:pPr algn="l">
              <a:spcBef>
                <a:spcPts val="200"/>
              </a:spcBef>
            </a:pPr>
            <a:r>
              <a:rPr sz="850" b="0" i="0">
                <a:solidFill>
                  <a:srgbClr val="64748B"/>
                </a:solidFill>
                <a:latin typeface="Segoe UI"/>
              </a:rPr>
              <a:t>Se pausa y avisa hasta que se libere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458200" y="1508760"/>
            <a:ext cx="3474720" cy="2697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458200" y="1508760"/>
            <a:ext cx="3474720" cy="411480"/>
          </a:xfrm>
          <a:prstGeom prst="roundRect">
            <a:avLst>
              <a:gd name="adj" fmla="val 25000"/>
            </a:avLst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73152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SERVICIOS EXTERNOS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49640" y="1965960"/>
            <a:ext cx="3337560" cy="438912"/>
          </a:xfrm>
          <a:prstGeom prst="rect">
            <a:avLst/>
          </a:prstGeom>
          <a:noFill/>
        </p:spPr>
        <p:txBody>
          <a:bodyPr wrap="square" lIns="73152" tIns="54864" rIns="73152" anchor="ctr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  <a:latin typeface="Segoe UI"/>
              </a:rPr>
              <a:t>Página web del dashboard</a:t>
            </a:r>
            <a:r>
              <a:rPr sz="900" b="0" i="0">
                <a:solidFill>
                  <a:srgbClr val="64748B"/>
                </a:solidFill>
                <a:latin typeface="Segoe UI"/>
              </a:rPr>
              <a:t>  ·  desarrollada por otro practicante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641080" y="2404872"/>
            <a:ext cx="3108960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8549640" y="2404872"/>
            <a:ext cx="3337560" cy="438912"/>
          </a:xfrm>
          <a:prstGeom prst="rect">
            <a:avLst/>
          </a:prstGeom>
          <a:noFill/>
        </p:spPr>
        <p:txBody>
          <a:bodyPr wrap="square" lIns="73152" tIns="54864" rIns="73152" anchor="ctr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  <a:latin typeface="Segoe UI"/>
              </a:rPr>
              <a:t>SharePoint</a:t>
            </a:r>
            <a:r>
              <a:rPr sz="900" b="0" i="0">
                <a:solidFill>
                  <a:srgbClr val="64748B"/>
                </a:solidFill>
                <a:latin typeface="Segoe UI"/>
              </a:rPr>
              <a:t>  ·  descarga de provisiones nuevas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8641080" y="2843784"/>
            <a:ext cx="3108960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8549640" y="2843784"/>
            <a:ext cx="3337560" cy="438912"/>
          </a:xfrm>
          <a:prstGeom prst="rect">
            <a:avLst/>
          </a:prstGeom>
          <a:noFill/>
        </p:spPr>
        <p:txBody>
          <a:bodyPr wrap="square" lIns="73152" tIns="54864" rIns="73152" anchor="ctr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  <a:latin typeface="Segoe UI"/>
              </a:rPr>
              <a:t>Power BI</a:t>
            </a:r>
            <a:r>
              <a:rPr sz="900" b="0" i="0">
                <a:solidFill>
                  <a:srgbClr val="64748B"/>
                </a:solidFill>
                <a:latin typeface="Segoe UI"/>
              </a:rPr>
              <a:t>  ·  notas de venta y base de clientes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8641080" y="3282696"/>
            <a:ext cx="3108960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8549640" y="3282696"/>
            <a:ext cx="3337560" cy="438912"/>
          </a:xfrm>
          <a:prstGeom prst="rect">
            <a:avLst/>
          </a:prstGeom>
          <a:noFill/>
        </p:spPr>
        <p:txBody>
          <a:bodyPr wrap="square" lIns="73152" tIns="54864" rIns="73152" anchor="ctr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  <a:latin typeface="Segoe UI"/>
              </a:rPr>
              <a:t>Outlook</a:t>
            </a:r>
            <a:r>
              <a:rPr sz="900" b="0" i="0">
                <a:solidFill>
                  <a:srgbClr val="64748B"/>
                </a:solidFill>
                <a:latin typeface="Segoe UI"/>
              </a:rPr>
              <a:t>  ·  envío de correos a clientes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8641080" y="3721608"/>
            <a:ext cx="3108960" cy="0"/>
          </a:xfrm>
          <a:prstGeom prst="line">
            <a:avLst/>
          </a:prstGeom>
          <a:ln w="9525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8549640" y="3721608"/>
            <a:ext cx="3337560" cy="438912"/>
          </a:xfrm>
          <a:prstGeom prst="rect">
            <a:avLst/>
          </a:prstGeom>
          <a:noFill/>
        </p:spPr>
        <p:txBody>
          <a:bodyPr wrap="square" lIns="73152" tIns="54864" rIns="73152" anchor="ctr">
            <a:spAutoFit/>
          </a:bodyPr>
          <a:lstStyle/>
          <a:p>
            <a:pPr algn="l"/>
            <a:r>
              <a:rPr sz="1000" b="1" i="0">
                <a:solidFill>
                  <a:srgbClr val="1E293B"/>
                </a:solidFill>
                <a:latin typeface="Segoe UI"/>
              </a:rPr>
              <a:t>Reportes externos</a:t>
            </a:r>
            <a:r>
              <a:rPr sz="900" b="0" i="0">
                <a:solidFill>
                  <a:srgbClr val="64748B"/>
                </a:solidFill>
                <a:latin typeface="Segoe UI"/>
              </a:rPr>
              <a:t>  ·  RM comercial y contratos 3PC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458200" y="4389120"/>
            <a:ext cx="3474720" cy="22402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0030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42" name="Rounded Rectangle 41"/>
          <p:cNvSpPr/>
          <p:nvPr/>
        </p:nvSpPr>
        <p:spPr>
          <a:xfrm>
            <a:off x="8458200" y="4389120"/>
            <a:ext cx="3474720" cy="411480"/>
          </a:xfrm>
          <a:prstGeom prst="roundRect">
            <a:avLst>
              <a:gd name="adj" fmla="val 25000"/>
            </a:avLst>
          </a:prstGeom>
          <a:solidFill>
            <a:srgbClr val="003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73152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DÓNDE ESTÁN LOS DATOS</a:t>
            </a:r>
          </a:p>
        </p:txBody>
      </p:sp>
      <p:sp>
        <p:nvSpPr>
          <p:cNvPr id="43" name="Can 42"/>
          <p:cNvSpPr/>
          <p:nvPr/>
        </p:nvSpPr>
        <p:spPr>
          <a:xfrm>
            <a:off x="8595360" y="4892040"/>
            <a:ext cx="914400" cy="1097280"/>
          </a:xfrm>
          <a:prstGeom prst="can">
            <a:avLst/>
          </a:prstGeom>
          <a:solidFill>
            <a:srgbClr val="DBEAFE"/>
          </a:solidFill>
          <a:ln>
            <a:solidFill>
              <a:srgbClr val="0030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555480" y="4864608"/>
            <a:ext cx="2331720" cy="1737360"/>
          </a:xfrm>
          <a:prstGeom prst="rect">
            <a:avLst/>
          </a:prstGeom>
          <a:noFill/>
        </p:spPr>
        <p:txBody>
          <a:bodyPr wrap="square" lIns="73152" tIns="18288" rIns="73152" anchor="t">
            <a:spAutoFit/>
          </a:bodyPr>
          <a:lstStyle/>
          <a:p>
            <a:pPr algn="l"/>
            <a:r>
              <a:rPr sz="1050" b="1" i="0">
                <a:solidFill>
                  <a:srgbClr val="003057"/>
                </a:solidFill>
                <a:latin typeface="Segoe UI"/>
              </a:rPr>
              <a:t>Carpeta compartida</a:t>
            </a:r>
          </a:p>
          <a:p>
            <a:pPr algn="l"/>
            <a:r>
              <a:rPr sz="900" b="0" i="0">
                <a:solidFill>
                  <a:srgbClr val="64748B"/>
                </a:solidFill>
                <a:latin typeface="Segoe UI"/>
              </a:rPr>
              <a:t>SharePoint / OneDrive</a:t>
            </a:r>
          </a:p>
          <a:p>
            <a:pPr marL="164592" indent="-164592" algn="l">
              <a:spcBef>
                <a:spcPts val="300"/>
              </a:spcBef>
              <a:buClr>
                <a:srgbClr val="2563EB"/>
              </a:buClr>
              <a:buChar char="•"/>
            </a:pPr>
            <a:r>
              <a:rPr sz="900" b="0" i="0">
                <a:solidFill>
                  <a:srgbClr val="1E293B"/>
                </a:solidFill>
                <a:latin typeface="Segoe UI"/>
              </a:rPr>
              <a:t>Base central de camiones</a:t>
            </a:r>
          </a:p>
          <a:p>
            <a:pPr marL="164592" indent="-164592" algn="l">
              <a:buClr>
                <a:srgbClr val="2563EB"/>
              </a:buClr>
              <a:buChar char="•"/>
            </a:pPr>
            <a:r>
              <a:rPr sz="900" b="0" i="0">
                <a:solidFill>
                  <a:srgbClr val="1E293B"/>
                </a:solidFill>
                <a:latin typeface="Segoe UI"/>
              </a:rPr>
              <a:t>Provisiones</a:t>
            </a:r>
          </a:p>
          <a:p>
            <a:pPr marL="164592" indent="-164592" algn="l">
              <a:buClr>
                <a:srgbClr val="2563EB"/>
              </a:buClr>
              <a:buChar char="•"/>
            </a:pPr>
            <a:r>
              <a:rPr sz="900" b="0" i="0">
                <a:solidFill>
                  <a:srgbClr val="1E293B"/>
                </a:solidFill>
                <a:latin typeface="Segoe UI"/>
              </a:rPr>
              <a:t>Contactos y correos</a:t>
            </a:r>
          </a:p>
          <a:p>
            <a:pPr marL="164592" indent="-164592" algn="l">
              <a:buClr>
                <a:srgbClr val="2563EB"/>
              </a:buClr>
              <a:buChar char="•"/>
            </a:pPr>
            <a:r>
              <a:rPr sz="900" b="0" i="0">
                <a:solidFill>
                  <a:srgbClr val="1E293B"/>
                </a:solidFill>
                <a:latin typeface="Segoe UI"/>
              </a:rPr>
              <a:t>Instalaciones e historial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49640" y="6053328"/>
            <a:ext cx="3337560" cy="502920"/>
          </a:xfrm>
          <a:prstGeom prst="rect">
            <a:avLst/>
          </a:prstGeom>
          <a:noFill/>
        </p:spPr>
        <p:txBody>
          <a:bodyPr wrap="square" lIns="73152" tIns="0" rIns="73152" anchor="t">
            <a:spAutoFit/>
          </a:bodyPr>
          <a:lstStyle/>
          <a:p>
            <a:pPr algn="l"/>
            <a:r>
              <a:rPr sz="900" b="1" i="0">
                <a:solidFill>
                  <a:srgbClr val="003057"/>
                </a:solidFill>
                <a:latin typeface="Segoe UI"/>
              </a:rPr>
              <a:t>Respaldos automáticos </a:t>
            </a:r>
            <a:r>
              <a:rPr sz="900" b="0" i="0">
                <a:solidFill>
                  <a:srgbClr val="64748B"/>
                </a:solidFill>
                <a:latin typeface="Segoe UI"/>
              </a:rPr>
              <a:t>antes de cada guardado; se restauran desde Configuración.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2157984" y="2743200"/>
            <a:ext cx="301752" cy="0"/>
          </a:xfrm>
          <a:prstGeom prst="line">
            <a:avLst/>
          </a:prstGeom>
          <a:ln w="25400">
            <a:solidFill>
              <a:srgbClr val="003057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8147304" y="2834640"/>
            <a:ext cx="301752" cy="0"/>
          </a:xfrm>
          <a:prstGeom prst="line">
            <a:avLst/>
          </a:prstGeom>
          <a:ln w="25400">
            <a:solidFill>
              <a:srgbClr val="475569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8" name="Connector 47"/>
          <p:cNvCxnSpPr/>
          <p:nvPr/>
        </p:nvCxnSpPr>
        <p:spPr>
          <a:xfrm>
            <a:off x="8147304" y="5486400"/>
            <a:ext cx="301752" cy="0"/>
          </a:xfrm>
          <a:prstGeom prst="line">
            <a:avLst/>
          </a:prstGeom>
          <a:ln w="25400">
            <a:solidFill>
              <a:srgbClr val="003057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" y="347472"/>
            <a:ext cx="5486400" cy="384048"/>
          </a:xfrm>
          <a:prstGeom prst="rect">
            <a:avLst/>
          </a:prstGeom>
          <a:noFill/>
        </p:spPr>
        <p:txBody>
          <a:bodyPr wrap="square" rIns="73152" anchor="t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  <a:latin typeface="Segoe UI"/>
              </a:rPr>
              <a:t>Empresa Demo Sistema de Gestión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758952"/>
            <a:ext cx="4087368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splas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7" y="246888"/>
            <a:ext cx="713232" cy="713232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8705088" y="274320"/>
            <a:ext cx="0" cy="658368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9096" y="210312"/>
            <a:ext cx="3145536" cy="7863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0" y="896112"/>
            <a:ext cx="12191695" cy="5029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600" b="1" i="0">
                <a:solidFill>
                  <a:srgbClr val="003057"/>
                </a:solidFill>
                <a:latin typeface="Segoe UI"/>
              </a:rPr>
              <a:t>Modelo de datos · Cómo llegaban los datos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463040"/>
            <a:ext cx="8138160" cy="292608"/>
          </a:xfrm>
          <a:prstGeom prst="rect">
            <a:avLst/>
          </a:prstGeom>
          <a:noFill/>
        </p:spPr>
        <p:txBody>
          <a:bodyPr wrap="square" lIns="73152" tIns="0" rIns="73152" anchor="t">
            <a:spAutoFit/>
          </a:bodyPr>
          <a:lstStyle/>
          <a:p>
            <a:pPr algn="l"/>
            <a:r>
              <a:rPr sz="1100" b="1" i="0">
                <a:solidFill>
                  <a:srgbClr val="003057"/>
                </a:solidFill>
                <a:latin typeface="Segoe UI"/>
              </a:rPr>
              <a:t>BASES PRINCIPALES</a:t>
            </a:r>
            <a:r>
              <a:rPr sz="1000" b="0" i="0">
                <a:solidFill>
                  <a:srgbClr val="64748B"/>
                </a:solidFill>
                <a:latin typeface="Segoe UI"/>
              </a:rPr>
              <a:t>  ·  se usan todos los días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74320" y="1783080"/>
            <a:ext cx="1947672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74320" y="1783080"/>
            <a:ext cx="1947672" cy="566928"/>
          </a:xfrm>
          <a:prstGeom prst="roundRect">
            <a:avLst>
              <a:gd name="adj" fmla="val 20000"/>
            </a:avLst>
          </a:prstGeom>
          <a:solidFill>
            <a:srgbClr val="003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73152" rtlCol="0" anchor="ctr"/>
          <a:lstStyle/>
          <a:p>
            <a:pPr algn="l"/>
            <a:r>
              <a:rPr sz="1150" b="1" i="0">
                <a:solidFill>
                  <a:srgbClr val="FFFFFF"/>
                </a:solidFill>
                <a:latin typeface="Segoe UI"/>
              </a:rPr>
              <a:t>RM comercial</a:t>
            </a:r>
          </a:p>
          <a:p>
            <a:pPr algn="l"/>
            <a:r>
              <a:rPr sz="850" b="0" i="0">
                <a:solidFill>
                  <a:srgbClr val="DCE6F2"/>
                </a:solidFill>
                <a:latin typeface="Segoe UI"/>
              </a:rPr>
              <a:t>la contraparte comercial · 1 fila por camión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386584"/>
            <a:ext cx="1947672" cy="960120"/>
          </a:xfrm>
          <a:prstGeom prst="rect">
            <a:avLst/>
          </a:prstGeom>
          <a:noFill/>
        </p:spPr>
        <p:txBody>
          <a:bodyPr wrap="square" lIns="109728" anchor="t">
            <a:spAutoFit/>
          </a:bodyPr>
          <a:lstStyle/>
          <a:p>
            <a:pPr algn="l"/>
            <a:r>
              <a:rPr sz="950" b="1" i="0">
                <a:solidFill>
                  <a:srgbClr val="003057"/>
                </a:solidFill>
                <a:latin typeface="Segoe UI"/>
              </a:rPr>
              <a:t>Trae: </a:t>
            </a:r>
            <a:r>
              <a:rPr sz="950" b="0" i="0">
                <a:solidFill>
                  <a:srgbClr val="1E293B"/>
                </a:solidFill>
                <a:latin typeface="Segoe UI"/>
              </a:rPr>
              <a:t>VIN, chasis, cliente (razón social, RUT, CDB), contrato, estados y CM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" y="3291840"/>
            <a:ext cx="1801368" cy="475488"/>
          </a:xfrm>
          <a:prstGeom prst="roundRect">
            <a:avLst>
              <a:gd name="adj" fmla="val 15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54864" rtlCol="0" anchor="ctr"/>
          <a:lstStyle/>
          <a:p>
            <a:pPr algn="l"/>
            <a:r>
              <a:rPr sz="850" b="1" i="0">
                <a:solidFill>
                  <a:srgbClr val="9F1239"/>
                </a:solidFill>
                <a:latin typeface="Segoe UI"/>
              </a:rPr>
              <a:t>Problema: </a:t>
            </a:r>
            <a:r>
              <a:rPr sz="850" b="0" i="0">
                <a:solidFill>
                  <a:srgbClr val="475569"/>
                </a:solidFill>
                <a:latin typeface="Segoe UI"/>
              </a:rPr>
              <a:t>Columnas que cambian de nombre cada mes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331720" y="1783080"/>
            <a:ext cx="1947672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2331720" y="1783080"/>
            <a:ext cx="1947672" cy="566928"/>
          </a:xfrm>
          <a:prstGeom prst="roundRect">
            <a:avLst>
              <a:gd name="adj" fmla="val 20000"/>
            </a:avLst>
          </a:prstGeom>
          <a:solidFill>
            <a:srgbClr val="003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73152" rtlCol="0" anchor="ctr"/>
          <a:lstStyle/>
          <a:p>
            <a:pPr algn="l"/>
            <a:r>
              <a:rPr sz="1150" b="1" i="0">
                <a:solidFill>
                  <a:srgbClr val="FFFFFF"/>
                </a:solidFill>
                <a:latin typeface="Segoe UI"/>
              </a:rPr>
              <a:t>Provisiones</a:t>
            </a:r>
          </a:p>
          <a:p>
            <a:pPr algn="l"/>
            <a:r>
              <a:rPr sz="850" b="0" i="0">
                <a:solidFill>
                  <a:srgbClr val="DCE6F2"/>
                </a:solidFill>
                <a:latin typeface="Segoe UI"/>
              </a:rPr>
              <a:t>Felipe · 1 fila por camión por mes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31720" y="2386584"/>
            <a:ext cx="1947672" cy="960120"/>
          </a:xfrm>
          <a:prstGeom prst="rect">
            <a:avLst/>
          </a:prstGeom>
          <a:noFill/>
        </p:spPr>
        <p:txBody>
          <a:bodyPr wrap="square" lIns="109728" anchor="t">
            <a:spAutoFit/>
          </a:bodyPr>
          <a:lstStyle/>
          <a:p>
            <a:pPr algn="l"/>
            <a:r>
              <a:rPr sz="950" b="1" i="0">
                <a:solidFill>
                  <a:srgbClr val="003057"/>
                </a:solidFill>
                <a:latin typeface="Segoe UI"/>
              </a:rPr>
              <a:t>Trae: </a:t>
            </a:r>
            <a:r>
              <a:rPr sz="950" b="0" i="0">
                <a:solidFill>
                  <a:srgbClr val="1E293B"/>
                </a:solidFill>
                <a:latin typeface="Segoe UI"/>
              </a:rPr>
              <a:t>Año-mes, VIN, cliente, plan, meses y monto cobrado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04872" y="3291840"/>
            <a:ext cx="1801368" cy="475488"/>
          </a:xfrm>
          <a:prstGeom prst="roundRect">
            <a:avLst>
              <a:gd name="adj" fmla="val 15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54864" rtlCol="0" anchor="ctr"/>
          <a:lstStyle/>
          <a:p>
            <a:pPr algn="l"/>
            <a:r>
              <a:rPr sz="850" b="1" i="0">
                <a:solidFill>
                  <a:srgbClr val="9F1239"/>
                </a:solidFill>
                <a:latin typeface="Segoe UI"/>
              </a:rPr>
              <a:t>Problema: </a:t>
            </a:r>
            <a:r>
              <a:rPr sz="850" b="0" i="0">
                <a:solidFill>
                  <a:srgbClr val="475569"/>
                </a:solidFill>
                <a:latin typeface="Segoe UI"/>
              </a:rPr>
              <a:t>El cliente es un nombre escrito a mano, sin RUT ni CDB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1783080"/>
            <a:ext cx="1947672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4389120" y="1783080"/>
            <a:ext cx="1947672" cy="566928"/>
          </a:xfrm>
          <a:prstGeom prst="roundRect">
            <a:avLst>
              <a:gd name="adj" fmla="val 20000"/>
            </a:avLst>
          </a:prstGeom>
          <a:solidFill>
            <a:srgbClr val="003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73152" rtlCol="0" anchor="ctr"/>
          <a:lstStyle/>
          <a:p>
            <a:pPr algn="l"/>
            <a:r>
              <a:rPr sz="1150" b="1" i="0">
                <a:solidFill>
                  <a:srgbClr val="FFFFFF"/>
                </a:solidFill>
                <a:latin typeface="Segoe UI"/>
              </a:rPr>
              <a:t>Contactos</a:t>
            </a:r>
          </a:p>
          <a:p>
            <a:pPr algn="l"/>
            <a:r>
              <a:rPr sz="850" b="0" i="0">
                <a:solidFill>
                  <a:srgbClr val="DCE6F2"/>
                </a:solidFill>
                <a:latin typeface="Segoe UI"/>
              </a:rPr>
              <a:t>equipo Contactos · varios por empresa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386584"/>
            <a:ext cx="1947672" cy="960120"/>
          </a:xfrm>
          <a:prstGeom prst="rect">
            <a:avLst/>
          </a:prstGeom>
          <a:noFill/>
        </p:spPr>
        <p:txBody>
          <a:bodyPr wrap="square" lIns="109728" anchor="t">
            <a:spAutoFit/>
          </a:bodyPr>
          <a:lstStyle/>
          <a:p>
            <a:pPr algn="l"/>
            <a:r>
              <a:rPr sz="950" b="1" i="0">
                <a:solidFill>
                  <a:srgbClr val="003057"/>
                </a:solidFill>
                <a:latin typeface="Segoe UI"/>
              </a:rPr>
              <a:t>Trae: </a:t>
            </a:r>
            <a:r>
              <a:rPr sz="950" b="0" i="0">
                <a:solidFill>
                  <a:srgbClr val="1E293B"/>
                </a:solidFill>
                <a:latin typeface="Segoe UI"/>
              </a:rPr>
              <a:t>CDB, flota, nombre, correo, móvil y rol del administrador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462272" y="3291840"/>
            <a:ext cx="1801368" cy="475488"/>
          </a:xfrm>
          <a:prstGeom prst="roundRect">
            <a:avLst>
              <a:gd name="adj" fmla="val 15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54864" rtlCol="0" anchor="ctr"/>
          <a:lstStyle/>
          <a:p>
            <a:pPr algn="l"/>
            <a:r>
              <a:rPr sz="850" b="1" i="0">
                <a:solidFill>
                  <a:srgbClr val="9F1239"/>
                </a:solidFill>
                <a:latin typeface="Segoe UI"/>
              </a:rPr>
              <a:t>Problema: </a:t>
            </a:r>
            <a:r>
              <a:rPr sz="850" b="0" i="0">
                <a:solidFill>
                  <a:srgbClr val="475569"/>
                </a:solidFill>
                <a:latin typeface="Segoe UI"/>
              </a:rPr>
              <a:t>El CDB llega como número (10001.0)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46520" y="1783080"/>
            <a:ext cx="1947672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6446520" y="1783080"/>
            <a:ext cx="1947672" cy="566928"/>
          </a:xfrm>
          <a:prstGeom prst="roundRect">
            <a:avLst>
              <a:gd name="adj" fmla="val 20000"/>
            </a:avLst>
          </a:prstGeom>
          <a:solidFill>
            <a:srgbClr val="003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73152" rtlCol="0" anchor="ctr"/>
          <a:lstStyle/>
          <a:p>
            <a:pPr algn="l"/>
            <a:r>
              <a:rPr sz="1150" b="1" i="0">
                <a:solidFill>
                  <a:srgbClr val="FFFFFF"/>
                </a:solidFill>
                <a:latin typeface="Segoe UI"/>
              </a:rPr>
              <a:t>Base de clientes</a:t>
            </a:r>
          </a:p>
          <a:p>
            <a:pPr algn="l"/>
            <a:r>
              <a:rPr sz="850" b="0" i="0">
                <a:solidFill>
                  <a:srgbClr val="DCE6F2"/>
                </a:solidFill>
                <a:latin typeface="Segoe UI"/>
              </a:rPr>
              <a:t>equipo Power BI · Power BI · ~53.000 filas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46520" y="2386584"/>
            <a:ext cx="1947672" cy="960120"/>
          </a:xfrm>
          <a:prstGeom prst="rect">
            <a:avLst/>
          </a:prstGeom>
          <a:noFill/>
        </p:spPr>
        <p:txBody>
          <a:bodyPr wrap="square" lIns="109728" anchor="t">
            <a:spAutoFit/>
          </a:bodyPr>
          <a:lstStyle/>
          <a:p>
            <a:pPr algn="l"/>
            <a:r>
              <a:rPr sz="950" b="1" i="0">
                <a:solidFill>
                  <a:srgbClr val="003057"/>
                </a:solidFill>
                <a:latin typeface="Segoe UI"/>
              </a:rPr>
              <a:t>Trae: </a:t>
            </a:r>
            <a:r>
              <a:rPr sz="950" b="0" i="0">
                <a:solidFill>
                  <a:srgbClr val="1E293B"/>
                </a:solidFill>
                <a:latin typeface="Segoe UI"/>
              </a:rPr>
              <a:t>CDB, nombre, RUT, dirección, comuna y teléfono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519672" y="3291840"/>
            <a:ext cx="1801368" cy="475488"/>
          </a:xfrm>
          <a:prstGeom prst="roundRect">
            <a:avLst>
              <a:gd name="adj" fmla="val 15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54864" rtlCol="0" anchor="ctr"/>
          <a:lstStyle/>
          <a:p>
            <a:pPr algn="l"/>
            <a:r>
              <a:rPr sz="850" b="1" i="0">
                <a:solidFill>
                  <a:srgbClr val="9F1239"/>
                </a:solidFill>
                <a:latin typeface="Segoe UI"/>
              </a:rPr>
              <a:t>Problema: </a:t>
            </a:r>
            <a:r>
              <a:rPr sz="850" b="0" i="0">
                <a:solidFill>
                  <a:srgbClr val="475569"/>
                </a:solidFill>
                <a:latin typeface="Segoe UI"/>
              </a:rPr>
              <a:t>Archivo pesado: 11 a 17 s en leerse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4005072"/>
            <a:ext cx="8138160" cy="292608"/>
          </a:xfrm>
          <a:prstGeom prst="rect">
            <a:avLst/>
          </a:prstGeom>
          <a:noFill/>
        </p:spPr>
        <p:txBody>
          <a:bodyPr wrap="square" lIns="73152" tIns="0" rIns="73152" anchor="t">
            <a:spAutoFit/>
          </a:bodyPr>
          <a:lstStyle/>
          <a:p>
            <a:pPr algn="l"/>
            <a:r>
              <a:rPr sz="1100" b="1" i="0">
                <a:solidFill>
                  <a:srgbClr val="1C6BBA"/>
                </a:solidFill>
                <a:latin typeface="Segoe UI"/>
              </a:rPr>
              <a:t>REPORTES QUE SE SUBEN A LA APP</a:t>
            </a:r>
            <a:r>
              <a:rPr sz="1000" b="0" i="0">
                <a:solidFill>
                  <a:srgbClr val="64748B"/>
                </a:solidFill>
                <a:latin typeface="Segoe UI"/>
              </a:rPr>
              <a:t>  ·  se importan cuando llegan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4325112"/>
            <a:ext cx="260604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7" name="Rounded Rectangle 26"/>
          <p:cNvSpPr/>
          <p:nvPr/>
        </p:nvSpPr>
        <p:spPr>
          <a:xfrm>
            <a:off x="274320" y="4325112"/>
            <a:ext cx="2606040" cy="566928"/>
          </a:xfrm>
          <a:prstGeom prst="roundRect">
            <a:avLst>
              <a:gd name="adj" fmla="val 20000"/>
            </a:avLst>
          </a:prstGeom>
          <a:solidFill>
            <a:srgbClr val="1C6B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73152" rtlCol="0" anchor="ctr"/>
          <a:lstStyle/>
          <a:p>
            <a:pPr algn="l"/>
            <a:r>
              <a:rPr sz="1150" b="1" i="0">
                <a:solidFill>
                  <a:srgbClr val="FFFFFF"/>
                </a:solidFill>
                <a:latin typeface="Segoe UI"/>
              </a:rPr>
              <a:t>Provisiones nuevas</a:t>
            </a:r>
          </a:p>
          <a:p>
            <a:pPr algn="l"/>
            <a:r>
              <a:rPr sz="850" b="0" i="0">
                <a:solidFill>
                  <a:srgbClr val="DCE6F2"/>
                </a:solidFill>
                <a:latin typeface="Segoe UI"/>
              </a:rPr>
              <a:t>SharePoint · cobros del mes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4928616"/>
            <a:ext cx="2606040" cy="960120"/>
          </a:xfrm>
          <a:prstGeom prst="rect">
            <a:avLst/>
          </a:prstGeom>
          <a:noFill/>
        </p:spPr>
        <p:txBody>
          <a:bodyPr wrap="square" lIns="109728" anchor="t">
            <a:spAutoFit/>
          </a:bodyPr>
          <a:lstStyle/>
          <a:p>
            <a:pPr algn="l"/>
            <a:r>
              <a:rPr sz="950" b="1" i="0">
                <a:solidFill>
                  <a:srgbClr val="003057"/>
                </a:solidFill>
                <a:latin typeface="Segoe UI"/>
              </a:rPr>
              <a:t>Trae: </a:t>
            </a:r>
            <a:r>
              <a:rPr sz="950" b="0" i="0">
                <a:solidFill>
                  <a:srgbClr val="1E293B"/>
                </a:solidFill>
                <a:latin typeface="Segoe UI"/>
              </a:rPr>
              <a:t>Año, mes, chasis, cliente y monto (Dynafleet)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7472" y="5833872"/>
            <a:ext cx="2459736" cy="475488"/>
          </a:xfrm>
          <a:prstGeom prst="roundRect">
            <a:avLst>
              <a:gd name="adj" fmla="val 15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54864" rtlCol="0" anchor="ctr"/>
          <a:lstStyle/>
          <a:p>
            <a:pPr algn="l"/>
            <a:r>
              <a:rPr sz="850" b="1" i="0">
                <a:solidFill>
                  <a:srgbClr val="9F1239"/>
                </a:solidFill>
                <a:latin typeface="Segoe UI"/>
              </a:rPr>
              <a:t>Problema: </a:t>
            </a:r>
            <a:r>
              <a:rPr sz="850" b="0" i="0">
                <a:solidFill>
                  <a:srgbClr val="475569"/>
                </a:solidFill>
                <a:latin typeface="Segoe UI"/>
              </a:rPr>
              <a:t>La columna “Chasis” en realidad trae el VIN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017520" y="4325112"/>
            <a:ext cx="260604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3017520" y="4325112"/>
            <a:ext cx="2606040" cy="566928"/>
          </a:xfrm>
          <a:prstGeom prst="roundRect">
            <a:avLst>
              <a:gd name="adj" fmla="val 20000"/>
            </a:avLst>
          </a:prstGeom>
          <a:solidFill>
            <a:srgbClr val="1C6B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73152" rtlCol="0" anchor="ctr"/>
          <a:lstStyle/>
          <a:p>
            <a:pPr algn="l"/>
            <a:r>
              <a:rPr sz="1150" b="1" i="0">
                <a:solidFill>
                  <a:srgbClr val="FFFFFF"/>
                </a:solidFill>
                <a:latin typeface="Segoe UI"/>
              </a:rPr>
              <a:t>Notas de venta</a:t>
            </a:r>
          </a:p>
          <a:p>
            <a:pPr algn="l"/>
            <a:r>
              <a:rPr sz="850" b="0" i="0">
                <a:solidFill>
                  <a:srgbClr val="DCE6F2"/>
                </a:solidFill>
                <a:latin typeface="Segoe UI"/>
              </a:rPr>
              <a:t>Power BI · equipo de reportes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017520" y="4928616"/>
            <a:ext cx="2606040" cy="960120"/>
          </a:xfrm>
          <a:prstGeom prst="rect">
            <a:avLst/>
          </a:prstGeom>
          <a:noFill/>
        </p:spPr>
        <p:txBody>
          <a:bodyPr wrap="square" lIns="109728" anchor="t">
            <a:spAutoFit/>
          </a:bodyPr>
          <a:lstStyle/>
          <a:p>
            <a:pPr algn="l"/>
            <a:r>
              <a:rPr sz="950" b="1" i="0">
                <a:solidFill>
                  <a:srgbClr val="003057"/>
                </a:solidFill>
                <a:latin typeface="Segoe UI"/>
              </a:rPr>
              <a:t>Trae: </a:t>
            </a:r>
            <a:r>
              <a:rPr sz="950" b="0" i="0">
                <a:solidFill>
                  <a:srgbClr val="1E293B"/>
                </a:solidFill>
                <a:latin typeface="Segoe UI"/>
              </a:rPr>
              <a:t>Chasis corto, RUT, cliente, CDB, industria y vendedor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090672" y="5833872"/>
            <a:ext cx="2459736" cy="475488"/>
          </a:xfrm>
          <a:prstGeom prst="roundRect">
            <a:avLst>
              <a:gd name="adj" fmla="val 15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54864" rtlCol="0" anchor="ctr"/>
          <a:lstStyle/>
          <a:p>
            <a:pPr algn="l"/>
            <a:r>
              <a:rPr sz="850" b="1" i="0">
                <a:solidFill>
                  <a:srgbClr val="9F1239"/>
                </a:solidFill>
                <a:latin typeface="Segoe UI"/>
              </a:rPr>
              <a:t>Problema: </a:t>
            </a:r>
            <a:r>
              <a:rPr sz="850" b="0" i="0">
                <a:solidFill>
                  <a:srgbClr val="475569"/>
                </a:solidFill>
                <a:latin typeface="Segoe UI"/>
              </a:rPr>
              <a:t>Llega cifrado y no trae el VIN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760720" y="4325112"/>
            <a:ext cx="2606040" cy="2057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5" name="Rounded Rectangle 34"/>
          <p:cNvSpPr/>
          <p:nvPr/>
        </p:nvSpPr>
        <p:spPr>
          <a:xfrm>
            <a:off x="5760720" y="4325112"/>
            <a:ext cx="2606040" cy="566928"/>
          </a:xfrm>
          <a:prstGeom prst="roundRect">
            <a:avLst>
              <a:gd name="adj" fmla="val 20000"/>
            </a:avLst>
          </a:prstGeom>
          <a:solidFill>
            <a:srgbClr val="1C6BB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73152" rtlCol="0" anchor="ctr"/>
          <a:lstStyle/>
          <a:p>
            <a:pPr algn="l"/>
            <a:r>
              <a:rPr sz="1150" b="1" i="0">
                <a:solidFill>
                  <a:srgbClr val="FFFFFF"/>
                </a:solidFill>
                <a:latin typeface="Segoe UI"/>
              </a:rPr>
              <a:t>Contratos de mantenimiento</a:t>
            </a:r>
          </a:p>
          <a:p>
            <a:pPr algn="l"/>
            <a:r>
              <a:rPr sz="850" b="0" i="0">
                <a:solidFill>
                  <a:srgbClr val="DCE6F2"/>
                </a:solidFill>
                <a:latin typeface="Segoe UI"/>
              </a:rPr>
              <a:t>3PC · la contraparte comercial · mensual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760720" y="4928616"/>
            <a:ext cx="2606040" cy="960120"/>
          </a:xfrm>
          <a:prstGeom prst="rect">
            <a:avLst/>
          </a:prstGeom>
          <a:noFill/>
        </p:spPr>
        <p:txBody>
          <a:bodyPr wrap="square" lIns="109728" anchor="t">
            <a:spAutoFit/>
          </a:bodyPr>
          <a:lstStyle/>
          <a:p>
            <a:pPr algn="l"/>
            <a:r>
              <a:rPr sz="950" b="1" i="0">
                <a:solidFill>
                  <a:srgbClr val="003057"/>
                </a:solidFill>
                <a:latin typeface="Segoe UI"/>
              </a:rPr>
              <a:t>Trae: </a:t>
            </a:r>
            <a:r>
              <a:rPr sz="950" b="0" i="0">
                <a:solidFill>
                  <a:srgbClr val="1E293B"/>
                </a:solidFill>
                <a:latin typeface="Segoe UI"/>
              </a:rPr>
              <a:t>VIN No, N° de contrato, fechas, estado y monto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833872" y="5833872"/>
            <a:ext cx="2459736" cy="475488"/>
          </a:xfrm>
          <a:prstGeom prst="roundRect">
            <a:avLst>
              <a:gd name="adj" fmla="val 15000"/>
            </a:avLst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73152" rIns="54864" rtlCol="0" anchor="ctr"/>
          <a:lstStyle/>
          <a:p>
            <a:pPr algn="l"/>
            <a:r>
              <a:rPr sz="850" b="1" i="0">
                <a:solidFill>
                  <a:srgbClr val="9F1239"/>
                </a:solidFill>
                <a:latin typeface="Segoe UI"/>
              </a:rPr>
              <a:t>Problema: </a:t>
            </a:r>
            <a:r>
              <a:rPr sz="850" b="0" i="0">
                <a:solidFill>
                  <a:srgbClr val="475569"/>
                </a:solidFill>
                <a:latin typeface="Segoe UI"/>
              </a:rPr>
              <a:t>Columnas en inglés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641080" y="1463040"/>
            <a:ext cx="3291840" cy="4937760"/>
          </a:xfrm>
          <a:prstGeom prst="roundRect">
            <a:avLst>
              <a:gd name="adj" fmla="val 5000"/>
            </a:avLst>
          </a:prstGeom>
          <a:solidFill>
            <a:srgbClr val="EEF4FB"/>
          </a:solidFill>
          <a:ln w="12700">
            <a:solidFill>
              <a:srgbClr val="1C6B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9" name="Rounded Rectangle 38"/>
          <p:cNvSpPr/>
          <p:nvPr/>
        </p:nvSpPr>
        <p:spPr>
          <a:xfrm>
            <a:off x="8641080" y="1463040"/>
            <a:ext cx="3291840" cy="438912"/>
          </a:xfrm>
          <a:prstGeom prst="roundRect">
            <a:avLst>
              <a:gd name="adj" fmla="val 25000"/>
            </a:avLst>
          </a:prstGeom>
          <a:solidFill>
            <a:srgbClr val="003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73152" rtlCol="0" anchor="ctr"/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MISMO DATO, DISTINTO NOMBRE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778240" y="1993392"/>
            <a:ext cx="3063240" cy="713232"/>
          </a:xfrm>
          <a:prstGeom prst="rect">
            <a:avLst/>
          </a:prstGeom>
          <a:noFill/>
        </p:spPr>
        <p:txBody>
          <a:bodyPr wrap="square" lIns="73152" tIns="18288" rIns="73152" anchor="t">
            <a:spAutoFit/>
          </a:bodyPr>
          <a:lstStyle/>
          <a:p>
            <a:pPr algn="l"/>
            <a:r>
              <a:rPr sz="1050" b="1" i="0">
                <a:solidFill>
                  <a:srgbClr val="003057"/>
                </a:solidFill>
                <a:latin typeface="Segoe UI"/>
              </a:rPr>
              <a:t>El camión</a:t>
            </a:r>
          </a:p>
          <a:p>
            <a:pPr algn="l"/>
            <a:r>
              <a:rPr sz="950" b="0" i="0">
                <a:solidFill>
                  <a:srgbClr val="1E293B"/>
                </a:solidFill>
                <a:latin typeface="Segoe UI"/>
              </a:rPr>
              <a:t>VIN · Chasis (con el VIN) · Chasis corto · VIN No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778240" y="2706624"/>
            <a:ext cx="3063240" cy="713232"/>
          </a:xfrm>
          <a:prstGeom prst="rect">
            <a:avLst/>
          </a:prstGeom>
          <a:noFill/>
        </p:spPr>
        <p:txBody>
          <a:bodyPr wrap="square" lIns="73152" tIns="18288" rIns="73152" anchor="t">
            <a:spAutoFit/>
          </a:bodyPr>
          <a:lstStyle/>
          <a:p>
            <a:pPr algn="l"/>
            <a:r>
              <a:rPr sz="1050" b="1" i="0">
                <a:solidFill>
                  <a:srgbClr val="003057"/>
                </a:solidFill>
                <a:latin typeface="Segoe UI"/>
              </a:rPr>
              <a:t>La empresa</a:t>
            </a:r>
          </a:p>
          <a:p>
            <a:pPr algn="l"/>
            <a:r>
              <a:rPr sz="950" b="0" i="0">
                <a:solidFill>
                  <a:srgbClr val="1E293B"/>
                </a:solidFill>
                <a:latin typeface="Segoe UI"/>
              </a:rPr>
              <a:t>Razón social · Cliente · Flota · Nombre · Customer Name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778240" y="3419856"/>
            <a:ext cx="3063240" cy="713232"/>
          </a:xfrm>
          <a:prstGeom prst="rect">
            <a:avLst/>
          </a:prstGeom>
          <a:noFill/>
        </p:spPr>
        <p:txBody>
          <a:bodyPr wrap="square" lIns="73152" tIns="18288" rIns="73152" anchor="t">
            <a:spAutoFit/>
          </a:bodyPr>
          <a:lstStyle/>
          <a:p>
            <a:pPr algn="l"/>
            <a:r>
              <a:rPr sz="1050" b="1" i="0">
                <a:solidFill>
                  <a:srgbClr val="003057"/>
                </a:solidFill>
                <a:latin typeface="Segoe UI"/>
              </a:rPr>
              <a:t>El código de cliente</a:t>
            </a:r>
          </a:p>
          <a:p>
            <a:pPr algn="l"/>
            <a:r>
              <a:rPr sz="950" b="0" i="0">
                <a:solidFill>
                  <a:srgbClr val="1E293B"/>
                </a:solidFill>
                <a:latin typeface="Segoe UI"/>
              </a:rPr>
              <a:t>CDB en 3 archivos; Provisiones y 3PC no lo traen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778240" y="4133087"/>
            <a:ext cx="3063240" cy="713232"/>
          </a:xfrm>
          <a:prstGeom prst="rect">
            <a:avLst/>
          </a:prstGeom>
          <a:noFill/>
        </p:spPr>
        <p:txBody>
          <a:bodyPr wrap="square" lIns="73152" tIns="18288" rIns="73152" anchor="t">
            <a:spAutoFit/>
          </a:bodyPr>
          <a:lstStyle/>
          <a:p>
            <a:pPr algn="l"/>
            <a:r>
              <a:rPr sz="1050" b="1" i="0">
                <a:solidFill>
                  <a:srgbClr val="003057"/>
                </a:solidFill>
                <a:latin typeface="Segoe UI"/>
              </a:rPr>
              <a:t>El vendedor</a:t>
            </a:r>
          </a:p>
          <a:p>
            <a:pPr algn="l"/>
            <a:r>
              <a:rPr sz="950" b="0" i="0">
                <a:solidFill>
                  <a:srgbClr val="1E293B"/>
                </a:solidFill>
                <a:latin typeface="Segoe UI"/>
              </a:rPr>
              <a:t>Ejecutivo · Vendedor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8823960" y="4864608"/>
            <a:ext cx="2926080" cy="0"/>
          </a:xfrm>
          <a:prstGeom prst="line">
            <a:avLst/>
          </a:prstGeom>
          <a:ln w="9525">
            <a:solidFill>
              <a:srgbClr val="1C6BB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8778240" y="4937760"/>
            <a:ext cx="3063240" cy="1417320"/>
          </a:xfrm>
          <a:prstGeom prst="rect">
            <a:avLst/>
          </a:prstGeom>
          <a:noFill/>
        </p:spPr>
        <p:txBody>
          <a:bodyPr wrap="square" lIns="73152" tIns="18288" rIns="73152" anchor="t">
            <a:spAutoFit/>
          </a:bodyPr>
          <a:lstStyle/>
          <a:p>
            <a:pPr algn="l"/>
            <a:r>
              <a:rPr sz="1050" b="1" i="0">
                <a:solidFill>
                  <a:srgbClr val="003057"/>
                </a:solidFill>
                <a:latin typeface="Segoe UI"/>
              </a:rPr>
              <a:t>Además</a:t>
            </a:r>
          </a:p>
          <a:p>
            <a:pPr marL="164592" indent="-164592" algn="l">
              <a:spcBef>
                <a:spcPts val="200"/>
              </a:spcBef>
              <a:buClr>
                <a:srgbClr val="2563EB"/>
              </a:buClr>
              <a:buChar char="•"/>
            </a:pPr>
            <a:r>
              <a:rPr sz="900" b="0" i="0">
                <a:solidFill>
                  <a:srgbClr val="1E293B"/>
                </a:solidFill>
                <a:latin typeface="Segoe UI"/>
              </a:rPr>
              <a:t>Valores sin estándar: industria en inglés, estados escritos de distintas formas</a:t>
            </a:r>
          </a:p>
          <a:p>
            <a:pPr marL="164592" indent="-164592" algn="l">
              <a:spcBef>
                <a:spcPts val="200"/>
              </a:spcBef>
              <a:buClr>
                <a:srgbClr val="2563EB"/>
              </a:buClr>
              <a:buChar char="•"/>
            </a:pPr>
            <a:r>
              <a:rPr sz="900" b="0" i="0">
                <a:solidFill>
                  <a:srgbClr val="1E293B"/>
                </a:solidFill>
                <a:latin typeface="Segoe UI"/>
              </a:rPr>
              <a:t>Fechas en formatos distintos (año y mes separados)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" y="347472"/>
            <a:ext cx="5486400" cy="384048"/>
          </a:xfrm>
          <a:prstGeom prst="rect">
            <a:avLst/>
          </a:prstGeom>
          <a:noFill/>
        </p:spPr>
        <p:txBody>
          <a:bodyPr wrap="square" rIns="73152" anchor="t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  <a:latin typeface="Segoe UI"/>
              </a:rPr>
              <a:t>Empresa Demo Sistema de Gestión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758952"/>
            <a:ext cx="4087368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splas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7" y="246888"/>
            <a:ext cx="713232" cy="713232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8705088" y="274320"/>
            <a:ext cx="0" cy="658368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9096" y="210312"/>
            <a:ext cx="3145536" cy="7863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0" y="896112"/>
            <a:ext cx="12191695" cy="5029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600" b="1" i="0">
                <a:solidFill>
                  <a:srgbClr val="003057"/>
                </a:solidFill>
                <a:latin typeface="Segoe UI"/>
              </a:rPr>
              <a:t>Modelo de datos · Cómo se conectan en la app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931920" y="1600200"/>
            <a:ext cx="4343400" cy="3749039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0030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3931920" y="1600200"/>
            <a:ext cx="4343400" cy="566928"/>
          </a:xfrm>
          <a:prstGeom prst="roundRect">
            <a:avLst>
              <a:gd name="adj" fmla="val 15000"/>
            </a:avLst>
          </a:prstGeom>
          <a:solidFill>
            <a:srgbClr val="003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73152" rtlCol="0" anchor="ctr"/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BASE CENTRAL DE CAMIONES</a:t>
            </a:r>
          </a:p>
          <a:p>
            <a:pPr algn="ctr"/>
            <a:r>
              <a:rPr sz="1100" b="0" i="0">
                <a:solidFill>
                  <a:srgbClr val="DCE6F2"/>
                </a:solidFill>
                <a:latin typeface="Segoe UI"/>
              </a:rPr>
              <a:t>una fila por camión · PruebasFM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69080" y="2313432"/>
            <a:ext cx="1965960" cy="886968"/>
          </a:xfrm>
          <a:prstGeom prst="roundRect">
            <a:avLst>
              <a:gd name="adj" fmla="val 10000"/>
            </a:avLst>
          </a:prstGeom>
          <a:solidFill>
            <a:srgbClr val="FFEDD5"/>
          </a:solidFill>
          <a:ln w="9525">
            <a:solidFill>
              <a:srgbClr val="C2410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rIns="54864" rtlCol="0" anchor="t"/>
          <a:lstStyle/>
          <a:p>
            <a:pPr algn="l"/>
            <a:r>
              <a:rPr sz="1050" b="1" i="0">
                <a:solidFill>
                  <a:srgbClr val="003057"/>
                </a:solidFill>
                <a:latin typeface="Segoe UI"/>
              </a:rPr>
              <a:t>Identificación</a:t>
            </a:r>
          </a:p>
          <a:p>
            <a:pPr algn="l">
              <a:spcBef>
                <a:spcPts val="200"/>
              </a:spcBef>
            </a:pPr>
            <a:r>
              <a:rPr sz="850" b="0" i="0">
                <a:solidFill>
                  <a:srgbClr val="1E293B"/>
                </a:solidFill>
                <a:latin typeface="Segoe UI"/>
              </a:rPr>
              <a:t>VIN · Chasis · Modelo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2313432"/>
            <a:ext cx="1965960" cy="886968"/>
          </a:xfrm>
          <a:prstGeom prst="roundRect">
            <a:avLst>
              <a:gd name="adj" fmla="val 10000"/>
            </a:avLst>
          </a:prstGeom>
          <a:solidFill>
            <a:srgbClr val="EEF4FB"/>
          </a:solidFill>
          <a:ln w="9525">
            <a:solidFill>
              <a:srgbClr val="1C6B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rIns="54864" rtlCol="0" anchor="t"/>
          <a:lstStyle/>
          <a:p>
            <a:pPr algn="l"/>
            <a:r>
              <a:rPr sz="1050" b="1" i="0">
                <a:solidFill>
                  <a:srgbClr val="003057"/>
                </a:solidFill>
                <a:latin typeface="Segoe UI"/>
              </a:rPr>
              <a:t>Cliente</a:t>
            </a:r>
          </a:p>
          <a:p>
            <a:pPr algn="l">
              <a:spcBef>
                <a:spcPts val="200"/>
              </a:spcBef>
            </a:pPr>
            <a:r>
              <a:rPr sz="850" b="0" i="0">
                <a:solidFill>
                  <a:srgbClr val="1E293B"/>
                </a:solidFill>
                <a:latin typeface="Segoe UI"/>
              </a:rPr>
              <a:t>Razón social · RUT · CDB · Ejecutivo · Industria · Flota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069080" y="3291840"/>
            <a:ext cx="1965960" cy="886968"/>
          </a:xfrm>
          <a:prstGeom prst="roundRect">
            <a:avLst>
              <a:gd name="adj" fmla="val 10000"/>
            </a:avLst>
          </a:prstGeom>
          <a:solidFill>
            <a:srgbClr val="EEF4FB"/>
          </a:solidFill>
          <a:ln w="9525">
            <a:solidFill>
              <a:srgbClr val="1C6B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rIns="54864" rtlCol="0" anchor="t"/>
          <a:lstStyle/>
          <a:p>
            <a:pPr algn="l"/>
            <a:r>
              <a:rPr sz="1050" b="1" i="0">
                <a:solidFill>
                  <a:srgbClr val="003057"/>
                </a:solidFill>
                <a:latin typeface="Segoe UI"/>
              </a:rPr>
              <a:t>Contrato</a:t>
            </a:r>
          </a:p>
          <a:p>
            <a:pPr algn="l">
              <a:spcBef>
                <a:spcPts val="200"/>
              </a:spcBef>
            </a:pPr>
            <a:r>
              <a:rPr sz="850" b="0" i="0">
                <a:solidFill>
                  <a:srgbClr val="1E293B"/>
                </a:solidFill>
                <a:latin typeface="Segoe UI"/>
              </a:rPr>
              <a:t>Forma de contrato · Plan · Inicio · Duración · Término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3291840"/>
            <a:ext cx="1965960" cy="886968"/>
          </a:xfrm>
          <a:prstGeom prst="roundRect">
            <a:avLst>
              <a:gd name="adj" fmla="val 10000"/>
            </a:avLst>
          </a:prstGeom>
          <a:solidFill>
            <a:srgbClr val="EEF4FB"/>
          </a:solidFill>
          <a:ln w="9525">
            <a:solidFill>
              <a:srgbClr val="1C6B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rIns="54864" rtlCol="0" anchor="t"/>
          <a:lstStyle/>
          <a:p>
            <a:pPr algn="l"/>
            <a:r>
              <a:rPr sz="1050" b="1" i="0">
                <a:solidFill>
                  <a:srgbClr val="003057"/>
                </a:solidFill>
                <a:latin typeface="Segoe UI"/>
              </a:rPr>
              <a:t>Estados</a:t>
            </a:r>
          </a:p>
          <a:p>
            <a:pPr algn="l">
              <a:spcBef>
                <a:spcPts val="200"/>
              </a:spcBef>
            </a:pPr>
            <a:r>
              <a:rPr sz="850" b="0" i="0">
                <a:solidFill>
                  <a:srgbClr val="1E293B"/>
                </a:solidFill>
                <a:latin typeface="Segoe UI"/>
              </a:rPr>
              <a:t>Comercial · Activación · Etapa de gestión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69080" y="4270248"/>
            <a:ext cx="1965960" cy="886968"/>
          </a:xfrm>
          <a:prstGeom prst="roundRect">
            <a:avLst>
              <a:gd name="adj" fmla="val 10000"/>
            </a:avLst>
          </a:prstGeom>
          <a:solidFill>
            <a:srgbClr val="EEF4FB"/>
          </a:solidFill>
          <a:ln w="9525">
            <a:solidFill>
              <a:srgbClr val="1C6B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rIns="54864" rtlCol="0" anchor="t"/>
          <a:lstStyle/>
          <a:p>
            <a:pPr algn="l"/>
            <a:r>
              <a:rPr sz="1050" b="1" i="0">
                <a:solidFill>
                  <a:srgbClr val="003057"/>
                </a:solidFill>
                <a:latin typeface="Segoe UI"/>
              </a:rPr>
              <a:t>Facturación</a:t>
            </a:r>
          </a:p>
          <a:p>
            <a:pPr algn="l">
              <a:spcBef>
                <a:spcPts val="200"/>
              </a:spcBef>
            </a:pPr>
            <a:r>
              <a:rPr sz="850" b="0" i="0">
                <a:solidFill>
                  <a:srgbClr val="1E293B"/>
                </a:solidFill>
                <a:latin typeface="Segoe UI"/>
              </a:rPr>
              <a:t>Tipo de facturación · JustTime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4270248"/>
            <a:ext cx="1965960" cy="886968"/>
          </a:xfrm>
          <a:prstGeom prst="roundRect">
            <a:avLst>
              <a:gd name="adj" fmla="val 10000"/>
            </a:avLst>
          </a:prstGeom>
          <a:solidFill>
            <a:srgbClr val="EEF4FB"/>
          </a:solidFill>
          <a:ln w="9525">
            <a:solidFill>
              <a:srgbClr val="1C6B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82296" rIns="54864" rtlCol="0" anchor="t"/>
          <a:lstStyle/>
          <a:p>
            <a:pPr algn="l"/>
            <a:r>
              <a:rPr sz="1050" b="1" i="0">
                <a:solidFill>
                  <a:srgbClr val="003057"/>
                </a:solidFill>
                <a:latin typeface="Segoe UI"/>
              </a:rPr>
              <a:t>Mantenimiento (CM)</a:t>
            </a:r>
          </a:p>
          <a:p>
            <a:pPr algn="l">
              <a:spcBef>
                <a:spcPts val="200"/>
              </a:spcBef>
            </a:pPr>
            <a:r>
              <a:rPr sz="850" b="0" i="0">
                <a:solidFill>
                  <a:srgbClr val="1E293B"/>
                </a:solidFill>
                <a:latin typeface="Segoe UI"/>
              </a:rPr>
              <a:t>N° contrato · Fechas · Estado · Pago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74320" y="1600200"/>
            <a:ext cx="2926080" cy="713232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1C6B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73152" rtlCol="0" anchor="t"/>
          <a:lstStyle/>
          <a:p>
            <a:pPr algn="l"/>
            <a:r>
              <a:rPr sz="1100" b="1" i="0">
                <a:solidFill>
                  <a:srgbClr val="1C6BBA"/>
                </a:solidFill>
                <a:latin typeface="Segoe UI"/>
              </a:rPr>
              <a:t>Provisiones nuevas (SharePoint)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1E293B"/>
                </a:solidFill>
                <a:latin typeface="Segoe UI"/>
              </a:rPr>
              <a:t>Solo se agregan los cobros nuevos del mes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737360" y="2322576"/>
            <a:ext cx="0" cy="274320"/>
          </a:xfrm>
          <a:prstGeom prst="line">
            <a:avLst/>
          </a:prstGeom>
          <a:ln w="22225">
            <a:solidFill>
              <a:srgbClr val="1C6BB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274320" y="2606040"/>
            <a:ext cx="292608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030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73152" rtlCol="0" anchor="t"/>
          <a:lstStyle/>
          <a:p>
            <a:pPr algn="l"/>
            <a:r>
              <a:rPr sz="1100" b="1" i="0">
                <a:solidFill>
                  <a:srgbClr val="003057"/>
                </a:solidFill>
                <a:latin typeface="Segoe UI"/>
              </a:rPr>
              <a:t>Provisiones (Felipe)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1E293B"/>
                </a:solidFill>
                <a:latin typeface="Segoe UI"/>
              </a:rPr>
              <a:t>Al guardar actualiza el plan, la duración y el período del camión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209544" y="3081528"/>
            <a:ext cx="713232" cy="0"/>
          </a:xfrm>
          <a:prstGeom prst="line">
            <a:avLst/>
          </a:prstGeom>
          <a:ln w="25400">
            <a:solidFill>
              <a:srgbClr val="C2410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154680" y="2697480"/>
            <a:ext cx="822960" cy="384048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ctr"/>
            <a:r>
              <a:rPr sz="950" b="1" i="0">
                <a:solidFill>
                  <a:srgbClr val="C2410C"/>
                </a:solidFill>
                <a:latin typeface="Segoe UI"/>
              </a:rPr>
              <a:t>por VIN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4320" y="3794760"/>
            <a:ext cx="292608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1C6B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73152" rtlCol="0" anchor="t"/>
          <a:lstStyle/>
          <a:p>
            <a:pPr algn="l"/>
            <a:r>
              <a:rPr sz="1100" b="1" i="0">
                <a:solidFill>
                  <a:srgbClr val="1C6BBA"/>
                </a:solidFill>
                <a:latin typeface="Segoe UI"/>
              </a:rPr>
              <a:t>Notas de venta (Power BI)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1E293B"/>
                </a:solidFill>
                <a:latin typeface="Segoe UI"/>
              </a:rPr>
              <a:t>Da de alta camiones nuevos con los datos del cliente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209544" y="4270248"/>
            <a:ext cx="713232" cy="0"/>
          </a:xfrm>
          <a:prstGeom prst="line">
            <a:avLst/>
          </a:prstGeom>
          <a:ln w="25400">
            <a:solidFill>
              <a:srgbClr val="1C6BB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3154680" y="3886200"/>
            <a:ext cx="822960" cy="384048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ctr"/>
            <a:r>
              <a:rPr sz="950" b="1" i="0">
                <a:solidFill>
                  <a:srgbClr val="1C6BBA"/>
                </a:solidFill>
                <a:latin typeface="Segoe UI"/>
              </a:rPr>
              <a:t>alta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274320" y="4983480"/>
            <a:ext cx="2926080" cy="82296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475569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73152" rtlCol="0" anchor="t"/>
          <a:lstStyle/>
          <a:p>
            <a:pPr algn="l"/>
            <a:r>
              <a:rPr sz="1100" b="1" i="0">
                <a:solidFill>
                  <a:srgbClr val="475569"/>
                </a:solidFill>
                <a:latin typeface="Segoe UI"/>
              </a:rPr>
              <a:t>RM de la contraparte comercial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1E293B"/>
                </a:solidFill>
                <a:latin typeface="Segoe UI"/>
              </a:rPr>
              <a:t>Sincronización temporal: se dejará de usar</a:t>
            </a:r>
          </a:p>
        </p:txBody>
      </p:sp>
      <p:cxnSp>
        <p:nvCxnSpPr>
          <p:cNvPr id="25" name="Connector 24"/>
          <p:cNvCxnSpPr/>
          <p:nvPr/>
        </p:nvCxnSpPr>
        <p:spPr>
          <a:xfrm flipV="1">
            <a:off x="3209544" y="4937760"/>
            <a:ext cx="713232" cy="457200"/>
          </a:xfrm>
          <a:prstGeom prst="line">
            <a:avLst/>
          </a:prstGeom>
          <a:ln w="19050">
            <a:solidFill>
              <a:srgbClr val="475569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8961120" y="1600200"/>
            <a:ext cx="29718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030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73152" rtlCol="0" anchor="t"/>
          <a:lstStyle/>
          <a:p>
            <a:pPr algn="l"/>
            <a:r>
              <a:rPr sz="1100" b="1" i="0">
                <a:solidFill>
                  <a:srgbClr val="003057"/>
                </a:solidFill>
                <a:latin typeface="Segoe UI"/>
              </a:rPr>
              <a:t>Contactos (equipo Contactos)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1E293B"/>
                </a:solidFill>
                <a:latin typeface="Segoe UI"/>
              </a:rPr>
              <a:t>Un cliente, varios administradores de flota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8284464" y="2057400"/>
            <a:ext cx="667512" cy="0"/>
          </a:xfrm>
          <a:prstGeom prst="line">
            <a:avLst/>
          </a:prstGeom>
          <a:ln w="25400">
            <a:solidFill>
              <a:srgbClr val="15803D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8229600" y="1673352"/>
            <a:ext cx="777240" cy="384048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ctr"/>
            <a:r>
              <a:rPr sz="950" b="1" i="0">
                <a:solidFill>
                  <a:srgbClr val="15803D"/>
                </a:solidFill>
                <a:latin typeface="Segoe UI"/>
              </a:rPr>
              <a:t>por CDB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61120" y="2697480"/>
            <a:ext cx="297180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0030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73152" rtlCol="0" anchor="t"/>
          <a:lstStyle/>
          <a:p>
            <a:pPr algn="l"/>
            <a:r>
              <a:rPr sz="1100" b="1" i="0">
                <a:solidFill>
                  <a:srgbClr val="003057"/>
                </a:solidFill>
                <a:latin typeface="Segoe UI"/>
              </a:rPr>
              <a:t>Base de clientes (Power BI)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1E293B"/>
                </a:solidFill>
                <a:latin typeface="Segoe UI"/>
              </a:rPr>
              <a:t>Dirección, comuna y respaldo de RUT y razón social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8284464" y="3154680"/>
            <a:ext cx="667512" cy="0"/>
          </a:xfrm>
          <a:prstGeom prst="line">
            <a:avLst/>
          </a:prstGeom>
          <a:ln w="25400">
            <a:solidFill>
              <a:srgbClr val="15803D"/>
            </a:solidFill>
            <a:headEnd type="triangle" w="med" len="med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8229600" y="2770632"/>
            <a:ext cx="777240" cy="384048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ctr"/>
            <a:r>
              <a:rPr sz="950" b="1" i="0">
                <a:solidFill>
                  <a:srgbClr val="15803D"/>
                </a:solidFill>
                <a:latin typeface="Segoe UI"/>
              </a:rPr>
              <a:t>por CDB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961120" y="3794760"/>
            <a:ext cx="2971800" cy="9601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5875">
            <a:solidFill>
              <a:srgbClr val="1C6BB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tIns="64008" rIns="73152" rtlCol="0" anchor="t"/>
          <a:lstStyle/>
          <a:p>
            <a:pPr algn="l"/>
            <a:r>
              <a:rPr sz="1100" b="1" i="0">
                <a:solidFill>
                  <a:srgbClr val="1C6BBA"/>
                </a:solidFill>
                <a:latin typeface="Segoe UI"/>
              </a:rPr>
              <a:t>Contratos CM (3PC)</a:t>
            </a:r>
          </a:p>
          <a:p>
            <a:pPr algn="l">
              <a:spcBef>
                <a:spcPts val="200"/>
              </a:spcBef>
            </a:pPr>
            <a:r>
              <a:rPr sz="900" b="0" i="0">
                <a:solidFill>
                  <a:srgbClr val="1E293B"/>
                </a:solidFill>
                <a:latin typeface="Segoe UI"/>
              </a:rPr>
              <a:t>Actualiza el contrato de mantenimiento cada mes</a:t>
            </a:r>
          </a:p>
        </p:txBody>
      </p:sp>
      <p:cxnSp>
        <p:nvCxnSpPr>
          <p:cNvPr id="33" name="Connector 32"/>
          <p:cNvCxnSpPr/>
          <p:nvPr/>
        </p:nvCxnSpPr>
        <p:spPr>
          <a:xfrm flipH="1">
            <a:off x="8284464" y="4270248"/>
            <a:ext cx="667512" cy="0"/>
          </a:xfrm>
          <a:prstGeom prst="line">
            <a:avLst/>
          </a:prstGeom>
          <a:ln w="25400">
            <a:solidFill>
              <a:srgbClr val="C2410C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8229600" y="3886200"/>
            <a:ext cx="777240" cy="384048"/>
          </a:xfrm>
          <a:prstGeom prst="rect">
            <a:avLst/>
          </a:prstGeom>
          <a:noFill/>
        </p:spPr>
        <p:txBody>
          <a:bodyPr wrap="square" lIns="73152" tIns="0" rIns="73152" bIns="0" anchor="t">
            <a:spAutoFit/>
          </a:bodyPr>
          <a:lstStyle/>
          <a:p>
            <a:pPr algn="ctr"/>
            <a:r>
              <a:rPr sz="950" b="1" i="0">
                <a:solidFill>
                  <a:srgbClr val="C2410C"/>
                </a:solidFill>
                <a:latin typeface="Segoe UI"/>
              </a:rPr>
              <a:t>por VIN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961120" y="4983480"/>
            <a:ext cx="2971800" cy="822960"/>
          </a:xfrm>
          <a:prstGeom prst="roundRect">
            <a:avLst>
              <a:gd name="adj" fmla="val 10000"/>
            </a:avLst>
          </a:prstGeom>
          <a:solidFill>
            <a:srgbClr val="F8FAFC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rIns="73152" rtlCol="0" anchor="ctr"/>
          <a:lstStyle/>
          <a:p>
            <a:pPr algn="l"/>
            <a:r>
              <a:rPr sz="1000" b="1" i="0">
                <a:solidFill>
                  <a:srgbClr val="C2410C"/>
                </a:solidFill>
                <a:latin typeface="Segoe UI"/>
              </a:rPr>
              <a:t>VIN </a:t>
            </a:r>
            <a:r>
              <a:rPr sz="950" b="0" i="0">
                <a:solidFill>
                  <a:srgbClr val="1E293B"/>
                </a:solidFill>
                <a:latin typeface="Segoe UI"/>
              </a:rPr>
              <a:t>identifica al camión</a:t>
            </a:r>
          </a:p>
          <a:p>
            <a:pPr algn="l"/>
            <a:r>
              <a:rPr sz="1000" b="1" i="0">
                <a:solidFill>
                  <a:srgbClr val="15803D"/>
                </a:solidFill>
                <a:latin typeface="Segoe UI"/>
              </a:rPr>
              <a:t>CDB </a:t>
            </a:r>
            <a:r>
              <a:rPr sz="950" b="0" i="0">
                <a:solidFill>
                  <a:srgbClr val="1E293B"/>
                </a:solidFill>
                <a:latin typeface="Segoe UI"/>
              </a:rPr>
              <a:t>identifica al cliente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103620" y="5358383"/>
            <a:ext cx="0" cy="310897"/>
          </a:xfrm>
          <a:prstGeom prst="line">
            <a:avLst/>
          </a:prstGeom>
          <a:ln w="22225">
            <a:solidFill>
              <a:srgbClr val="47556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274320" y="6053328"/>
            <a:ext cx="3566160" cy="457200"/>
          </a:xfrm>
          <a:prstGeom prst="rect">
            <a:avLst/>
          </a:prstGeom>
          <a:noFill/>
        </p:spPr>
        <p:txBody>
          <a:bodyPr wrap="square" lIns="73152" tIns="91440" rIns="73152" anchor="t">
            <a:spAutoFit/>
          </a:bodyPr>
          <a:lstStyle/>
          <a:p>
            <a:pPr algn="r"/>
            <a:r>
              <a:rPr sz="1050" b="1" i="0">
                <a:solidFill>
                  <a:srgbClr val="475569"/>
                </a:solidFill>
                <a:latin typeface="Segoe UI"/>
              </a:rPr>
              <a:t>Archivos que genera la app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931920" y="5687568"/>
            <a:ext cx="1380744" cy="82296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rIns="36576" rtlCol="0" anchor="ctr"/>
          <a:lstStyle/>
          <a:p>
            <a:pPr algn="ctr"/>
            <a:r>
              <a:rPr sz="1050" b="1" i="0">
                <a:solidFill>
                  <a:srgbClr val="475569"/>
                </a:solidFill>
                <a:latin typeface="Segoe UI"/>
              </a:rPr>
              <a:t>Correos</a:t>
            </a:r>
          </a:p>
          <a:p>
            <a:pPr algn="ctr"/>
            <a:r>
              <a:rPr sz="850" b="0" i="0">
                <a:solidFill>
                  <a:srgbClr val="64748B"/>
                </a:solidFill>
                <a:latin typeface="Segoe UI"/>
              </a:rPr>
              <a:t>destinatarios por cliente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413248" y="5687568"/>
            <a:ext cx="1380744" cy="82296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rIns="36576" rtlCol="0" anchor="ctr"/>
          <a:lstStyle/>
          <a:p>
            <a:pPr algn="ctr"/>
            <a:r>
              <a:rPr sz="1050" b="1" i="0">
                <a:solidFill>
                  <a:srgbClr val="475569"/>
                </a:solidFill>
                <a:latin typeface="Segoe UI"/>
              </a:rPr>
              <a:t>Instalaciones</a:t>
            </a:r>
          </a:p>
          <a:p>
            <a:pPr algn="ctr"/>
            <a:r>
              <a:rPr sz="850" b="0" i="0">
                <a:solidFill>
                  <a:srgbClr val="64748B"/>
                </a:solidFill>
                <a:latin typeface="Segoe UI"/>
              </a:rPr>
              <a:t>reporte mensual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94576" y="5687568"/>
            <a:ext cx="1380744" cy="822960"/>
          </a:xfrm>
          <a:prstGeom prst="round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4755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36576" rIns="36576" rtlCol="0" anchor="ctr"/>
          <a:lstStyle/>
          <a:p>
            <a:pPr algn="ctr"/>
            <a:r>
              <a:rPr sz="1050" b="1" i="0">
                <a:solidFill>
                  <a:srgbClr val="475569"/>
                </a:solidFill>
                <a:latin typeface="Segoe UI"/>
              </a:rPr>
              <a:t>Casos CM</a:t>
            </a:r>
          </a:p>
          <a:p>
            <a:pPr algn="ctr"/>
            <a:r>
              <a:rPr sz="850" b="0" i="0">
                <a:solidFill>
                  <a:srgbClr val="64748B"/>
                </a:solidFill>
                <a:latin typeface="Segoe UI"/>
              </a:rPr>
              <a:t>contratos a revisar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" y="347472"/>
            <a:ext cx="5486400" cy="384048"/>
          </a:xfrm>
          <a:prstGeom prst="rect">
            <a:avLst/>
          </a:prstGeom>
          <a:noFill/>
        </p:spPr>
        <p:txBody>
          <a:bodyPr wrap="square" rIns="73152" anchor="t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  <a:latin typeface="Segoe UI"/>
              </a:rPr>
              <a:t>Empresa Demo Sistema de Gestión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758952"/>
            <a:ext cx="4087368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splas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7" y="246888"/>
            <a:ext cx="713232" cy="713232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8705088" y="274320"/>
            <a:ext cx="0" cy="658368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9096" y="210312"/>
            <a:ext cx="3145536" cy="7863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0" y="914400"/>
            <a:ext cx="12191695" cy="6858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200" b="1" i="0">
                <a:solidFill>
                  <a:srgbClr val="003057"/>
                </a:solidFill>
                <a:latin typeface="Segoe UI"/>
              </a:rPr>
              <a:t>Tecnologías utilizadas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4545" y="1691640"/>
            <a:ext cx="1476763" cy="77724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9909" y="1691640"/>
            <a:ext cx="777240" cy="777240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1737360" y="2697480"/>
          <a:ext cx="8686800" cy="3657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035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Tecnología</a:t>
                      </a:r>
                    </a:p>
                  </a:txBody>
                  <a:tcPr marL="109728" anchor="ctr">
                    <a:solidFill>
                      <a:srgbClr val="0030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Para qué se usa</a:t>
                      </a:r>
                    </a:p>
                  </a:txBody>
                  <a:tcPr marL="109728" anchor="ctr">
                    <a:solidFill>
                      <a:srgbClr val="0030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03057"/>
                          </a:solidFill>
                          <a:latin typeface="Segoe UI"/>
                        </a:rPr>
                        <a:t>Python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  <a:latin typeface="Segoe UI"/>
                        </a:rPr>
                        <a:t>Lenguaje en el que está construida toda la aplicación.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03057"/>
                          </a:solidFill>
                          <a:latin typeface="Segoe UI"/>
                        </a:rPr>
                        <a:t>PyQt6</a:t>
                      </a:r>
                    </a:p>
                  </a:txBody>
                  <a:tcPr marL="10972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  <a:latin typeface="Segoe UI"/>
                        </a:rPr>
                        <a:t>Crea las ventanas, tablas y botones de la aplicación de escritorio.</a:t>
                      </a:r>
                    </a:p>
                  </a:txBody>
                  <a:tcPr marL="109728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03057"/>
                          </a:solidFill>
                          <a:latin typeface="Segoe UI"/>
                        </a:rPr>
                        <a:t>pandas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  <a:latin typeface="Segoe UI"/>
                        </a:rPr>
                        <a:t>Lee, cruza y filtra en memoria los datos de más de 12.000 camiones.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03057"/>
                          </a:solidFill>
                          <a:latin typeface="Segoe UI"/>
                        </a:rPr>
                        <a:t>openpyxl</a:t>
                      </a:r>
                    </a:p>
                  </a:txBody>
                  <a:tcPr marL="10972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  <a:latin typeface="Segoe UI"/>
                        </a:rPr>
                        <a:t>Escribe en los Excel respetando su formato y sus fórmulas.</a:t>
                      </a:r>
                    </a:p>
                  </a:txBody>
                  <a:tcPr marL="109728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03057"/>
                          </a:solidFill>
                          <a:latin typeface="Segoe UI"/>
                        </a:rPr>
                        <a:t>Excel / CSV en SharePoint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  <a:latin typeface="Segoe UI"/>
                        </a:rPr>
                        <a:t>Donde viven los datos del equipo, en lugar de una base de datos SQL.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03057"/>
                          </a:solidFill>
                          <a:latin typeface="Segoe UI"/>
                        </a:rPr>
                        <a:t>Outlook</a:t>
                      </a:r>
                    </a:p>
                  </a:txBody>
                  <a:tcPr marL="10972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  <a:latin typeface="Segoe UI"/>
                        </a:rPr>
                        <a:t>Envío de correos a clientes con plantillas.</a:t>
                      </a:r>
                    </a:p>
                  </a:txBody>
                  <a:tcPr marL="109728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03057"/>
                          </a:solidFill>
                          <a:latin typeface="Segoe UI"/>
                        </a:rPr>
                        <a:t>Navegador integrado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  <a:latin typeface="Segoe UI"/>
                        </a:rPr>
                        <a:t>Muestra la página web del dashboard en la pantalla de Inicio.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03057"/>
                          </a:solidFill>
                          <a:latin typeface="Segoe UI"/>
                        </a:rPr>
                        <a:t>PyInstaller</a:t>
                      </a:r>
                    </a:p>
                  </a:txBody>
                  <a:tcPr marL="109728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  <a:latin typeface="Segoe UI"/>
                        </a:rPr>
                        <a:t>Empaqueta la aplicación como un programa .exe listo para usar.</a:t>
                      </a:r>
                    </a:p>
                  </a:txBody>
                  <a:tcPr marL="109728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03057"/>
                          </a:solidFill>
                          <a:latin typeface="Segoe UI"/>
                        </a:rPr>
                        <a:t>unittest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  <a:latin typeface="Segoe UI"/>
                        </a:rPr>
                        <a:t>Más de 1.000 pruebas automáticas sobre datos de prueba.</a:t>
                      </a:r>
                    </a:p>
                  </a:txBody>
                  <a:tcPr marL="109728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" y="347472"/>
            <a:ext cx="5486400" cy="384048"/>
          </a:xfrm>
          <a:prstGeom prst="rect">
            <a:avLst/>
          </a:prstGeom>
          <a:noFill/>
        </p:spPr>
        <p:txBody>
          <a:bodyPr wrap="square" rIns="73152" anchor="t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  <a:latin typeface="Segoe UI"/>
              </a:rPr>
              <a:t>Empresa Demo Sistema de Gestión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758952"/>
            <a:ext cx="4087368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splas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7" y="246888"/>
            <a:ext cx="713232" cy="713232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8705088" y="274320"/>
            <a:ext cx="0" cy="658368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9096" y="210312"/>
            <a:ext cx="3145536" cy="786384"/>
          </a:xfrm>
          <a:prstGeom prst="rect">
            <a:avLst/>
          </a:prstGeom>
        </p:spPr>
      </p:pic>
      <p:sp>
        <p:nvSpPr>
          <p:cNvPr id="7" name="Oval 6"/>
          <p:cNvSpPr/>
          <p:nvPr/>
        </p:nvSpPr>
        <p:spPr>
          <a:xfrm>
            <a:off x="5614416" y="1600200"/>
            <a:ext cx="960120" cy="960120"/>
          </a:xfrm>
          <a:prstGeom prst="ellipse">
            <a:avLst/>
          </a:prstGeom>
          <a:solidFill>
            <a:srgbClr val="003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Isosceles Triangle 7"/>
          <p:cNvSpPr/>
          <p:nvPr/>
        </p:nvSpPr>
        <p:spPr>
          <a:xfrm rot="5400000">
            <a:off x="5943600" y="1865376"/>
            <a:ext cx="384048" cy="429768"/>
          </a:xfrm>
          <a:prstGeom prst="triangl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0" y="2788920"/>
            <a:ext cx="12191695" cy="100584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4400" b="1" i="0">
                <a:solidFill>
                  <a:srgbClr val="003057"/>
                </a:solidFill>
                <a:latin typeface="Segoe UI"/>
              </a:rPr>
              <a:t>Demostración de la aplicación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184648" y="3931920"/>
            <a:ext cx="182880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" y="347472"/>
            <a:ext cx="5486400" cy="384048"/>
          </a:xfrm>
          <a:prstGeom prst="rect">
            <a:avLst/>
          </a:prstGeom>
          <a:noFill/>
        </p:spPr>
        <p:txBody>
          <a:bodyPr wrap="square" rIns="73152" anchor="t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  <a:latin typeface="Segoe UI"/>
              </a:rPr>
              <a:t>Empresa Demo Sistema de Gestión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758952"/>
            <a:ext cx="4087368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splas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7" y="246888"/>
            <a:ext cx="713232" cy="713232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8705088" y="274320"/>
            <a:ext cx="0" cy="658368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9096" y="210312"/>
            <a:ext cx="3145536" cy="7863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0" y="960120"/>
            <a:ext cx="12191695" cy="6858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3400" b="1" i="0">
                <a:solidFill>
                  <a:srgbClr val="003057"/>
                </a:solidFill>
                <a:latin typeface="Segoe UI"/>
              </a:rPr>
              <a:t>Resultados obtenidos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1965960"/>
            <a:ext cx="2624328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612648" y="1965960"/>
            <a:ext cx="2624328" cy="502920"/>
          </a:xfrm>
          <a:prstGeom prst="roundRect">
            <a:avLst>
              <a:gd name="adj" fmla="val 25000"/>
            </a:avLst>
          </a:prstGeom>
          <a:solidFill>
            <a:srgbClr val="003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73152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Centralizar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2697480"/>
            <a:ext cx="2441448" cy="6858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400" b="1" i="0">
                <a:solidFill>
                  <a:srgbClr val="1C6BBA"/>
                </a:solidFill>
                <a:latin typeface="Segoe UI"/>
              </a:rPr>
              <a:t>1 sistema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383280"/>
            <a:ext cx="2350008" cy="7315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1200" b="0" i="0">
                <a:solidFill>
                  <a:srgbClr val="1E293B"/>
                </a:solidFill>
                <a:latin typeface="Segoe UI"/>
              </a:rPr>
              <a:t>en lugar de 10 a 15 planillas dispersas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069848" y="4251960"/>
            <a:ext cx="1709928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04088" y="4526280"/>
            <a:ext cx="2441448" cy="6858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400" b="1" i="0">
                <a:solidFill>
                  <a:srgbClr val="1C6BBA"/>
                </a:solidFill>
                <a:latin typeface="Segoe UI"/>
              </a:rPr>
              <a:t>9 módulos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5212080"/>
            <a:ext cx="2350008" cy="7315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1200" b="0" i="0">
                <a:solidFill>
                  <a:srgbClr val="1E293B"/>
                </a:solidFill>
                <a:latin typeface="Segoe UI"/>
              </a:rPr>
              <a:t>de gestión sobre una misma base de camiones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92424" y="1965960"/>
            <a:ext cx="2624328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3392424" y="1965960"/>
            <a:ext cx="2624328" cy="502920"/>
          </a:xfrm>
          <a:prstGeom prst="roundRect">
            <a:avLst>
              <a:gd name="adj" fmla="val 25000"/>
            </a:avLst>
          </a:prstGeom>
          <a:solidFill>
            <a:srgbClr val="003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73152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Automatizar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83864" y="2697480"/>
            <a:ext cx="2441448" cy="6858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400" b="1" i="0">
                <a:solidFill>
                  <a:srgbClr val="1C6BBA"/>
                </a:solidFill>
                <a:latin typeface="Segoe UI"/>
              </a:rPr>
              <a:t>3 reportes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29584" y="3383280"/>
            <a:ext cx="2350008" cy="7315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1200" b="0" i="0">
                <a:solidFill>
                  <a:srgbClr val="1E293B"/>
                </a:solidFill>
                <a:latin typeface="Segoe UI"/>
              </a:rPr>
              <a:t>externos que se importan automáticamente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3849624" y="4251960"/>
            <a:ext cx="1709928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483864" y="4526280"/>
            <a:ext cx="2441448" cy="6858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400" b="1" i="0">
                <a:solidFill>
                  <a:srgbClr val="1C6BBA"/>
                </a:solidFill>
                <a:latin typeface="Segoe UI"/>
              </a:rPr>
              <a:t>Correos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29584" y="5212080"/>
            <a:ext cx="2350008" cy="7315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1200" b="0" i="0">
                <a:solidFill>
                  <a:srgbClr val="1E293B"/>
                </a:solidFill>
                <a:latin typeface="Segoe UI"/>
              </a:rPr>
              <a:t>a clientes generados con plantillas en Outlook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172200" y="1965960"/>
            <a:ext cx="2624328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6172200" y="1965960"/>
            <a:ext cx="2624328" cy="502920"/>
          </a:xfrm>
          <a:prstGeom prst="roundRect">
            <a:avLst>
              <a:gd name="adj" fmla="val 25000"/>
            </a:avLst>
          </a:prstGeom>
          <a:solidFill>
            <a:srgbClr val="003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73152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Rendimiento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63640" y="2697480"/>
            <a:ext cx="2441448" cy="6858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000" b="1" i="0">
                <a:solidFill>
                  <a:srgbClr val="1C6BBA"/>
                </a:solidFill>
                <a:latin typeface="Segoe UI"/>
              </a:rPr>
              <a:t>6,2 s → 0,9 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3383280"/>
            <a:ext cx="2350008" cy="7315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1200" b="0" i="0">
                <a:solidFill>
                  <a:srgbClr val="1E293B"/>
                </a:solidFill>
                <a:latin typeface="Segoe UI"/>
              </a:rPr>
              <a:t>tiempo de carga al abrir la aplicación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6629400" y="4251960"/>
            <a:ext cx="1709928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6263640" y="4526280"/>
            <a:ext cx="2441448" cy="6858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000" b="1" i="0">
                <a:solidFill>
                  <a:srgbClr val="1C6BBA"/>
                </a:solidFill>
                <a:latin typeface="Segoe UI"/>
              </a:rPr>
              <a:t>11–17 s → 0,5 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309360" y="5212080"/>
            <a:ext cx="2350008" cy="7315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1200" b="0" i="0">
                <a:solidFill>
                  <a:srgbClr val="1E293B"/>
                </a:solidFill>
                <a:latin typeface="Segoe UI"/>
              </a:rPr>
              <a:t>lectura de la base de clientes de Power BI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51976" y="1965960"/>
            <a:ext cx="2624328" cy="44348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CBD5E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/>
          </a:p>
        </p:txBody>
      </p:sp>
      <p:sp>
        <p:nvSpPr>
          <p:cNvPr id="30" name="Rounded Rectangle 29"/>
          <p:cNvSpPr/>
          <p:nvPr/>
        </p:nvSpPr>
        <p:spPr>
          <a:xfrm>
            <a:off x="8951976" y="1965960"/>
            <a:ext cx="2624328" cy="502920"/>
          </a:xfrm>
          <a:prstGeom prst="roundRect">
            <a:avLst>
              <a:gd name="adj" fmla="val 25000"/>
            </a:avLst>
          </a:prstGeom>
          <a:solidFill>
            <a:srgbClr val="0030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09728" rIns="73152" rtlCol="0" anchor="ctr"/>
          <a:lstStyle/>
          <a:p>
            <a:pPr algn="ctr"/>
            <a:r>
              <a:rPr sz="1500" b="1" i="0">
                <a:solidFill>
                  <a:srgbClr val="FFFFFF"/>
                </a:solidFill>
                <a:latin typeface="Segoe UI"/>
              </a:rPr>
              <a:t>Seguridad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043416" y="2697480"/>
            <a:ext cx="2441448" cy="6858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400" b="1" i="0">
                <a:solidFill>
                  <a:srgbClr val="1C6BBA"/>
                </a:solidFill>
                <a:latin typeface="Segoe UI"/>
              </a:rPr>
              <a:t>9 de 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089136" y="3383280"/>
            <a:ext cx="2350008" cy="7315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1200" b="0" i="0">
                <a:solidFill>
                  <a:srgbClr val="1E293B"/>
                </a:solidFill>
                <a:latin typeface="Segoe UI"/>
              </a:rPr>
              <a:t>operaciones de guardado con respaldo obligatorio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9409176" y="4251960"/>
            <a:ext cx="1709928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9043416" y="4526280"/>
            <a:ext cx="2441448" cy="68580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2400" b="1" i="0">
                <a:solidFill>
                  <a:srgbClr val="1C6BBA"/>
                </a:solidFill>
                <a:latin typeface="Segoe UI"/>
              </a:rPr>
              <a:t>+1.000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89136" y="5212080"/>
            <a:ext cx="2350008" cy="731520"/>
          </a:xfrm>
          <a:prstGeom prst="rect">
            <a:avLst/>
          </a:prstGeom>
          <a:noFill/>
        </p:spPr>
        <p:txBody>
          <a:bodyPr wrap="square" lIns="73152" rIns="73152" anchor="t">
            <a:spAutoFit/>
          </a:bodyPr>
          <a:lstStyle/>
          <a:p>
            <a:pPr algn="ctr"/>
            <a:r>
              <a:rPr sz="1200" b="0" i="0">
                <a:solidFill>
                  <a:srgbClr val="1E293B"/>
                </a:solidFill>
                <a:latin typeface="Segoe UI"/>
              </a:rPr>
              <a:t>pruebas automáticas sobre datos de prueba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2648" y="6473952"/>
            <a:ext cx="10972800" cy="292608"/>
          </a:xfrm>
          <a:prstGeom prst="rect">
            <a:avLst/>
          </a:prstGeom>
          <a:noFill/>
        </p:spPr>
        <p:txBody>
          <a:bodyPr wrap="square" lIns="73152" tIns="0" rIns="73152" anchor="t">
            <a:spAutoFit/>
          </a:bodyPr>
          <a:lstStyle/>
          <a:p>
            <a:pPr algn="ctr"/>
            <a:r>
              <a:rPr sz="1000" b="0" i="0">
                <a:solidFill>
                  <a:srgbClr val="64748B"/>
                </a:solidFill>
                <a:latin typeface="Segoe UI"/>
              </a:rPr>
              <a:t>Tiempos medidos durante el desarrollo con los datos reales del área, en modo solo lectura.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plas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7" y="246888"/>
            <a:ext cx="713232" cy="713232"/>
          </a:xfrm>
          <a:prstGeom prst="rect">
            <a:avLst/>
          </a:prstGeom>
        </p:spPr>
      </p:pic>
      <p:cxnSp>
        <p:nvCxnSpPr>
          <p:cNvPr id="3" name="Connector 2"/>
          <p:cNvCxnSpPr/>
          <p:nvPr/>
        </p:nvCxnSpPr>
        <p:spPr>
          <a:xfrm>
            <a:off x="8705088" y="274320"/>
            <a:ext cx="0" cy="658368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9096" y="210312"/>
            <a:ext cx="3145536" cy="78638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74320" y="109728"/>
            <a:ext cx="7498079" cy="118872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l"/>
            <a:r>
              <a:rPr sz="3000" b="1" i="0">
                <a:solidFill>
                  <a:srgbClr val="003057"/>
                </a:solidFill>
                <a:latin typeface="Segoe UI"/>
              </a:rPr>
              <a:t>Obstáculos presentados durante el desarrollo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417320"/>
          <a:ext cx="11201399" cy="51206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490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Ámbito</a:t>
                      </a:r>
                    </a:p>
                  </a:txBody>
                  <a:tcPr marR="73152" anchor="ctr">
                    <a:solidFill>
                      <a:srgbClr val="0030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Obstáculo presentado</a:t>
                      </a:r>
                    </a:p>
                  </a:txBody>
                  <a:tcPr marR="73152" anchor="ctr">
                    <a:solidFill>
                      <a:srgbClr val="0030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Impacto operativo</a:t>
                      </a:r>
                    </a:p>
                  </a:txBody>
                  <a:tcPr marR="73152" anchor="ctr">
                    <a:solidFill>
                      <a:srgbClr val="00305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Segoe UI"/>
                        </a:rPr>
                        <a:t>Solución / estrategia aplicada</a:t>
                      </a:r>
                    </a:p>
                  </a:txBody>
                  <a:tcPr marR="73152" anchor="ctr">
                    <a:solidFill>
                      <a:srgbClr val="0030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  <a:latin typeface="Segoe UI"/>
                        </a:rPr>
                        <a:t>Técnico</a:t>
                      </a:r>
                    </a:p>
                  </a:txBody>
                  <a:tcPr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03057"/>
                          </a:solidFill>
                          <a:latin typeface="Segoe UI"/>
                        </a:rPr>
                        <a:t>Restricción de ciberseguridad (sin SQL)</a:t>
                      </a:r>
                    </a:p>
                  </a:txBody>
                  <a:tcPr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E293B"/>
                          </a:solidFill>
                          <a:latin typeface="Segoe UI"/>
                        </a:rPr>
                        <a:t>No se podía usar una base de datos ni un servidor propio.</a:t>
                      </a:r>
                    </a:p>
                  </a:txBody>
                  <a:tcPr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E293B"/>
                          </a:solidFill>
                          <a:latin typeface="Segoe UI"/>
                        </a:rPr>
                        <a:t>Aplicación de escritorio que trabaja en memoria sobre archivos Excel/CSV compartidos en SharePoint.</a:t>
                      </a:r>
                    </a:p>
                  </a:txBody>
                  <a:tcPr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  <a:latin typeface="Segoe UI"/>
                        </a:rPr>
                        <a:t>Técnico</a:t>
                      </a:r>
                    </a:p>
                  </a:txBody>
                  <a:tcPr marR="7315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03057"/>
                          </a:solidFill>
                          <a:latin typeface="Segoe UI"/>
                        </a:rPr>
                        <a:t>Archivos bloqueados por OneDrive / SharePoint</a:t>
                      </a:r>
                    </a:p>
                  </a:txBody>
                  <a:tcPr marR="7315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E293B"/>
                          </a:solidFill>
                          <a:latin typeface="Segoe UI"/>
                        </a:rPr>
                        <a:t>Errores al guardar cuando otra persona o la sincronización tenía el archivo abierto.</a:t>
                      </a:r>
                    </a:p>
                  </a:txBody>
                  <a:tcPr marR="7315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E293B"/>
                          </a:solidFill>
                          <a:latin typeface="Segoe UI"/>
                        </a:rPr>
                        <a:t>Guardado sobre una copia temporal que reemplaza al original de una sola vez, reintentos y aviso al usuario.</a:t>
                      </a:r>
                    </a:p>
                  </a:txBody>
                  <a:tcPr marR="73152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  <a:latin typeface="Segoe UI"/>
                        </a:rPr>
                        <a:t>Técnico</a:t>
                      </a:r>
                    </a:p>
                  </a:txBody>
                  <a:tcPr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03057"/>
                          </a:solidFill>
                          <a:latin typeface="Segoe UI"/>
                        </a:rPr>
                        <a:t>Lentitud con miles de registros</a:t>
                      </a:r>
                    </a:p>
                  </a:txBody>
                  <a:tcPr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E293B"/>
                          </a:solidFill>
                          <a:latin typeface="Segoe UI"/>
                        </a:rPr>
                        <a:t>La pantalla se congelaba al cargar, buscar o guardar más de 12.000 camiones.</a:t>
                      </a:r>
                    </a:p>
                  </a:txBody>
                  <a:tcPr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E293B"/>
                          </a:solidFill>
                          <a:latin typeface="Segoe UI"/>
                        </a:rPr>
                        <a:t>Carga en segundo plano y optimizaciones medidas antes y después (carga de 6,2 s a 0,9 s).</a:t>
                      </a:r>
                    </a:p>
                  </a:txBody>
                  <a:tcPr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  <a:latin typeface="Segoe UI"/>
                        </a:rPr>
                        <a:t>Técnico</a:t>
                      </a:r>
                    </a:p>
                  </a:txBody>
                  <a:tcPr marR="7315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03057"/>
                          </a:solidFill>
                          <a:latin typeface="Segoe UI"/>
                        </a:rPr>
                        <a:t>Datos inconsistentes entre archivos</a:t>
                      </a:r>
                    </a:p>
                  </a:txBody>
                  <a:tcPr marR="7315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E293B"/>
                          </a:solidFill>
                          <a:latin typeface="Segoe UI"/>
                        </a:rPr>
                        <a:t>El mismo dato llegaba con distinto nombre o formato en cada planilla.</a:t>
                      </a:r>
                    </a:p>
                  </a:txBody>
                  <a:tcPr marR="7315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E293B"/>
                          </a:solidFill>
                          <a:latin typeface="Segoe UI"/>
                        </a:rPr>
                        <a:t>Limpieza automática al cargar y llaves comunes (VIN y CDB) para unir la información.</a:t>
                      </a:r>
                    </a:p>
                  </a:txBody>
                  <a:tcPr marR="73152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  <a:latin typeface="Segoe UI"/>
                        </a:rPr>
                        <a:t>Gestión</a:t>
                      </a:r>
                    </a:p>
                  </a:txBody>
                  <a:tcPr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03057"/>
                          </a:solidFill>
                          <a:latin typeface="Segoe UI"/>
                        </a:rPr>
                        <a:t>Coordinación híbrida (Empresa Demo vs. Duoc UC)</a:t>
                      </a:r>
                    </a:p>
                  </a:txBody>
                  <a:tcPr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E293B"/>
                          </a:solidFill>
                          <a:latin typeface="Segoe UI"/>
                        </a:rPr>
                        <a:t>Felipe trabajaba presencialmente en Empresa Demo mientras Integrante B lideraba la gobernanza documental en Duoc UC.</a:t>
                      </a:r>
                    </a:p>
                  </a:txBody>
                  <a:tcPr marR="7315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E293B"/>
                          </a:solidFill>
                          <a:latin typeface="Segoe UI"/>
                        </a:rPr>
                        <a:t>Comunicación continua, sincronizaciones periódicas y ceremonias ágiles.</a:t>
                      </a:r>
                    </a:p>
                  </a:txBody>
                  <a:tcPr marR="7315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77240">
                <a:tc>
                  <a:txBody>
                    <a:bodyPr/>
                    <a:lstStyle/>
                    <a:p>
                      <a:r>
                        <a:rPr sz="1200" b="0" i="0">
                          <a:solidFill>
                            <a:srgbClr val="1E293B"/>
                          </a:solidFill>
                          <a:latin typeface="Segoe UI"/>
                        </a:rPr>
                        <a:t>Gestión</a:t>
                      </a:r>
                    </a:p>
                  </a:txBody>
                  <a:tcPr marR="7315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 i="0">
                          <a:solidFill>
                            <a:srgbClr val="003057"/>
                          </a:solidFill>
                          <a:latin typeface="Segoe UI"/>
                        </a:rPr>
                        <a:t>Cambios en reglas de negocio y alcance</a:t>
                      </a:r>
                    </a:p>
                  </a:txBody>
                  <a:tcPr marR="7315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E293B"/>
                          </a:solidFill>
                          <a:latin typeface="Segoe UI"/>
                        </a:rPr>
                        <a:t>Reglas que se ajustaban con el uso; el dashboard pasó a ser una página web de otro practicante.</a:t>
                      </a:r>
                    </a:p>
                  </a:txBody>
                  <a:tcPr marR="73152" anchor="ctr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0" i="0">
                          <a:solidFill>
                            <a:srgbClr val="1E293B"/>
                          </a:solidFill>
                          <a:latin typeface="Segoe UI"/>
                        </a:rPr>
                        <a:t>Refinamiento del backlog con la Product Owner y control formal de cambios.</a:t>
                      </a:r>
                    </a:p>
                  </a:txBody>
                  <a:tcPr marR="73152" anchor="ctr"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37160" y="347472"/>
            <a:ext cx="5486400" cy="384048"/>
          </a:xfrm>
          <a:prstGeom prst="rect">
            <a:avLst/>
          </a:prstGeom>
          <a:noFill/>
        </p:spPr>
        <p:txBody>
          <a:bodyPr wrap="square" rIns="73152" anchor="t">
            <a:spAutoFit/>
          </a:bodyPr>
          <a:lstStyle/>
          <a:p>
            <a:pPr algn="l"/>
            <a:r>
              <a:rPr sz="1600" b="0" i="0">
                <a:solidFill>
                  <a:srgbClr val="595959"/>
                </a:solidFill>
                <a:latin typeface="Segoe UI"/>
              </a:rPr>
              <a:t>Empresa Demo Sistema de Gestión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0" y="758952"/>
            <a:ext cx="4087368" cy="0"/>
          </a:xfrm>
          <a:prstGeom prst="line">
            <a:avLst/>
          </a:prstGeom>
          <a:ln w="12700">
            <a:solidFill>
              <a:srgbClr val="E2E8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splash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82127" y="246888"/>
            <a:ext cx="713232" cy="713232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8705088" y="274320"/>
            <a:ext cx="0" cy="658368"/>
          </a:xfrm>
          <a:prstGeom prst="line">
            <a:avLst/>
          </a:prstGeom>
          <a:ln w="12700">
            <a:solidFill>
              <a:srgbClr val="CBD5E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69096" y="210312"/>
            <a:ext cx="3145536" cy="786384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0" y="2743200"/>
            <a:ext cx="12191695" cy="1554480"/>
          </a:xfrm>
          <a:prstGeom prst="rect">
            <a:avLst/>
          </a:prstGeom>
          <a:noFill/>
        </p:spPr>
        <p:txBody>
          <a:bodyPr wrap="square" lIns="73152" rIns="73152" anchor="ctr">
            <a:spAutoFit/>
          </a:bodyPr>
          <a:lstStyle/>
          <a:p>
            <a:pPr algn="ctr"/>
            <a:r>
              <a:rPr sz="4400" b="0" i="0">
                <a:solidFill>
                  <a:srgbClr val="003057"/>
                </a:solidFill>
                <a:latin typeface="Segoe UI"/>
              </a:rPr>
              <a:t>Muchas gracias por su atención</a:t>
            </a:r>
          </a:p>
          <a:p>
            <a:pPr algn="ctr">
              <a:spcBef>
                <a:spcPts val="600"/>
              </a:spcBef>
            </a:pPr>
            <a:r>
              <a:rPr sz="3200" b="0" i="0">
                <a:solidFill>
                  <a:srgbClr val="1C6BBA"/>
                </a:solidFill>
                <a:latin typeface="Segoe UI"/>
              </a:rPr>
              <a:t>¿Preguntas?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184648" y="4526280"/>
            <a:ext cx="1828800" cy="0"/>
          </a:xfrm>
          <a:prstGeom prst="line">
            <a:avLst/>
          </a:prstGeom>
          <a:ln w="25400">
            <a:solidFill>
              <a:srgbClr val="2563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19540963-e559-4020-8a90-fe8a502c2801}" enabled="1" method="Standard" siteId="{f25493ae-1c98-41d7-8a33-0be75f5fe603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2900</Words>
  <Application>Microsoft Office PowerPoint</Application>
  <PresentationFormat>Widescreen</PresentationFormat>
  <Paragraphs>413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Segoe UI</vt:lpstr>
      <vt:lpstr>Arial</vt:lpstr>
      <vt:lpstr>Calibri</vt:lpstr>
      <vt:lpstr>Tema de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cp:lastModifiedBy>Felipe Monsalve</cp:lastModifiedBy>
  <cp:revision>1</cp:revision>
  <dcterms:created xsi:type="dcterms:W3CDTF">2023-10-28T21:12:11Z</dcterms:created>
  <dcterms:modified xsi:type="dcterms:W3CDTF">2026-10-01T20:33:53Z</dcterms:modified>
</cp:coreProperties>
</file>