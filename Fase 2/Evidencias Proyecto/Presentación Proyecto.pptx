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9" r:id="rId3"/>
    <p:sldId id="262" r:id="rId4"/>
    <p:sldId id="265" r:id="rId5"/>
    <p:sldId id="277" r:id="rId6"/>
    <p:sldId id="267" r:id="rId7"/>
    <p:sldId id="273" r:id="rId8"/>
    <p:sldId id="275" r:id="rId9"/>
    <p:sldId id="274" r:id="rId10"/>
    <p:sldId id="276" r:id="rId11"/>
    <p:sldId id="272" r:id="rId12"/>
    <p:sldId id="263" r:id="rId13"/>
    <p:sldId id="266" r:id="rId14"/>
    <p:sldId id="270" r:id="rId15"/>
    <p:sldId id="271" r:id="rId16"/>
  </p:sldIdLst>
  <p:sldSz cx="12192000" cy="6858000"/>
  <p:notesSz cx="6858000" cy="9144000"/>
  <p:embeddedFontLst>
    <p:embeddedFont>
      <p:font typeface="Segoe UI" panose="020B0502040204020203"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gVqUjjyhyITIqzF0EAJq4i3IfC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DA1C82-3BD5-4FBE-BF4D-7157B478B294}">
  <a:tblStyle styleId="{9BDA1C82-3BD5-4FBE-BF4D-7157B478B29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[Integrante B · 10 s] Buenos días. Somos Integrante B y Felipe Monsalve. Les presentamos el proyecto Empresa Demo Sistema de Gestión, desarrollado para el área de Servicios Conectados de Empresa Demo.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[Integrante B · 35 s] El área de Servicios Conectados administra más de 12.000 camiones. Su información estaba repartida en entre 10 y 15 planillas de Excel, cada una con su propio formato y su responsable. Los cruces de datos y los correos se hacían a mano, había riesgo de error y no existía respaldo ni registro de cambios. Además, la empresa no permite usar bases de datos SQL. Además, al reactivar un camión se perdía el contrato anterior. Nuestra propuesta es una aplicación de escritorio que usa los mismos archivos compartidos, los junta en una base central donde cada fila es un contrato, y automatiza las tareas repetitivas.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[Integrante B · 30 s] Trabajamos con una metodología mixta. Para el desarrollo usamos Scrum: sprints de dos semanas, una lista de requerimientos priorizada junto a la Product Owner de Empresa Demo y la validación de cada entrega con ella. Para la gestión usamos PMBOK: definimos el alcance, controlamos los riesgos, registramos cada cambio solicitado y llevamos un plan de pruebas. Yo me encargué de la gestión y la documentación, y Felipe del desarrollo. Ahora Felipe les explica cómo está construido el sistema.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[Felipe · 40 s] La aplicación se instala en el computador del usuario y tiene seis pantallas: Inicio, Clientes y Flota, Comercial, Operaciones, Ingresos y Conciliación, y Administración. Por dentro, carga los archivos en segundo plano para no congelar la pantalla y trabaja en memoria, por eso las búsquedas son inmediatas. Un vigilante avisa si otra persona modifica un archivo. Se conecta con SharePoint, Power BI y Outlook, y guarda todo en una carpeta compartida. Elegimos esta arquitectura porque no necesita servidor ni base de datos, algo que la empresa no permite.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[Felipe · 40 s] El backend está hecho en Python. Usamos pandas para cruzar y filtrar los datos en memoria, y openpyxl para escribir en los Excel sin perder su formato. El frontend usa PyQt6, que permite crear ventanas, tablas y botones de escritorio, y un navegador integrado para mostrar el dashboard web que desarrolla otro practicante. No hay un servidor propio: nos integramos con Outlook para enviar correos con plantillas e importamos reportes desde SharePoint y Power BI. La base de datos son archivos Excel y CSV, por la restricción de ciberseguridad. Para entregar el sistema usamos PyInstaller, que genera el ejecutable, y unittest, con más de mil pruebas automáticas.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[Felipe · 30 s] Los datos llegaban desde siete archivos de distintos dueños, con el mismo dato escrito de formas diferentes. Los unimos en una base central donde cada fila es un contrato con su número, el ID. Antes el camión, con su VIN, era la llave principal, y por eso al reactivar un camión se pisaba el contrato anterior. Ahora el ID identifica al contrato, el VIN al camión y el CDB al cliente. Con ellos se conectan las provisiones, los contratos de mantenimiento, los contactos y la base de clientes, y desde ahí se generan los correos, el reporte de instalaciones y los casos por revisar. El ID ya funciona en Comercial; las otras pantallas todavía trabajan por VIN.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[Felipe · 30 s] Antes de cada guardado la aplicación hace un respaldo, y si el respaldo falla, no guarda. Escribe primero en una copia temporal y luego reemplaza el original, así un corte no daña el archivo. Cada cambio queda en un historial y se puede restaurar un respaldo. Si OneDrive o una persona tiene el archivo abierto, la aplicación avisa y permite reintentar. Lo que falta: no tiene inicio de sesión propio, el acceso depende de los permisos de SharePoint, y no impide que dos personas editen a la vez, solo avisa del cambio.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[Integrante B · 30 s] El valor del proyecto es reemplazar entre 10 y 15 planillas por un solo sistema y reducir el trabajo manual y los errores. Lo usa el equipo de Servicios Conectados, en Comercial, Operaciones y Finanzas, y sus clientes reciben correos más ordenados. Se implementa con un solo ejecutable sobre la carpeta compartida que el equipo ya usa, sin servidor nuevo. Para crecer, se pueden agregar módulos para otras áreas y, si la política de ciberseguridad lo permite, pasar a una base de datos.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[Integrante B y Felipe · 40 s] IRMA: Hoy el sistema funciona con sus nueve módulos, la importación de reportes, los correos y las medidas de seguridad. Esta semana y la próxima terminamos de ajustar la app, que queda lista el 23 de octubre. Desde el 26 se ajusta el dashboard y la semana del 2 de noviembre se integra con la app. Hasta el 15 de noviembre hacemos pruebas con usuarios y corregimos lo que se encuentre. Desde el 16, nos dedicamos a la documentación y a propuestas de mejora.
FELIPE: En lo técnico, la pantalla Comercial ya trabaja por contrato, con baja, renovación y contrato nuevo. Faltan Operaciones, General e Ingresos y Conciliación, la vista de contratos anteriores y corregir la sincronización temporal con el archivo de la contraparte comercial, que hoy borra lo que no está en ese archivo. También falta definir con el área algunos datos de Facturación Manual. Ahora les mostramos la aplicación funcionando.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[Felipe · 2 min] 1) Buscar (30 s): "En Comercial busco un camión y veo en una sola fila el cliente, el plan, el estado y el contrato."
2) Importar (30 s): "Cargo un reporte de provisiones nuevas; entran sin copiar datos a mano."
3) Guardar (30 s): "Edito un dato y guardo. La aplicación crea el respaldo y el cambio queda en el Historial."
4) Contactar (30 s): "Genero un correo con la plantilla de Outlook para los contactos del cliente." (mostrar el borrador, no enviarlo)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[Integrante B · 15 s] Con esto cerramos. Logramos reunir la información de la flota en una sola aplicación, automatizar tareas manuales y proteger los datos, respetando las restricciones de la empresa. Muchas gracias. Quedamos atentos a sus preguntas.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s-CL"/>
              <a:t>(Respaldo) Cronograma semana a semana desde el 13-07, con el estado al jueves 15-10 (semana S14). La app queda lista entre el 13 y el 23 de octubre. El dashboard se ajusta desde el 26-10 y su integración con la app es la semana del 2-11. Hasta el 15-11 se hacen pruebas con usuarios. Desde el 16-11 solo documentación y propuestas de mejora, por ejemplo una base de datos en un servidor de Empresa Demo.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(40 s) Cómo llegaban los datos: siete archivos de distintos dueños, con el mismo dato escrito de formas distintas.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(40 s) Resultados ligados a cada objetivo específico.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(40 s) Obstáculos técnicos y de gestión, y cómo se resolvieron.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3"/>
          <a:stretch>
            <a:fillRect/>
          </a:stretch>
        </p:blipFill>
        <p:spPr>
          <a:xfrm>
            <a:off x="8028431" y="493776"/>
            <a:ext cx="3145536" cy="786384"/>
          </a:xfrm>
          <a:prstGeom prst="rect">
            <a:avLst/>
          </a:prstGeom>
        </p:spPr>
      </p:pic>
      <p:pic>
        <p:nvPicPr>
          <p:cNvPr id="3" name="Picture 2" descr="splash_logo.png"/>
          <p:cNvPicPr>
            <a:picLocks noChangeAspect="1"/>
          </p:cNvPicPr>
          <p:nvPr/>
        </p:nvPicPr>
        <p:blipFill>
          <a:blip r:embed="rId4"/>
          <a:stretch>
            <a:fillRect/>
          </a:stretch>
        </p:blipFill>
        <p:spPr>
          <a:xfrm>
            <a:off x="685800" y="457200"/>
            <a:ext cx="868680" cy="868680"/>
          </a:xfrm>
          <a:prstGeom prst="rect">
            <a:avLst/>
          </a:prstGeom>
        </p:spPr>
      </p:pic>
      <p:sp>
        <p:nvSpPr>
          <p:cNvPr id="4" name="TextBox 3"/>
          <p:cNvSpPr txBox="1"/>
          <p:nvPr/>
        </p:nvSpPr>
        <p:spPr>
          <a:xfrm>
            <a:off x="0" y="1783080"/>
            <a:ext cx="12191695" cy="822960"/>
          </a:xfrm>
          <a:prstGeom prst="rect">
            <a:avLst/>
          </a:prstGeom>
          <a:noFill/>
        </p:spPr>
        <p:txBody>
          <a:bodyPr wrap="square" lIns="73152" rIns="73152" anchor="t">
            <a:spAutoFit/>
          </a:bodyPr>
          <a:lstStyle/>
          <a:p>
            <a:pPr algn="ctr"/>
            <a:r>
              <a:rPr sz="4000" b="1" i="0">
                <a:solidFill>
                  <a:srgbClr val="003057"/>
                </a:solidFill>
                <a:latin typeface="Segoe UI"/>
              </a:rPr>
              <a:t>PROYECTO EMPRESA SISTEMA DE GESTIÓN</a:t>
            </a:r>
          </a:p>
        </p:txBody>
      </p:sp>
      <p:sp>
        <p:nvSpPr>
          <p:cNvPr id="5" name="TextBox 4"/>
          <p:cNvSpPr txBox="1"/>
          <p:nvPr/>
        </p:nvSpPr>
        <p:spPr>
          <a:xfrm>
            <a:off x="0" y="2606040"/>
            <a:ext cx="12191695" cy="457200"/>
          </a:xfrm>
          <a:prstGeom prst="rect">
            <a:avLst/>
          </a:prstGeom>
          <a:noFill/>
        </p:spPr>
        <p:txBody>
          <a:bodyPr wrap="square" lIns="73152" rIns="73152" anchor="t">
            <a:spAutoFit/>
          </a:bodyPr>
          <a:lstStyle/>
          <a:p>
            <a:pPr algn="ctr"/>
            <a:r>
              <a:rPr sz="2000" b="0" i="0">
                <a:solidFill>
                  <a:srgbClr val="475569"/>
                </a:solidFill>
                <a:latin typeface="Segoe UI"/>
              </a:rPr>
              <a:t>Plataforma de escritorio para centralizar la gestión de la flota conectada de Empresa Demo</a:t>
            </a:r>
          </a:p>
        </p:txBody>
      </p:sp>
      <p:cxnSp>
        <p:nvCxnSpPr>
          <p:cNvPr id="6" name="Connector 5"/>
          <p:cNvCxnSpPr/>
          <p:nvPr/>
        </p:nvCxnSpPr>
        <p:spPr>
          <a:xfrm>
            <a:off x="5184648" y="3310128"/>
            <a:ext cx="18288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0" y="3520440"/>
            <a:ext cx="12191695" cy="411480"/>
          </a:xfrm>
          <a:prstGeom prst="rect">
            <a:avLst/>
          </a:prstGeom>
          <a:noFill/>
        </p:spPr>
        <p:txBody>
          <a:bodyPr wrap="square" lIns="73152" rIns="73152" anchor="t">
            <a:spAutoFit/>
          </a:bodyPr>
          <a:lstStyle/>
          <a:p>
            <a:pPr algn="ctr"/>
            <a:r>
              <a:rPr sz="1500" b="0" i="0">
                <a:solidFill>
                  <a:srgbClr val="64748B"/>
                </a:solidFill>
                <a:latin typeface="Segoe UI"/>
              </a:rPr>
              <a:t>Área de Servicios Conectados  ·  Proyecto Capstone 2026</a:t>
            </a:r>
          </a:p>
        </p:txBody>
      </p:sp>
      <p:pic>
        <p:nvPicPr>
          <p:cNvPr id="8" name="Picture 7" descr="sidebar.jpg"/>
          <p:cNvPicPr>
            <a:picLocks noChangeAspect="1"/>
          </p:cNvPicPr>
          <p:nvPr/>
        </p:nvPicPr>
        <p:blipFill>
          <a:blip r:embed="rId5"/>
          <a:srcRect t="30000" b="5000"/>
          <a:stretch>
            <a:fillRect/>
          </a:stretch>
        </p:blipFill>
        <p:spPr>
          <a:xfrm>
            <a:off x="0" y="4343400"/>
            <a:ext cx="12191695" cy="2514600"/>
          </a:xfrm>
          <a:prstGeom prst="rect">
            <a:avLst/>
          </a:prstGeom>
        </p:spPr>
      </p:pic>
      <p:sp>
        <p:nvSpPr>
          <p:cNvPr id="9" name="Rectangle 8"/>
          <p:cNvSpPr/>
          <p:nvPr/>
        </p:nvSpPr>
        <p:spPr>
          <a:xfrm>
            <a:off x="0" y="4343400"/>
            <a:ext cx="12191695" cy="2514600"/>
          </a:xfrm>
          <a:prstGeom prst="rect">
            <a:avLst/>
          </a:prstGeom>
          <a:solidFill>
            <a:srgbClr val="003057">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989320"/>
            <a:ext cx="11064240" cy="548640"/>
          </a:xfrm>
          <a:prstGeom prst="rect">
            <a:avLst/>
          </a:prstGeom>
          <a:noFill/>
        </p:spPr>
        <p:txBody>
          <a:bodyPr wrap="square" lIns="73152" rIns="73152" anchor="ctr">
            <a:spAutoFit/>
          </a:bodyPr>
          <a:lstStyle/>
          <a:p>
            <a:pPr algn="l"/>
            <a:r>
              <a:rPr sz="1500" b="1" i="0">
                <a:solidFill>
                  <a:srgbClr val="FFFFFF"/>
                </a:solidFill>
                <a:latin typeface="Segoe UI"/>
              </a:rPr>
              <a:t>Felipe Monsalve</a:t>
            </a:r>
            <a:r>
              <a:rPr sz="1500" b="0" i="0">
                <a:solidFill>
                  <a:srgbClr val="DCE6F2"/>
                </a:solidFill>
                <a:latin typeface="Segoe UI"/>
              </a:rPr>
              <a:t>   ·   </a:t>
            </a:r>
            <a:r>
              <a:rPr sz="1500" b="1" i="0">
                <a:solidFill>
                  <a:srgbClr val="FFFFFF"/>
                </a:solidFill>
                <a:latin typeface="Segoe UI"/>
              </a:rPr>
              <a:t>Integrante B</a:t>
            </a:r>
            <a:r>
              <a:rPr sz="1300" b="0" i="0">
                <a:solidFill>
                  <a:srgbClr val="DCE6F2"/>
                </a:solidFill>
                <a:latin typeface="Segoe UI"/>
              </a:rPr>
              <a:t>        Escuela de Informática y Telecomunicaciones · Duoc UC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995243"/>
            <a:ext cx="12191695" cy="615553"/>
          </a:xfrm>
          <a:prstGeom prst="rect">
            <a:avLst/>
          </a:prstGeom>
          <a:noFill/>
        </p:spPr>
        <p:txBody>
          <a:bodyPr wrap="square" lIns="73152" rIns="73152" anchor="ctr">
            <a:spAutoFit/>
          </a:bodyPr>
          <a:lstStyle/>
          <a:p>
            <a:pPr algn="ctr"/>
            <a:r>
              <a:rPr lang="es-MX" sz="3400" b="1" i="0">
                <a:solidFill>
                  <a:srgbClr val="003057"/>
                </a:solidFill>
                <a:latin typeface="Segoe UI"/>
              </a:rPr>
              <a:t>PROBLEMÁTICA Y SOLUCIÓN</a:t>
            </a:r>
            <a:endParaRPr sz="3400" b="1" i="0">
              <a:solidFill>
                <a:srgbClr val="003057"/>
              </a:solidFill>
              <a:latin typeface="Segoe UI"/>
            </a:endParaRPr>
          </a:p>
        </p:txBody>
      </p:sp>
      <p:sp>
        <p:nvSpPr>
          <p:cNvPr id="8" name="Rounded Rectangle 7"/>
          <p:cNvSpPr/>
          <p:nvPr/>
        </p:nvSpPr>
        <p:spPr>
          <a:xfrm>
            <a:off x="502920" y="2011680"/>
            <a:ext cx="4617720" cy="4434840"/>
          </a:xfrm>
          <a:prstGeom prst="roundRect">
            <a:avLst>
              <a:gd name="adj" fmla="val 10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rtlCol="0" anchor="t"/>
          <a:lstStyle/>
          <a:p>
            <a:pPr algn="ctr"/>
            <a:r>
              <a:rPr sz="2400" b="0" i="0">
                <a:solidFill>
                  <a:srgbClr val="003057"/>
                </a:solidFill>
                <a:latin typeface="Segoe UI"/>
              </a:rPr>
              <a:t>Problemática</a:t>
            </a:r>
          </a:p>
          <a:p>
            <a:pPr algn="l">
              <a:spcBef>
                <a:spcPts val="1000"/>
              </a:spcBef>
            </a:pPr>
            <a:r>
              <a:rPr sz="1300" b="1" i="0">
                <a:solidFill>
                  <a:srgbClr val="1E293B"/>
                </a:solidFill>
                <a:latin typeface="Segoe UI"/>
              </a:rPr>
              <a:t>Información dispersa</a:t>
            </a:r>
          </a:p>
          <a:p>
            <a:pPr marL="164592" indent="-164592" algn="l">
              <a:buClr>
                <a:srgbClr val="2563EB"/>
              </a:buClr>
              <a:buChar char="-"/>
            </a:pPr>
            <a:r>
              <a:rPr sz="1200" b="0" i="0">
                <a:solidFill>
                  <a:srgbClr val="1E293B"/>
                </a:solidFill>
                <a:latin typeface="Segoe UI"/>
              </a:rPr>
              <a:t>Entre 10 y 15 planillas Excel independientes, cada una con su propio formato y responsable.</a:t>
            </a:r>
          </a:p>
          <a:p>
            <a:pPr algn="l">
              <a:spcBef>
                <a:spcPts val="600"/>
              </a:spcBef>
            </a:pPr>
            <a:r>
              <a:rPr sz="1300" b="1" i="0">
                <a:solidFill>
                  <a:srgbClr val="1E293B"/>
                </a:solidFill>
                <a:latin typeface="Segoe UI"/>
              </a:rPr>
              <a:t>Trabajo manual</a:t>
            </a:r>
          </a:p>
          <a:p>
            <a:pPr marL="164592" indent="-164592" algn="l">
              <a:buClr>
                <a:srgbClr val="2563EB"/>
              </a:buClr>
              <a:buChar char="-"/>
            </a:pPr>
            <a:r>
              <a:rPr sz="1200" b="0" i="0">
                <a:solidFill>
                  <a:srgbClr val="1E293B"/>
                </a:solidFill>
                <a:latin typeface="Segoe UI"/>
              </a:rPr>
              <a:t>Cruces de datos, fórmulas y correos hechos a mano, con alto riesgo de error humano.</a:t>
            </a:r>
          </a:p>
          <a:p>
            <a:pPr algn="l">
              <a:spcBef>
                <a:spcPts val="600"/>
              </a:spcBef>
            </a:pPr>
            <a:r>
              <a:rPr sz="1300" b="1" i="0">
                <a:solidFill>
                  <a:srgbClr val="1E293B"/>
                </a:solidFill>
                <a:latin typeface="Segoe UI"/>
              </a:rPr>
              <a:t>Sin control de cambios</a:t>
            </a:r>
          </a:p>
          <a:p>
            <a:pPr marL="164592" indent="-164592" algn="l">
              <a:buClr>
                <a:srgbClr val="2563EB"/>
              </a:buClr>
              <a:buChar char="-"/>
            </a:pPr>
            <a:r>
              <a:rPr lang="es-CL" sz="1200" b="0" i="0">
                <a:solidFill>
                  <a:srgbClr val="1E293B"/>
                </a:solidFill>
                <a:latin typeface="Segoe UI"/>
              </a:rPr>
              <a:t>Sin respaldos ni registro de cambios; al reactivar un camión se perdía el contrato anterior.</a:t>
            </a:r>
            <a:endParaRPr sz="1200" b="0" i="0">
              <a:solidFill>
                <a:srgbClr val="1E293B"/>
              </a:solidFill>
              <a:latin typeface="Segoe UI"/>
            </a:endParaRPr>
          </a:p>
          <a:p>
            <a:pPr algn="l">
              <a:spcBef>
                <a:spcPts val="600"/>
              </a:spcBef>
            </a:pPr>
            <a:r>
              <a:rPr sz="1300" b="1" i="0">
                <a:solidFill>
                  <a:srgbClr val="1E293B"/>
                </a:solidFill>
                <a:latin typeface="Segoe UI"/>
              </a:rPr>
              <a:t>Restricción de ciberseguridad</a:t>
            </a:r>
          </a:p>
          <a:p>
            <a:pPr marL="164592" indent="-164592" algn="l">
              <a:buClr>
                <a:srgbClr val="2563EB"/>
              </a:buClr>
              <a:buChar char="-"/>
            </a:pPr>
            <a:r>
              <a:rPr sz="1200" b="0" i="0">
                <a:solidFill>
                  <a:srgbClr val="1E293B"/>
                </a:solidFill>
                <a:latin typeface="Segoe UI"/>
              </a:rPr>
              <a:t>Prohibido usar bases de datos SQL o servidores propios: solo Excel y SharePoint.</a:t>
            </a:r>
          </a:p>
        </p:txBody>
      </p:sp>
      <p:sp>
        <p:nvSpPr>
          <p:cNvPr id="9" name="Right Arrow 8"/>
          <p:cNvSpPr/>
          <p:nvPr/>
        </p:nvSpPr>
        <p:spPr>
          <a:xfrm>
            <a:off x="5413248" y="3703320"/>
            <a:ext cx="1051560" cy="777240"/>
          </a:xfrm>
          <a:prstGeom prst="rightArrow">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766560" y="2011680"/>
            <a:ext cx="4983480" cy="4434840"/>
          </a:xfrm>
          <a:prstGeom prst="roundRect">
            <a:avLst>
              <a:gd name="adj" fmla="val 10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228600" tIns="137160" rIns="182880" rtlCol="0" anchor="t"/>
          <a:lstStyle/>
          <a:p>
            <a:pPr algn="ctr"/>
            <a:r>
              <a:rPr sz="2400" b="0" i="0">
                <a:solidFill>
                  <a:srgbClr val="003057"/>
                </a:solidFill>
                <a:latin typeface="Segoe UI"/>
              </a:rPr>
              <a:t>Propuesta de solución</a:t>
            </a:r>
          </a:p>
          <a:p>
            <a:pPr algn="l">
              <a:spcBef>
                <a:spcPts val="1000"/>
              </a:spcBef>
            </a:pPr>
            <a:r>
              <a:rPr sz="1300" b="1" i="0">
                <a:solidFill>
                  <a:srgbClr val="1E293B"/>
                </a:solidFill>
                <a:latin typeface="Segoe UI"/>
              </a:rPr>
              <a:t>Aplicación de escritorio para Windows</a:t>
            </a:r>
          </a:p>
          <a:p>
            <a:pPr marL="164592" indent="-164592" algn="l">
              <a:buClr>
                <a:srgbClr val="2563EB"/>
              </a:buClr>
              <a:buChar char="-"/>
            </a:pPr>
            <a:r>
              <a:rPr sz="1200" b="0" i="0">
                <a:solidFill>
                  <a:srgbClr val="1E293B"/>
                </a:solidFill>
                <a:latin typeface="Segoe UI"/>
              </a:rPr>
              <a:t>Hecha en Python, trabaja sobre los mismos archivos compartidos en SharePoint.</a:t>
            </a:r>
          </a:p>
          <a:p>
            <a:pPr algn="l">
              <a:spcBef>
                <a:spcPts val="600"/>
              </a:spcBef>
            </a:pPr>
            <a:r>
              <a:rPr lang="es-MX" sz="1300" b="1" i="0">
                <a:solidFill>
                  <a:srgbClr val="1E293B"/>
                </a:solidFill>
                <a:latin typeface="Segoe UI"/>
              </a:rPr>
              <a:t>Una base central por contrato</a:t>
            </a:r>
            <a:endParaRPr sz="1300" b="1" i="0">
              <a:solidFill>
                <a:srgbClr val="1E293B"/>
              </a:solidFill>
              <a:latin typeface="Segoe UI"/>
            </a:endParaRPr>
          </a:p>
          <a:p>
            <a:pPr marL="164592" indent="-164592" algn="l">
              <a:buClr>
                <a:srgbClr val="2563EB"/>
              </a:buClr>
              <a:buChar char="-"/>
            </a:pPr>
            <a:r>
              <a:rPr lang="es-CL" sz="1200" b="0" i="0">
                <a:solidFill>
                  <a:srgbClr val="1E293B"/>
                </a:solidFill>
                <a:latin typeface="Segoe UI"/>
              </a:rPr>
              <a:t>Cada fila es un contrato con su N° Contrato (ID); provisiones, mantenimiento, contactos y clientes se conectan a ella.</a:t>
            </a:r>
            <a:endParaRPr sz="1200" b="0" i="0">
              <a:solidFill>
                <a:srgbClr val="1E293B"/>
              </a:solidFill>
              <a:latin typeface="Segoe UI"/>
            </a:endParaRPr>
          </a:p>
          <a:p>
            <a:pPr algn="l">
              <a:spcBef>
                <a:spcPts val="600"/>
              </a:spcBef>
            </a:pPr>
            <a:r>
              <a:rPr sz="1300" b="1" i="0">
                <a:solidFill>
                  <a:srgbClr val="1E293B"/>
                </a:solidFill>
                <a:latin typeface="Segoe UI"/>
              </a:rPr>
              <a:t>Procesos automáticos</a:t>
            </a:r>
          </a:p>
          <a:p>
            <a:pPr marL="164592" indent="-164592" algn="l">
              <a:buClr>
                <a:srgbClr val="2563EB"/>
              </a:buClr>
              <a:buChar char="-"/>
            </a:pPr>
            <a:r>
              <a:rPr sz="1200" b="0" i="0">
                <a:solidFill>
                  <a:srgbClr val="1E293B"/>
                </a:solidFill>
                <a:latin typeface="Segoe UI"/>
              </a:rPr>
              <a:t>Importación de reportes, cálculo de contratos y correos vía Outlook.</a:t>
            </a:r>
          </a:p>
          <a:p>
            <a:pPr algn="l">
              <a:spcBef>
                <a:spcPts val="600"/>
              </a:spcBef>
            </a:pPr>
            <a:r>
              <a:rPr sz="1300" b="1" i="0">
                <a:solidFill>
                  <a:srgbClr val="1E293B"/>
                </a:solidFill>
                <a:latin typeface="Segoe UI"/>
              </a:rPr>
              <a:t>Datos protegidos</a:t>
            </a:r>
          </a:p>
          <a:p>
            <a:pPr marL="164592" indent="-164592" algn="l">
              <a:buClr>
                <a:srgbClr val="2563EB"/>
              </a:buClr>
              <a:buChar char="-"/>
            </a:pPr>
            <a:r>
              <a:rPr sz="1200" b="0" i="0">
                <a:solidFill>
                  <a:srgbClr val="1E293B"/>
                </a:solidFill>
                <a:latin typeface="Segoe UI"/>
              </a:rPr>
              <a:t>Respaldo obligatorio antes de guardar, historial de cambios y aviso si otra persona modifica un archivo.</a:t>
            </a:r>
          </a:p>
          <a:p>
            <a:pPr algn="l">
              <a:spcBef>
                <a:spcPts val="600"/>
              </a:spcBef>
            </a:pPr>
            <a:r>
              <a:rPr sz="1300" b="1" i="0">
                <a:solidFill>
                  <a:srgbClr val="1E293B"/>
                </a:solidFill>
                <a:latin typeface="Segoe UI"/>
              </a:rPr>
              <a:t>Dashboard integrado</a:t>
            </a:r>
          </a:p>
          <a:p>
            <a:pPr marL="164592" indent="-164592" algn="l">
              <a:buClr>
                <a:srgbClr val="2563EB"/>
              </a:buClr>
              <a:buChar char="-"/>
            </a:pPr>
            <a:r>
              <a:rPr sz="1200" b="0" i="0">
                <a:solidFill>
                  <a:srgbClr val="1E293B"/>
                </a:solidFill>
                <a:latin typeface="Segoe UI"/>
              </a:rPr>
              <a:t>Muestra la página web de indicadores de Conectividad y Academia.</a:t>
            </a:r>
          </a:p>
        </p:txBody>
      </p:sp>
      <p:sp>
        <p:nvSpPr>
          <p:cNvPr id="11" name="Contexto">
            <a:extLst>
              <a:ext uri="{FF2B5EF4-FFF2-40B4-BE49-F238E27FC236}">
                <a16:creationId xmlns:a16="http://schemas.microsoft.com/office/drawing/2014/main" id="{07494E83-3C29-15F8-DD46-77E6ACE0EB6B}"/>
              </a:ext>
            </a:extLst>
          </p:cNvPr>
          <p:cNvSpPr txBox="1"/>
          <p:nvPr/>
        </p:nvSpPr>
        <p:spPr>
          <a:xfrm>
            <a:off x="508000" y="6502400"/>
            <a:ext cx="11239500" cy="261610"/>
          </a:xfrm>
          <a:prstGeom prst="rect">
            <a:avLst/>
          </a:prstGeom>
          <a:noFill/>
        </p:spPr>
        <p:txBody>
          <a:bodyPr vert="horz" rtlCol="0">
            <a:spAutoFit/>
          </a:bodyPr>
          <a:lstStyle/>
          <a:p>
            <a:pPr algn="ctr"/>
            <a:r>
              <a:rPr lang="es-CL" sz="1100">
                <a:solidFill>
                  <a:srgbClr val="64748B"/>
                </a:solidFill>
                <a:latin typeface="Segoe UI" panose="020B0502040204020203" pitchFamily="34" charset="0"/>
              </a:rPr>
              <a:t>Contexto: área de Servicios Conectados de Empresa Demo  ·  más de 12.000 camiones conectados  ·  usuarios en Comercial, Operaciones y Finanzas</a:t>
            </a:r>
            <a:endParaRPr lang="es-MX" sz="1100">
              <a:solidFill>
                <a:srgbClr val="64748B"/>
              </a:solidFill>
              <a:latin typeface="Segoe UI"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868680"/>
            <a:ext cx="12191695" cy="685800"/>
          </a:xfrm>
          <a:prstGeom prst="rect">
            <a:avLst/>
          </a:prstGeom>
          <a:noFill/>
        </p:spPr>
        <p:txBody>
          <a:bodyPr wrap="square" lIns="73152" rIns="73152" anchor="ctr">
            <a:spAutoFit/>
          </a:bodyPr>
          <a:lstStyle/>
          <a:p>
            <a:pPr algn="ctr"/>
            <a:r>
              <a:rPr sz="3200" b="1" i="0">
                <a:solidFill>
                  <a:srgbClr val="003057"/>
                </a:solidFill>
                <a:latin typeface="Segoe UI"/>
              </a:rPr>
              <a:t>Metodología de trabajo para el desarrollo del proyecto</a:t>
            </a:r>
          </a:p>
        </p:txBody>
      </p:sp>
      <p:sp>
        <p:nvSpPr>
          <p:cNvPr id="8" name="Rounded Rectangle 7"/>
          <p:cNvSpPr/>
          <p:nvPr/>
        </p:nvSpPr>
        <p:spPr>
          <a:xfrm>
            <a:off x="804672" y="1691640"/>
            <a:ext cx="8595360" cy="777240"/>
          </a:xfrm>
          <a:prstGeom prst="roundRect">
            <a:avLst>
              <a:gd name="adj" fmla="val 12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600" b="1" i="0">
                <a:solidFill>
                  <a:srgbClr val="FFFFFF"/>
                </a:solidFill>
                <a:latin typeface="Segoe UI"/>
              </a:rPr>
              <a:t>METODOLOGÍA HÍBRIDA DE GESTIÓN</a:t>
            </a:r>
          </a:p>
          <a:p>
            <a:pPr algn="ctr"/>
            <a:r>
              <a:rPr sz="1300" b="0" i="0">
                <a:solidFill>
                  <a:srgbClr val="DCE6F2"/>
                </a:solidFill>
                <a:latin typeface="Segoe UI"/>
              </a:rPr>
              <a:t>Gobernanza del proyecto (PMBOK) + Agilidad en el desarrollo (Scrum)</a:t>
            </a:r>
          </a:p>
        </p:txBody>
      </p:sp>
      <p:sp>
        <p:nvSpPr>
          <p:cNvPr id="9" name="Rounded Rectangle 8"/>
          <p:cNvSpPr/>
          <p:nvPr/>
        </p:nvSpPr>
        <p:spPr>
          <a:xfrm>
            <a:off x="804672" y="2606040"/>
            <a:ext cx="4206240" cy="406908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969264" y="2743200"/>
            <a:ext cx="3877056" cy="502920"/>
          </a:xfrm>
          <a:prstGeom prst="roundRect">
            <a:avLst>
              <a:gd name="adj" fmla="val 12000"/>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400" b="1" i="0">
                <a:solidFill>
                  <a:srgbClr val="FFFFFF"/>
                </a:solidFill>
                <a:latin typeface="Segoe UI"/>
              </a:rPr>
              <a:t>SCRUM (AGILIDAD)</a:t>
            </a:r>
          </a:p>
        </p:txBody>
      </p:sp>
      <p:sp>
        <p:nvSpPr>
          <p:cNvPr id="11" name="Oval 10"/>
          <p:cNvSpPr/>
          <p:nvPr/>
        </p:nvSpPr>
        <p:spPr>
          <a:xfrm>
            <a:off x="1097280" y="3493008"/>
            <a:ext cx="146304" cy="146304"/>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3392424"/>
            <a:ext cx="3611880" cy="777240"/>
          </a:xfrm>
          <a:prstGeom prst="rect">
            <a:avLst/>
          </a:prstGeom>
          <a:noFill/>
        </p:spPr>
        <p:txBody>
          <a:bodyPr wrap="square" lIns="73152" tIns="0" rIns="73152" anchor="t">
            <a:spAutoFit/>
          </a:bodyPr>
          <a:lstStyle/>
          <a:p>
            <a:pPr algn="l"/>
            <a:r>
              <a:rPr sz="1300" b="0" i="0">
                <a:solidFill>
                  <a:srgbClr val="1E293B"/>
                </a:solidFill>
                <a:latin typeface="Segoe UI"/>
              </a:rPr>
              <a:t>Sprints de dos semanas</a:t>
            </a:r>
          </a:p>
          <a:p>
            <a:pPr algn="l"/>
            <a:r>
              <a:rPr sz="1050" b="0" i="0">
                <a:solidFill>
                  <a:srgbClr val="64748B"/>
                </a:solidFill>
                <a:latin typeface="Segoe UI"/>
              </a:rPr>
              <a:t>Incrementos funcionales y continuos de la aplicación.</a:t>
            </a:r>
          </a:p>
        </p:txBody>
      </p:sp>
      <p:sp>
        <p:nvSpPr>
          <p:cNvPr id="13" name="Oval 12"/>
          <p:cNvSpPr/>
          <p:nvPr/>
        </p:nvSpPr>
        <p:spPr>
          <a:xfrm>
            <a:off x="1097280" y="4297680"/>
            <a:ext cx="146304" cy="146304"/>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07592" y="4197096"/>
            <a:ext cx="3611880" cy="777240"/>
          </a:xfrm>
          <a:prstGeom prst="rect">
            <a:avLst/>
          </a:prstGeom>
          <a:noFill/>
        </p:spPr>
        <p:txBody>
          <a:bodyPr wrap="square" lIns="73152" tIns="0" rIns="73152" anchor="t">
            <a:spAutoFit/>
          </a:bodyPr>
          <a:lstStyle/>
          <a:p>
            <a:pPr algn="l"/>
            <a:r>
              <a:rPr sz="1300" b="0" i="0">
                <a:solidFill>
                  <a:srgbClr val="1E293B"/>
                </a:solidFill>
                <a:latin typeface="Segoe UI"/>
              </a:rPr>
              <a:t>Product Backlog priorizado</a:t>
            </a:r>
          </a:p>
          <a:p>
            <a:pPr algn="l"/>
            <a:r>
              <a:rPr sz="1050" b="0" i="0">
                <a:solidFill>
                  <a:srgbClr val="64748B"/>
                </a:solidFill>
                <a:latin typeface="Segoe UI"/>
              </a:rPr>
              <a:t>Requerimientos ordenados junto a la Product Owner.</a:t>
            </a:r>
          </a:p>
        </p:txBody>
      </p:sp>
      <p:sp>
        <p:nvSpPr>
          <p:cNvPr id="15" name="Oval 14"/>
          <p:cNvSpPr/>
          <p:nvPr/>
        </p:nvSpPr>
        <p:spPr>
          <a:xfrm>
            <a:off x="1097280" y="5102352"/>
            <a:ext cx="146304" cy="146304"/>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07592" y="5001768"/>
            <a:ext cx="3611880" cy="777240"/>
          </a:xfrm>
          <a:prstGeom prst="rect">
            <a:avLst/>
          </a:prstGeom>
          <a:noFill/>
        </p:spPr>
        <p:txBody>
          <a:bodyPr wrap="square" lIns="73152" tIns="0" rIns="73152" anchor="t">
            <a:spAutoFit/>
          </a:bodyPr>
          <a:lstStyle/>
          <a:p>
            <a:pPr algn="l"/>
            <a:r>
              <a:rPr sz="1300" b="0" i="0">
                <a:solidFill>
                  <a:srgbClr val="1E293B"/>
                </a:solidFill>
                <a:latin typeface="Segoe UI"/>
              </a:rPr>
              <a:t>Historias de usuario</a:t>
            </a:r>
          </a:p>
          <a:p>
            <a:pPr algn="l"/>
            <a:r>
              <a:rPr sz="1050" b="0" i="0">
                <a:solidFill>
                  <a:srgbClr val="64748B"/>
                </a:solidFill>
                <a:latin typeface="Segoe UI"/>
              </a:rPr>
              <a:t>Cada función definida desde lo que necesita el equipo.</a:t>
            </a:r>
          </a:p>
        </p:txBody>
      </p:sp>
      <p:sp>
        <p:nvSpPr>
          <p:cNvPr id="17" name="Oval 16"/>
          <p:cNvSpPr/>
          <p:nvPr/>
        </p:nvSpPr>
        <p:spPr>
          <a:xfrm>
            <a:off x="1097280" y="5907024"/>
            <a:ext cx="146304" cy="146304"/>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07592" y="5806440"/>
            <a:ext cx="3611880" cy="777240"/>
          </a:xfrm>
          <a:prstGeom prst="rect">
            <a:avLst/>
          </a:prstGeom>
          <a:noFill/>
        </p:spPr>
        <p:txBody>
          <a:bodyPr wrap="square" lIns="73152" tIns="0" rIns="73152" anchor="t">
            <a:spAutoFit/>
          </a:bodyPr>
          <a:lstStyle/>
          <a:p>
            <a:pPr algn="l"/>
            <a:r>
              <a:rPr sz="1300" b="0" i="0">
                <a:solidFill>
                  <a:srgbClr val="1E293B"/>
                </a:solidFill>
                <a:latin typeface="Segoe UI"/>
              </a:rPr>
              <a:t>Criterios de aceptación</a:t>
            </a:r>
          </a:p>
          <a:p>
            <a:pPr algn="l"/>
            <a:r>
              <a:rPr sz="1050" b="0" i="0">
                <a:solidFill>
                  <a:srgbClr val="64748B"/>
                </a:solidFill>
                <a:latin typeface="Segoe UI"/>
              </a:rPr>
              <a:t>Validación de cada entrega con la Product Owner.</a:t>
            </a:r>
          </a:p>
        </p:txBody>
      </p:sp>
      <p:sp>
        <p:nvSpPr>
          <p:cNvPr id="19" name="Rounded Rectangle 18"/>
          <p:cNvSpPr/>
          <p:nvPr/>
        </p:nvSpPr>
        <p:spPr>
          <a:xfrm>
            <a:off x="5193792" y="2606040"/>
            <a:ext cx="4206240" cy="406908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5358383" y="2743200"/>
            <a:ext cx="3877056" cy="502920"/>
          </a:xfrm>
          <a:prstGeom prst="roundRect">
            <a:avLst>
              <a:gd name="adj" fmla="val 12000"/>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400" b="1" i="0">
                <a:solidFill>
                  <a:srgbClr val="FFFFFF"/>
                </a:solidFill>
                <a:latin typeface="Segoe UI"/>
              </a:rPr>
              <a:t>PMBOK (GOBERNANZA)</a:t>
            </a:r>
          </a:p>
        </p:txBody>
      </p:sp>
      <p:sp>
        <p:nvSpPr>
          <p:cNvPr id="21" name="Oval 20"/>
          <p:cNvSpPr/>
          <p:nvPr/>
        </p:nvSpPr>
        <p:spPr>
          <a:xfrm>
            <a:off x="5486400" y="3493008"/>
            <a:ext cx="146304" cy="146304"/>
          </a:xfrm>
          <a:prstGeom prst="ellipse">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96712" y="3392424"/>
            <a:ext cx="3611880" cy="777240"/>
          </a:xfrm>
          <a:prstGeom prst="rect">
            <a:avLst/>
          </a:prstGeom>
          <a:noFill/>
        </p:spPr>
        <p:txBody>
          <a:bodyPr wrap="square" lIns="73152" tIns="0" rIns="73152" anchor="t">
            <a:spAutoFit/>
          </a:bodyPr>
          <a:lstStyle/>
          <a:p>
            <a:pPr algn="l"/>
            <a:r>
              <a:rPr sz="1300" b="0" i="0">
                <a:solidFill>
                  <a:srgbClr val="1E293B"/>
                </a:solidFill>
                <a:latin typeface="Segoe UI"/>
              </a:rPr>
              <a:t>Gestión del alcance</a:t>
            </a:r>
          </a:p>
          <a:p>
            <a:pPr algn="l"/>
            <a:r>
              <a:rPr sz="1050" b="0" i="0">
                <a:solidFill>
                  <a:srgbClr val="64748B"/>
                </a:solidFill>
                <a:latin typeface="Segoe UI"/>
              </a:rPr>
              <a:t>Qué entra y qué no entra en el proyecto.</a:t>
            </a:r>
          </a:p>
        </p:txBody>
      </p:sp>
      <p:sp>
        <p:nvSpPr>
          <p:cNvPr id="23" name="Oval 22"/>
          <p:cNvSpPr/>
          <p:nvPr/>
        </p:nvSpPr>
        <p:spPr>
          <a:xfrm>
            <a:off x="5486400" y="4297680"/>
            <a:ext cx="146304" cy="146304"/>
          </a:xfrm>
          <a:prstGeom prst="ellipse">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96712" y="4197096"/>
            <a:ext cx="3611880" cy="777240"/>
          </a:xfrm>
          <a:prstGeom prst="rect">
            <a:avLst/>
          </a:prstGeom>
          <a:noFill/>
        </p:spPr>
        <p:txBody>
          <a:bodyPr wrap="square" lIns="73152" tIns="0" rIns="73152" anchor="t">
            <a:spAutoFit/>
          </a:bodyPr>
          <a:lstStyle/>
          <a:p>
            <a:pPr algn="l"/>
            <a:r>
              <a:rPr sz="1300" b="0" i="0">
                <a:solidFill>
                  <a:srgbClr val="1E293B"/>
                </a:solidFill>
                <a:latin typeface="Segoe UI"/>
              </a:rPr>
              <a:t>Gestión de riesgos</a:t>
            </a:r>
          </a:p>
          <a:p>
            <a:pPr algn="l"/>
            <a:r>
              <a:rPr sz="1050" b="0" i="0">
                <a:solidFill>
                  <a:srgbClr val="64748B"/>
                </a:solidFill>
                <a:latin typeface="Segoe UI"/>
              </a:rPr>
              <a:t>Riesgos de red, ciberseguridad y pérdida de datos.</a:t>
            </a:r>
          </a:p>
        </p:txBody>
      </p:sp>
      <p:sp>
        <p:nvSpPr>
          <p:cNvPr id="25" name="Oval 24"/>
          <p:cNvSpPr/>
          <p:nvPr/>
        </p:nvSpPr>
        <p:spPr>
          <a:xfrm>
            <a:off x="5486400" y="5102352"/>
            <a:ext cx="146304" cy="146304"/>
          </a:xfrm>
          <a:prstGeom prst="ellipse">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96712" y="5001768"/>
            <a:ext cx="3611880" cy="777240"/>
          </a:xfrm>
          <a:prstGeom prst="rect">
            <a:avLst/>
          </a:prstGeom>
          <a:noFill/>
        </p:spPr>
        <p:txBody>
          <a:bodyPr wrap="square" lIns="73152" tIns="0" rIns="73152" anchor="t">
            <a:spAutoFit/>
          </a:bodyPr>
          <a:lstStyle/>
          <a:p>
            <a:pPr algn="l"/>
            <a:r>
              <a:rPr sz="1300" b="0" i="0">
                <a:solidFill>
                  <a:srgbClr val="1E293B"/>
                </a:solidFill>
                <a:latin typeface="Segoe UI"/>
              </a:rPr>
              <a:t>Control formal de cambios (RFC)</a:t>
            </a:r>
          </a:p>
          <a:p>
            <a:pPr algn="l"/>
            <a:r>
              <a:rPr sz="1050" b="0" i="0">
                <a:solidFill>
                  <a:srgbClr val="64748B"/>
                </a:solidFill>
                <a:latin typeface="Segoe UI"/>
              </a:rPr>
              <a:t>Cada cambio solicitado queda registrado y evaluado.</a:t>
            </a:r>
          </a:p>
        </p:txBody>
      </p:sp>
      <p:sp>
        <p:nvSpPr>
          <p:cNvPr id="27" name="Oval 26"/>
          <p:cNvSpPr/>
          <p:nvPr/>
        </p:nvSpPr>
        <p:spPr>
          <a:xfrm>
            <a:off x="5486400" y="5907024"/>
            <a:ext cx="146304" cy="146304"/>
          </a:xfrm>
          <a:prstGeom prst="ellipse">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96712" y="5806440"/>
            <a:ext cx="3611880" cy="777240"/>
          </a:xfrm>
          <a:prstGeom prst="rect">
            <a:avLst/>
          </a:prstGeom>
          <a:noFill/>
        </p:spPr>
        <p:txBody>
          <a:bodyPr wrap="square" lIns="73152" tIns="0" rIns="73152" anchor="t">
            <a:spAutoFit/>
          </a:bodyPr>
          <a:lstStyle/>
          <a:p>
            <a:pPr algn="l"/>
            <a:r>
              <a:rPr sz="1300" b="0" i="0">
                <a:solidFill>
                  <a:srgbClr val="1E293B"/>
                </a:solidFill>
                <a:latin typeface="Segoe UI"/>
              </a:rPr>
              <a:t>Gestión de calidad</a:t>
            </a:r>
          </a:p>
          <a:p>
            <a:pPr algn="l"/>
            <a:r>
              <a:rPr sz="1050" b="0" i="0">
                <a:solidFill>
                  <a:srgbClr val="64748B"/>
                </a:solidFill>
                <a:latin typeface="Segoe UI"/>
              </a:rPr>
              <a:t>Plan de pruebas, casos de prueba y reportes de ejecución.</a:t>
            </a:r>
          </a:p>
        </p:txBody>
      </p:sp>
      <p:sp>
        <p:nvSpPr>
          <p:cNvPr id="29" name="Rounded Rectangle 28"/>
          <p:cNvSpPr/>
          <p:nvPr/>
        </p:nvSpPr>
        <p:spPr>
          <a:xfrm>
            <a:off x="9601200" y="2606040"/>
            <a:ext cx="2331720" cy="4069080"/>
          </a:xfrm>
          <a:prstGeom prst="roundRect">
            <a:avLst>
              <a:gd name="adj" fmla="val 8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164592" tIns="137160" rIns="128016" rtlCol="0" anchor="t"/>
          <a:lstStyle/>
          <a:p>
            <a:pPr algn="ctr"/>
            <a:r>
              <a:rPr sz="1200" b="1" i="0">
                <a:solidFill>
                  <a:srgbClr val="003057"/>
                </a:solidFill>
                <a:latin typeface="Segoe UI"/>
              </a:rPr>
              <a:t>CÓMO SE APLICÓ</a:t>
            </a:r>
          </a:p>
          <a:p>
            <a:pPr algn="ctr">
              <a:spcBef>
                <a:spcPts val="800"/>
              </a:spcBef>
            </a:pPr>
            <a:r>
              <a:rPr sz="1050" b="0" i="0">
                <a:solidFill>
                  <a:srgbClr val="475569"/>
                </a:solidFill>
                <a:latin typeface="Segoe UI"/>
              </a:rPr>
              <a:t>En cada cambio de la app:</a:t>
            </a:r>
          </a:p>
          <a:p>
            <a:pPr algn="l">
              <a:spcBef>
                <a:spcPts val="800"/>
              </a:spcBef>
            </a:pPr>
            <a:r>
              <a:rPr sz="1100" b="1" i="0">
                <a:solidFill>
                  <a:srgbClr val="1E293B"/>
                </a:solidFill>
                <a:latin typeface="Segoe UI"/>
              </a:rPr>
              <a:t>1. Entender</a:t>
            </a:r>
          </a:p>
          <a:p>
            <a:pPr algn="l"/>
            <a:r>
              <a:rPr sz="1000" b="0" i="0">
                <a:solidFill>
                  <a:srgbClr val="64748B"/>
                </a:solidFill>
                <a:latin typeface="Segoe UI"/>
              </a:rPr>
              <a:t>la regla con la Product Owner</a:t>
            </a:r>
          </a:p>
          <a:p>
            <a:pPr algn="l">
              <a:spcBef>
                <a:spcPts val="500"/>
              </a:spcBef>
            </a:pPr>
            <a:r>
              <a:rPr sz="1100" b="1" i="0">
                <a:solidFill>
                  <a:srgbClr val="1E293B"/>
                </a:solidFill>
                <a:latin typeface="Segoe UI"/>
              </a:rPr>
              <a:t>2. Implementar</a:t>
            </a:r>
          </a:p>
          <a:p>
            <a:pPr algn="l"/>
            <a:r>
              <a:rPr sz="1000" b="0" i="0">
                <a:solidFill>
                  <a:srgbClr val="64748B"/>
                </a:solidFill>
                <a:latin typeface="Segoe UI"/>
              </a:rPr>
              <a:t>el cambio acotado</a:t>
            </a:r>
          </a:p>
          <a:p>
            <a:pPr algn="l">
              <a:spcBef>
                <a:spcPts val="500"/>
              </a:spcBef>
            </a:pPr>
            <a:r>
              <a:rPr sz="1100" b="1" i="0">
                <a:solidFill>
                  <a:srgbClr val="1E293B"/>
                </a:solidFill>
                <a:latin typeface="Segoe UI"/>
              </a:rPr>
              <a:t>3. Probar y medir</a:t>
            </a:r>
          </a:p>
          <a:p>
            <a:pPr algn="l"/>
            <a:r>
              <a:rPr sz="1000" b="0" i="0">
                <a:solidFill>
                  <a:srgbClr val="64748B"/>
                </a:solidFill>
                <a:latin typeface="Segoe UI"/>
              </a:rPr>
              <a:t>con datos de prueba, sin tocar los reales</a:t>
            </a:r>
          </a:p>
          <a:p>
            <a:pPr algn="l">
              <a:spcBef>
                <a:spcPts val="500"/>
              </a:spcBef>
            </a:pPr>
            <a:r>
              <a:rPr sz="1100" b="1" i="0">
                <a:solidFill>
                  <a:srgbClr val="1E293B"/>
                </a:solidFill>
                <a:latin typeface="Segoe UI"/>
              </a:rPr>
              <a:t>4. Documentar</a:t>
            </a:r>
          </a:p>
          <a:p>
            <a:pPr algn="l"/>
            <a:r>
              <a:rPr sz="1000" b="0" i="0">
                <a:solidFill>
                  <a:srgbClr val="64748B"/>
                </a:solidFill>
                <a:latin typeface="Segoe UI"/>
              </a:rPr>
              <a:t>en la bitácora y la documentación técnica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896112"/>
            <a:ext cx="12191695" cy="502920"/>
          </a:xfrm>
          <a:prstGeom prst="rect">
            <a:avLst/>
          </a:prstGeom>
          <a:noFill/>
        </p:spPr>
        <p:txBody>
          <a:bodyPr wrap="square" lIns="73152" rIns="73152" anchor="ctr">
            <a:spAutoFit/>
          </a:bodyPr>
          <a:lstStyle/>
          <a:p>
            <a:pPr algn="ctr"/>
            <a:r>
              <a:rPr sz="2600" b="1" i="0">
                <a:solidFill>
                  <a:srgbClr val="003057"/>
                </a:solidFill>
                <a:latin typeface="Segoe UI"/>
              </a:rPr>
              <a:t>Arquitectura general</a:t>
            </a:r>
          </a:p>
        </p:txBody>
      </p:sp>
      <p:sp>
        <p:nvSpPr>
          <p:cNvPr id="8" name="Rounded Rectangle 7"/>
          <p:cNvSpPr/>
          <p:nvPr/>
        </p:nvSpPr>
        <p:spPr>
          <a:xfrm>
            <a:off x="274320" y="1508760"/>
            <a:ext cx="1874519" cy="5120640"/>
          </a:xfrm>
          <a:prstGeom prst="roundRect">
            <a:avLst>
              <a:gd name="adj" fmla="val 5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274320" y="1508760"/>
            <a:ext cx="1874519" cy="411480"/>
          </a:xfrm>
          <a:prstGeom prst="roundRect">
            <a:avLst>
              <a:gd name="adj" fmla="val 25000"/>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100" b="1" i="0">
                <a:solidFill>
                  <a:srgbClr val="FFFFFF"/>
                </a:solidFill>
                <a:latin typeface="Segoe UI"/>
              </a:rPr>
              <a:t>QUIÉN LA USA</a:t>
            </a:r>
          </a:p>
        </p:txBody>
      </p:sp>
      <p:sp>
        <p:nvSpPr>
          <p:cNvPr id="10" name="Oval 9"/>
          <p:cNvSpPr/>
          <p:nvPr/>
        </p:nvSpPr>
        <p:spPr>
          <a:xfrm>
            <a:off x="1040587" y="2103120"/>
            <a:ext cx="341985" cy="341985"/>
          </a:xfrm>
          <a:prstGeom prst="ellipse">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 Same Side Corner Rectangle 10"/>
          <p:cNvSpPr/>
          <p:nvPr/>
        </p:nvSpPr>
        <p:spPr>
          <a:xfrm>
            <a:off x="909827" y="2485339"/>
            <a:ext cx="603504" cy="422452"/>
          </a:xfrm>
          <a:prstGeom prst="round2SameRect">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971800"/>
            <a:ext cx="1783080" cy="914400"/>
          </a:xfrm>
          <a:prstGeom prst="rect">
            <a:avLst/>
          </a:prstGeom>
          <a:noFill/>
        </p:spPr>
        <p:txBody>
          <a:bodyPr wrap="square" lIns="73152" rIns="73152" anchor="t">
            <a:spAutoFit/>
          </a:bodyPr>
          <a:lstStyle/>
          <a:p>
            <a:pPr algn="ctr"/>
            <a:r>
              <a:rPr sz="1100" b="1" i="0">
                <a:solidFill>
                  <a:srgbClr val="1E293B"/>
                </a:solidFill>
                <a:latin typeface="Segoe UI"/>
              </a:rPr>
              <a:t>Equipo de Servicios Conectados</a:t>
            </a:r>
          </a:p>
          <a:p>
            <a:pPr algn="ctr"/>
            <a:r>
              <a:rPr sz="950" b="0" i="0">
                <a:solidFill>
                  <a:srgbClr val="64748B"/>
                </a:solidFill>
                <a:latin typeface="Segoe UI"/>
              </a:rPr>
              <a:t>Comercial · Operaciones · Finanzas</a:t>
            </a:r>
          </a:p>
        </p:txBody>
      </p:sp>
      <p:sp>
        <p:nvSpPr>
          <p:cNvPr id="13" name="Rounded Rectangle 12"/>
          <p:cNvSpPr/>
          <p:nvPr/>
        </p:nvSpPr>
        <p:spPr>
          <a:xfrm>
            <a:off x="384048" y="3931920"/>
            <a:ext cx="1655064" cy="256032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tIns="91440" rIns="54864" rtlCol="0" anchor="t"/>
          <a:lstStyle/>
          <a:p>
            <a:pPr algn="l"/>
            <a:r>
              <a:rPr sz="1050" b="1" i="0">
                <a:solidFill>
                  <a:srgbClr val="003057"/>
                </a:solidFill>
                <a:latin typeface="Segoe UI"/>
              </a:rPr>
              <a:t>En el día a día</a:t>
            </a:r>
          </a:p>
          <a:p>
            <a:pPr marL="164592" indent="-164592" algn="l">
              <a:spcBef>
                <a:spcPts val="400"/>
              </a:spcBef>
              <a:buClr>
                <a:srgbClr val="2563EB"/>
              </a:buClr>
              <a:buChar char="•"/>
            </a:pPr>
            <a:r>
              <a:rPr sz="950" b="0" i="0">
                <a:solidFill>
                  <a:srgbClr val="1E293B"/>
                </a:solidFill>
                <a:latin typeface="Segoe UI"/>
              </a:rPr>
              <a:t>Busca un camión o cliente</a:t>
            </a:r>
          </a:p>
          <a:p>
            <a:pPr marL="164592" indent="-164592" algn="l">
              <a:spcBef>
                <a:spcPts val="300"/>
              </a:spcBef>
              <a:buClr>
                <a:srgbClr val="2563EB"/>
              </a:buClr>
              <a:buChar char="•"/>
            </a:pPr>
            <a:r>
              <a:rPr sz="950" b="0" i="0">
                <a:solidFill>
                  <a:srgbClr val="1E293B"/>
                </a:solidFill>
                <a:latin typeface="Segoe UI"/>
              </a:rPr>
              <a:t>Revisa y cambia estados</a:t>
            </a:r>
          </a:p>
          <a:p>
            <a:pPr marL="164592" indent="-164592" algn="l">
              <a:spcBef>
                <a:spcPts val="300"/>
              </a:spcBef>
              <a:buClr>
                <a:srgbClr val="2563EB"/>
              </a:buClr>
              <a:buChar char="•"/>
            </a:pPr>
            <a:r>
              <a:rPr sz="950" b="0" i="0">
                <a:solidFill>
                  <a:srgbClr val="1E293B"/>
                </a:solidFill>
                <a:latin typeface="Segoe UI"/>
              </a:rPr>
              <a:t>Importa reportes</a:t>
            </a:r>
          </a:p>
          <a:p>
            <a:pPr marL="164592" indent="-164592" algn="l">
              <a:spcBef>
                <a:spcPts val="300"/>
              </a:spcBef>
              <a:buClr>
                <a:srgbClr val="2563EB"/>
              </a:buClr>
              <a:buChar char="•"/>
            </a:pPr>
            <a:r>
              <a:rPr sz="950" b="0" i="0">
                <a:solidFill>
                  <a:srgbClr val="1E293B"/>
                </a:solidFill>
                <a:latin typeface="Segoe UI"/>
              </a:rPr>
              <a:t>Envía correos</a:t>
            </a:r>
          </a:p>
          <a:p>
            <a:pPr marL="164592" indent="-164592" algn="l">
              <a:spcBef>
                <a:spcPts val="300"/>
              </a:spcBef>
              <a:buClr>
                <a:srgbClr val="2563EB"/>
              </a:buClr>
              <a:buChar char="•"/>
            </a:pPr>
            <a:r>
              <a:rPr sz="950" b="0" i="0">
                <a:solidFill>
                  <a:srgbClr val="1E293B"/>
                </a:solidFill>
                <a:latin typeface="Segoe UI"/>
              </a:rPr>
              <a:t>Revisa el historial</a:t>
            </a:r>
          </a:p>
        </p:txBody>
      </p:sp>
      <p:sp>
        <p:nvSpPr>
          <p:cNvPr id="14" name="Rounded Rectangle 13"/>
          <p:cNvSpPr/>
          <p:nvPr/>
        </p:nvSpPr>
        <p:spPr>
          <a:xfrm>
            <a:off x="2468880" y="1508760"/>
            <a:ext cx="5669280" cy="5120640"/>
          </a:xfrm>
          <a:prstGeom prst="roundRect">
            <a:avLst>
              <a:gd name="adj" fmla="val 3000"/>
            </a:avLst>
          </a:prstGeom>
          <a:solidFill>
            <a:srgbClr val="FFFFFF"/>
          </a:solidFill>
          <a:ln w="19050">
            <a:solidFill>
              <a:srgbClr val="0030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2468880" y="1508760"/>
            <a:ext cx="5669280" cy="411480"/>
          </a:xfrm>
          <a:prstGeom prst="roundRect">
            <a:avLst>
              <a:gd name="adj" fmla="val 20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150" b="1" i="0">
                <a:solidFill>
                  <a:srgbClr val="FFFFFF"/>
                </a:solidFill>
                <a:latin typeface="Segoe UI"/>
              </a:rPr>
              <a:t>EMPRESA SISTEMA DE GESTIÓN · aplicación de escritorio</a:t>
            </a:r>
          </a:p>
        </p:txBody>
      </p:sp>
      <p:sp>
        <p:nvSpPr>
          <p:cNvPr id="16" name="TextBox 15"/>
          <p:cNvSpPr txBox="1"/>
          <p:nvPr/>
        </p:nvSpPr>
        <p:spPr>
          <a:xfrm>
            <a:off x="2606040" y="1984248"/>
            <a:ext cx="5394960" cy="274320"/>
          </a:xfrm>
          <a:prstGeom prst="rect">
            <a:avLst/>
          </a:prstGeom>
          <a:noFill/>
        </p:spPr>
        <p:txBody>
          <a:bodyPr wrap="square" lIns="73152" tIns="0" rIns="73152" anchor="t">
            <a:spAutoFit/>
          </a:bodyPr>
          <a:lstStyle/>
          <a:p>
            <a:pPr algn="l"/>
            <a:r>
              <a:rPr sz="1050" b="1" i="0">
                <a:solidFill>
                  <a:srgbClr val="1C6BBA"/>
                </a:solidFill>
                <a:latin typeface="Segoe UI"/>
              </a:rPr>
              <a:t>Pantallas del menú</a:t>
            </a:r>
          </a:p>
        </p:txBody>
      </p:sp>
      <p:sp>
        <p:nvSpPr>
          <p:cNvPr id="17" name="Rounded Rectangle 16"/>
          <p:cNvSpPr/>
          <p:nvPr/>
        </p:nvSpPr>
        <p:spPr>
          <a:xfrm>
            <a:off x="2606040" y="2258568"/>
            <a:ext cx="1719072" cy="932688"/>
          </a:xfrm>
          <a:prstGeom prst="roundRect">
            <a:avLst>
              <a:gd name="adj" fmla="val 8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50" b="1" i="0">
                <a:solidFill>
                  <a:srgbClr val="003057"/>
                </a:solidFill>
                <a:latin typeface="Segoe UI"/>
              </a:rPr>
              <a:t>Inicio</a:t>
            </a:r>
          </a:p>
          <a:p>
            <a:pPr algn="l">
              <a:spcBef>
                <a:spcPts val="200"/>
              </a:spcBef>
            </a:pPr>
            <a:r>
              <a:rPr sz="850" b="0" i="0">
                <a:solidFill>
                  <a:srgbClr val="1E293B"/>
                </a:solidFill>
                <a:latin typeface="Segoe UI"/>
              </a:rPr>
              <a:t>Página web del dashboard (Conectividad + Academia)</a:t>
            </a:r>
          </a:p>
        </p:txBody>
      </p:sp>
      <p:sp>
        <p:nvSpPr>
          <p:cNvPr id="18" name="Rounded Rectangle 17"/>
          <p:cNvSpPr/>
          <p:nvPr/>
        </p:nvSpPr>
        <p:spPr>
          <a:xfrm>
            <a:off x="4416552" y="2258568"/>
            <a:ext cx="1719072" cy="932688"/>
          </a:xfrm>
          <a:prstGeom prst="roundRect">
            <a:avLst>
              <a:gd name="adj" fmla="val 8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50" b="1" i="0">
                <a:solidFill>
                  <a:srgbClr val="003057"/>
                </a:solidFill>
                <a:latin typeface="Segoe UI"/>
              </a:rPr>
              <a:t>Clientes y Flota</a:t>
            </a:r>
          </a:p>
          <a:p>
            <a:pPr algn="l">
              <a:spcBef>
                <a:spcPts val="200"/>
              </a:spcBef>
            </a:pPr>
            <a:r>
              <a:rPr sz="850" b="0" i="0">
                <a:solidFill>
                  <a:srgbClr val="1E293B"/>
                </a:solidFill>
                <a:latin typeface="Segoe UI"/>
              </a:rPr>
              <a:t>Directorio de clientes, flotas y camiones</a:t>
            </a:r>
          </a:p>
        </p:txBody>
      </p:sp>
      <p:sp>
        <p:nvSpPr>
          <p:cNvPr id="19" name="Rounded Rectangle 18"/>
          <p:cNvSpPr/>
          <p:nvPr/>
        </p:nvSpPr>
        <p:spPr>
          <a:xfrm>
            <a:off x="6227064" y="2258568"/>
            <a:ext cx="1719072" cy="932688"/>
          </a:xfrm>
          <a:prstGeom prst="roundRect">
            <a:avLst>
              <a:gd name="adj" fmla="val 8000"/>
            </a:avLst>
          </a:prstGeom>
          <a:solidFill>
            <a:srgbClr val="DBEAFE"/>
          </a:solidFill>
          <a:ln w="19050">
            <a:solidFill>
              <a:srgbClr val="003057"/>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50" b="1" i="0">
                <a:solidFill>
                  <a:srgbClr val="003057"/>
                </a:solidFill>
                <a:latin typeface="Segoe UI"/>
              </a:rPr>
              <a:t>Comercial</a:t>
            </a:r>
          </a:p>
          <a:p>
            <a:pPr algn="l">
              <a:spcBef>
                <a:spcPts val="200"/>
              </a:spcBef>
            </a:pPr>
            <a:r>
              <a:rPr lang="es-CL" sz="850" b="0" i="0">
                <a:solidFill>
                  <a:srgbClr val="1E293B"/>
                </a:solidFill>
                <a:latin typeface="Segoe UI"/>
              </a:rPr>
              <a:t>Un contrato por fila: cliente, plan, estado y N° Contrato</a:t>
            </a:r>
            <a:endParaRPr sz="850" b="0" i="0">
              <a:solidFill>
                <a:srgbClr val="1E293B"/>
              </a:solidFill>
              <a:latin typeface="Segoe UI"/>
            </a:endParaRPr>
          </a:p>
        </p:txBody>
      </p:sp>
      <p:sp>
        <p:nvSpPr>
          <p:cNvPr id="20" name="Rounded Rectangle 19"/>
          <p:cNvSpPr/>
          <p:nvPr/>
        </p:nvSpPr>
        <p:spPr>
          <a:xfrm>
            <a:off x="2606040" y="3282696"/>
            <a:ext cx="1719072" cy="932688"/>
          </a:xfrm>
          <a:prstGeom prst="roundRect">
            <a:avLst>
              <a:gd name="adj" fmla="val 8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50" b="1" i="0">
                <a:solidFill>
                  <a:srgbClr val="003057"/>
                </a:solidFill>
                <a:latin typeface="Segoe UI"/>
              </a:rPr>
              <a:t>Operaciones</a:t>
            </a:r>
          </a:p>
          <a:p>
            <a:pPr algn="l">
              <a:spcBef>
                <a:spcPts val="200"/>
              </a:spcBef>
            </a:pPr>
            <a:r>
              <a:rPr sz="850" b="0" i="0">
                <a:solidFill>
                  <a:srgbClr val="1E293B"/>
                </a:solidFill>
                <a:latin typeface="Segoe UI"/>
              </a:rPr>
              <a:t>Activaciones, bajas y camiones sin flota</a:t>
            </a:r>
          </a:p>
        </p:txBody>
      </p:sp>
      <p:sp>
        <p:nvSpPr>
          <p:cNvPr id="21" name="Rounded Rectangle 20"/>
          <p:cNvSpPr/>
          <p:nvPr/>
        </p:nvSpPr>
        <p:spPr>
          <a:xfrm>
            <a:off x="4416552" y="3282696"/>
            <a:ext cx="1719072" cy="932688"/>
          </a:xfrm>
          <a:prstGeom prst="roundRect">
            <a:avLst>
              <a:gd name="adj" fmla="val 8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50" b="1" i="0">
                <a:solidFill>
                  <a:srgbClr val="003057"/>
                </a:solidFill>
                <a:latin typeface="Segoe UI"/>
              </a:rPr>
              <a:t>Ingresos y Conciliación</a:t>
            </a:r>
          </a:p>
          <a:p>
            <a:pPr algn="l">
              <a:spcBef>
                <a:spcPts val="200"/>
              </a:spcBef>
            </a:pPr>
            <a:r>
              <a:rPr sz="850" b="0" i="0">
                <a:solidFill>
                  <a:srgbClr val="1E293B"/>
                </a:solidFill>
                <a:latin typeface="Segoe UI"/>
              </a:rPr>
              <a:t>Provisiones, Contratos CM, Facturación Manual, JustTime</a:t>
            </a:r>
          </a:p>
        </p:txBody>
      </p:sp>
      <p:sp>
        <p:nvSpPr>
          <p:cNvPr id="22" name="Rounded Rectangle 21"/>
          <p:cNvSpPr/>
          <p:nvPr/>
        </p:nvSpPr>
        <p:spPr>
          <a:xfrm>
            <a:off x="6227064" y="3282696"/>
            <a:ext cx="1719072" cy="932688"/>
          </a:xfrm>
          <a:prstGeom prst="roundRect">
            <a:avLst>
              <a:gd name="adj" fmla="val 8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50" b="1" i="0">
                <a:solidFill>
                  <a:srgbClr val="003057"/>
                </a:solidFill>
                <a:latin typeface="Segoe UI"/>
              </a:rPr>
              <a:t>Administración</a:t>
            </a:r>
          </a:p>
          <a:p>
            <a:pPr algn="l">
              <a:spcBef>
                <a:spcPts val="200"/>
              </a:spcBef>
            </a:pPr>
            <a:r>
              <a:rPr sz="850" b="0" i="0">
                <a:solidFill>
                  <a:srgbClr val="1E293B"/>
                </a:solidFill>
                <a:latin typeface="Segoe UI"/>
              </a:rPr>
              <a:t>Historial, Instalaciones y Contactos</a:t>
            </a:r>
          </a:p>
        </p:txBody>
      </p:sp>
      <p:sp>
        <p:nvSpPr>
          <p:cNvPr id="23" name="TextBox 22"/>
          <p:cNvSpPr txBox="1"/>
          <p:nvPr/>
        </p:nvSpPr>
        <p:spPr>
          <a:xfrm>
            <a:off x="2606040" y="4343400"/>
            <a:ext cx="5394960" cy="274320"/>
          </a:xfrm>
          <a:prstGeom prst="rect">
            <a:avLst/>
          </a:prstGeom>
          <a:noFill/>
        </p:spPr>
        <p:txBody>
          <a:bodyPr wrap="square" lIns="73152" tIns="0" rIns="73152" anchor="t">
            <a:spAutoFit/>
          </a:bodyPr>
          <a:lstStyle/>
          <a:p>
            <a:pPr algn="l"/>
            <a:r>
              <a:rPr sz="1050" b="1" i="0">
                <a:solidFill>
                  <a:srgbClr val="1C6BBA"/>
                </a:solidFill>
                <a:latin typeface="Segoe UI"/>
              </a:rPr>
              <a:t>Lo que hace por dentro (automático)</a:t>
            </a:r>
          </a:p>
        </p:txBody>
      </p:sp>
      <p:sp>
        <p:nvSpPr>
          <p:cNvPr id="24" name="Rounded Rectangle 23"/>
          <p:cNvSpPr/>
          <p:nvPr/>
        </p:nvSpPr>
        <p:spPr>
          <a:xfrm>
            <a:off x="2606040" y="4617720"/>
            <a:ext cx="1719072" cy="896112"/>
          </a:xfrm>
          <a:prstGeom prst="roundRect">
            <a:avLst>
              <a:gd name="adj" fmla="val 8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00" b="1" i="0">
                <a:solidFill>
                  <a:srgbClr val="1E293B"/>
                </a:solidFill>
                <a:latin typeface="Segoe UI"/>
              </a:rPr>
              <a:t>Carga en segundo plano</a:t>
            </a:r>
          </a:p>
          <a:p>
            <a:pPr algn="l">
              <a:spcBef>
                <a:spcPts val="200"/>
              </a:spcBef>
            </a:pPr>
            <a:r>
              <a:rPr sz="850" b="0" i="0">
                <a:solidFill>
                  <a:srgbClr val="64748B"/>
                </a:solidFill>
                <a:latin typeface="Segoe UI"/>
              </a:rPr>
              <a:t>Lee los archivos sin congelar la pantalla</a:t>
            </a:r>
          </a:p>
        </p:txBody>
      </p:sp>
      <p:sp>
        <p:nvSpPr>
          <p:cNvPr id="25" name="Rounded Rectangle 24"/>
          <p:cNvSpPr/>
          <p:nvPr/>
        </p:nvSpPr>
        <p:spPr>
          <a:xfrm>
            <a:off x="4416552" y="4617720"/>
            <a:ext cx="1719072" cy="896112"/>
          </a:xfrm>
          <a:prstGeom prst="roundRect">
            <a:avLst>
              <a:gd name="adj" fmla="val 8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00" b="1" i="0">
                <a:solidFill>
                  <a:srgbClr val="1E293B"/>
                </a:solidFill>
                <a:latin typeface="Segoe UI"/>
              </a:rPr>
              <a:t>Trabaja en memoria</a:t>
            </a:r>
          </a:p>
          <a:p>
            <a:pPr algn="l">
              <a:spcBef>
                <a:spcPts val="200"/>
              </a:spcBef>
            </a:pPr>
            <a:r>
              <a:rPr sz="850" b="0" i="0">
                <a:solidFill>
                  <a:srgbClr val="64748B"/>
                </a:solidFill>
                <a:latin typeface="Segoe UI"/>
              </a:rPr>
              <a:t>Búsquedas y filtros instantáneos</a:t>
            </a:r>
          </a:p>
        </p:txBody>
      </p:sp>
      <p:sp>
        <p:nvSpPr>
          <p:cNvPr id="26" name="Rounded Rectangle 25"/>
          <p:cNvSpPr/>
          <p:nvPr/>
        </p:nvSpPr>
        <p:spPr>
          <a:xfrm>
            <a:off x="6227064" y="4617720"/>
            <a:ext cx="1719072" cy="896112"/>
          </a:xfrm>
          <a:prstGeom prst="roundRect">
            <a:avLst>
              <a:gd name="adj" fmla="val 8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00" b="1" i="0">
                <a:solidFill>
                  <a:srgbClr val="1E293B"/>
                </a:solidFill>
                <a:latin typeface="Segoe UI"/>
              </a:rPr>
              <a:t>Vigilante de cambios</a:t>
            </a:r>
          </a:p>
          <a:p>
            <a:pPr algn="l">
              <a:spcBef>
                <a:spcPts val="200"/>
              </a:spcBef>
            </a:pPr>
            <a:r>
              <a:rPr sz="850" b="0" i="0">
                <a:solidFill>
                  <a:srgbClr val="64748B"/>
                </a:solidFill>
                <a:latin typeface="Segoe UI"/>
              </a:rPr>
              <a:t>Avisa si otra persona modifica un archivo</a:t>
            </a:r>
          </a:p>
        </p:txBody>
      </p:sp>
      <p:sp>
        <p:nvSpPr>
          <p:cNvPr id="27" name="Rounded Rectangle 26"/>
          <p:cNvSpPr/>
          <p:nvPr/>
        </p:nvSpPr>
        <p:spPr>
          <a:xfrm>
            <a:off x="2606040" y="5605272"/>
            <a:ext cx="1719072" cy="896112"/>
          </a:xfrm>
          <a:prstGeom prst="roundRect">
            <a:avLst>
              <a:gd name="adj" fmla="val 8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00" b="1" i="0">
                <a:solidFill>
                  <a:srgbClr val="1E293B"/>
                </a:solidFill>
                <a:latin typeface="Segoe UI"/>
              </a:rPr>
              <a:t>Guardado seguro</a:t>
            </a:r>
          </a:p>
          <a:p>
            <a:pPr algn="l">
              <a:spcBef>
                <a:spcPts val="200"/>
              </a:spcBef>
            </a:pPr>
            <a:r>
              <a:rPr sz="850" b="0" i="0">
                <a:solidFill>
                  <a:srgbClr val="64748B"/>
                </a:solidFill>
                <a:latin typeface="Segoe UI"/>
              </a:rPr>
              <a:t>Respaldo previo y copia temporal</a:t>
            </a:r>
          </a:p>
        </p:txBody>
      </p:sp>
      <p:sp>
        <p:nvSpPr>
          <p:cNvPr id="28" name="Rounded Rectangle 27"/>
          <p:cNvSpPr/>
          <p:nvPr/>
        </p:nvSpPr>
        <p:spPr>
          <a:xfrm>
            <a:off x="4416552" y="5605272"/>
            <a:ext cx="1719072" cy="896112"/>
          </a:xfrm>
          <a:prstGeom prst="roundRect">
            <a:avLst>
              <a:gd name="adj" fmla="val 8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00" b="1" i="0">
                <a:solidFill>
                  <a:srgbClr val="1E293B"/>
                </a:solidFill>
                <a:latin typeface="Segoe UI"/>
              </a:rPr>
              <a:t>Todo queda anotado</a:t>
            </a:r>
          </a:p>
          <a:p>
            <a:pPr algn="l">
              <a:spcBef>
                <a:spcPts val="200"/>
              </a:spcBef>
            </a:pPr>
            <a:r>
              <a:rPr sz="850" b="0" i="0">
                <a:solidFill>
                  <a:srgbClr val="64748B"/>
                </a:solidFill>
                <a:latin typeface="Segoe UI"/>
              </a:rPr>
              <a:t>Historial de cada cambio guardado</a:t>
            </a:r>
          </a:p>
        </p:txBody>
      </p:sp>
      <p:sp>
        <p:nvSpPr>
          <p:cNvPr id="29" name="Rounded Rectangle 28"/>
          <p:cNvSpPr/>
          <p:nvPr/>
        </p:nvSpPr>
        <p:spPr>
          <a:xfrm>
            <a:off x="6227064" y="5605272"/>
            <a:ext cx="1719072" cy="896112"/>
          </a:xfrm>
          <a:prstGeom prst="roundRect">
            <a:avLst>
              <a:gd name="adj" fmla="val 8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82296" tIns="54864" rIns="54864" rtlCol="0" anchor="t"/>
          <a:lstStyle/>
          <a:p>
            <a:pPr algn="l"/>
            <a:r>
              <a:rPr sz="1000" b="1" i="0">
                <a:solidFill>
                  <a:srgbClr val="1E293B"/>
                </a:solidFill>
                <a:latin typeface="Segoe UI"/>
              </a:rPr>
              <a:t>Archivo en uso</a:t>
            </a:r>
          </a:p>
          <a:p>
            <a:pPr algn="l">
              <a:spcBef>
                <a:spcPts val="200"/>
              </a:spcBef>
            </a:pPr>
            <a:r>
              <a:rPr sz="850" b="0" i="0">
                <a:solidFill>
                  <a:srgbClr val="64748B"/>
                </a:solidFill>
                <a:latin typeface="Segoe UI"/>
              </a:rPr>
              <a:t>Se pausa y avisa hasta que se libere</a:t>
            </a:r>
          </a:p>
        </p:txBody>
      </p:sp>
      <p:sp>
        <p:nvSpPr>
          <p:cNvPr id="30" name="Rounded Rectangle 29"/>
          <p:cNvSpPr/>
          <p:nvPr/>
        </p:nvSpPr>
        <p:spPr>
          <a:xfrm>
            <a:off x="8458200" y="1508760"/>
            <a:ext cx="3474720" cy="2697480"/>
          </a:xfrm>
          <a:prstGeom prst="roundRect">
            <a:avLst>
              <a:gd name="adj" fmla="val 5000"/>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8458200" y="1508760"/>
            <a:ext cx="3474720" cy="411480"/>
          </a:xfrm>
          <a:prstGeom prst="roundRect">
            <a:avLst>
              <a:gd name="adj" fmla="val 2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100" b="1" i="0">
                <a:solidFill>
                  <a:srgbClr val="FFFFFF"/>
                </a:solidFill>
                <a:latin typeface="Segoe UI"/>
              </a:rPr>
              <a:t>SERVICIOS EXTERNOS</a:t>
            </a:r>
          </a:p>
        </p:txBody>
      </p:sp>
      <p:sp>
        <p:nvSpPr>
          <p:cNvPr id="32" name="TextBox 31"/>
          <p:cNvSpPr txBox="1"/>
          <p:nvPr/>
        </p:nvSpPr>
        <p:spPr>
          <a:xfrm>
            <a:off x="8549640" y="1965960"/>
            <a:ext cx="3337560" cy="438912"/>
          </a:xfrm>
          <a:prstGeom prst="rect">
            <a:avLst/>
          </a:prstGeom>
          <a:noFill/>
        </p:spPr>
        <p:txBody>
          <a:bodyPr wrap="square" lIns="73152" tIns="54864" rIns="73152" anchor="ctr">
            <a:spAutoFit/>
          </a:bodyPr>
          <a:lstStyle/>
          <a:p>
            <a:pPr algn="l"/>
            <a:r>
              <a:rPr sz="1000" b="1" i="0">
                <a:solidFill>
                  <a:srgbClr val="1E293B"/>
                </a:solidFill>
                <a:latin typeface="Segoe UI"/>
              </a:rPr>
              <a:t>Página web del dashboard</a:t>
            </a:r>
            <a:r>
              <a:rPr sz="900" b="0" i="0">
                <a:solidFill>
                  <a:srgbClr val="64748B"/>
                </a:solidFill>
                <a:latin typeface="Segoe UI"/>
              </a:rPr>
              <a:t>  ·  desarrollada por otro practicante</a:t>
            </a:r>
          </a:p>
        </p:txBody>
      </p:sp>
      <p:cxnSp>
        <p:nvCxnSpPr>
          <p:cNvPr id="33" name="Connector 32"/>
          <p:cNvCxnSpPr/>
          <p:nvPr/>
        </p:nvCxnSpPr>
        <p:spPr>
          <a:xfrm>
            <a:off x="8641080" y="2404872"/>
            <a:ext cx="310896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549640" y="2404872"/>
            <a:ext cx="3337560" cy="438912"/>
          </a:xfrm>
          <a:prstGeom prst="rect">
            <a:avLst/>
          </a:prstGeom>
          <a:noFill/>
        </p:spPr>
        <p:txBody>
          <a:bodyPr wrap="square" lIns="73152" tIns="54864" rIns="73152" anchor="ctr">
            <a:spAutoFit/>
          </a:bodyPr>
          <a:lstStyle/>
          <a:p>
            <a:pPr algn="l"/>
            <a:r>
              <a:rPr sz="1000" b="1" i="0">
                <a:solidFill>
                  <a:srgbClr val="1E293B"/>
                </a:solidFill>
                <a:latin typeface="Segoe UI"/>
              </a:rPr>
              <a:t>SharePoint</a:t>
            </a:r>
            <a:r>
              <a:rPr sz="900" b="0" i="0">
                <a:solidFill>
                  <a:srgbClr val="64748B"/>
                </a:solidFill>
                <a:latin typeface="Segoe UI"/>
              </a:rPr>
              <a:t>  ·  descarga de provisiones nuevas</a:t>
            </a:r>
          </a:p>
        </p:txBody>
      </p:sp>
      <p:cxnSp>
        <p:nvCxnSpPr>
          <p:cNvPr id="35" name="Connector 34"/>
          <p:cNvCxnSpPr/>
          <p:nvPr/>
        </p:nvCxnSpPr>
        <p:spPr>
          <a:xfrm>
            <a:off x="8641080" y="2843784"/>
            <a:ext cx="310896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549640" y="2843784"/>
            <a:ext cx="3337560" cy="438912"/>
          </a:xfrm>
          <a:prstGeom prst="rect">
            <a:avLst/>
          </a:prstGeom>
          <a:noFill/>
        </p:spPr>
        <p:txBody>
          <a:bodyPr wrap="square" lIns="73152" tIns="54864" rIns="73152" anchor="ctr">
            <a:spAutoFit/>
          </a:bodyPr>
          <a:lstStyle/>
          <a:p>
            <a:pPr algn="l"/>
            <a:r>
              <a:rPr sz="1000" b="1" i="0">
                <a:solidFill>
                  <a:srgbClr val="1E293B"/>
                </a:solidFill>
                <a:latin typeface="Segoe UI"/>
              </a:rPr>
              <a:t>Power BI</a:t>
            </a:r>
            <a:r>
              <a:rPr sz="900" b="0" i="0">
                <a:solidFill>
                  <a:srgbClr val="64748B"/>
                </a:solidFill>
                <a:latin typeface="Segoe UI"/>
              </a:rPr>
              <a:t>  ·  notas de venta y base de clientes</a:t>
            </a:r>
          </a:p>
        </p:txBody>
      </p:sp>
      <p:cxnSp>
        <p:nvCxnSpPr>
          <p:cNvPr id="37" name="Connector 36"/>
          <p:cNvCxnSpPr/>
          <p:nvPr/>
        </p:nvCxnSpPr>
        <p:spPr>
          <a:xfrm>
            <a:off x="8641080" y="3282696"/>
            <a:ext cx="310896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549640" y="3282696"/>
            <a:ext cx="3337560" cy="438912"/>
          </a:xfrm>
          <a:prstGeom prst="rect">
            <a:avLst/>
          </a:prstGeom>
          <a:noFill/>
        </p:spPr>
        <p:txBody>
          <a:bodyPr wrap="square" lIns="73152" tIns="54864" rIns="73152" anchor="ctr">
            <a:spAutoFit/>
          </a:bodyPr>
          <a:lstStyle/>
          <a:p>
            <a:pPr algn="l"/>
            <a:r>
              <a:rPr sz="1000" b="1" i="0">
                <a:solidFill>
                  <a:srgbClr val="1E293B"/>
                </a:solidFill>
                <a:latin typeface="Segoe UI"/>
              </a:rPr>
              <a:t>Outlook</a:t>
            </a:r>
            <a:r>
              <a:rPr sz="900" b="0" i="0">
                <a:solidFill>
                  <a:srgbClr val="64748B"/>
                </a:solidFill>
                <a:latin typeface="Segoe UI"/>
              </a:rPr>
              <a:t>  ·  envío de correos a clientes</a:t>
            </a:r>
          </a:p>
        </p:txBody>
      </p:sp>
      <p:cxnSp>
        <p:nvCxnSpPr>
          <p:cNvPr id="39" name="Connector 38"/>
          <p:cNvCxnSpPr/>
          <p:nvPr/>
        </p:nvCxnSpPr>
        <p:spPr>
          <a:xfrm>
            <a:off x="8641080" y="3721608"/>
            <a:ext cx="3108960" cy="0"/>
          </a:xfrm>
          <a:prstGeom prst="line">
            <a:avLst/>
          </a:prstGeom>
          <a:ln w="9525">
            <a:solidFill>
              <a:srgbClr val="E2E8F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549640" y="3721608"/>
            <a:ext cx="3337560" cy="438912"/>
          </a:xfrm>
          <a:prstGeom prst="rect">
            <a:avLst/>
          </a:prstGeom>
          <a:noFill/>
        </p:spPr>
        <p:txBody>
          <a:bodyPr wrap="square" lIns="73152" tIns="54864" rIns="73152" anchor="ctr">
            <a:spAutoFit/>
          </a:bodyPr>
          <a:lstStyle/>
          <a:p>
            <a:pPr algn="l"/>
            <a:r>
              <a:rPr sz="1000" b="1" i="0">
                <a:solidFill>
                  <a:srgbClr val="1E293B"/>
                </a:solidFill>
                <a:latin typeface="Segoe UI"/>
              </a:rPr>
              <a:t>Reportes externos</a:t>
            </a:r>
            <a:r>
              <a:rPr sz="900" b="0" i="0">
                <a:solidFill>
                  <a:srgbClr val="64748B"/>
                </a:solidFill>
                <a:latin typeface="Segoe UI"/>
              </a:rPr>
              <a:t>  ·  RM comercial y contratos 3PC</a:t>
            </a:r>
          </a:p>
        </p:txBody>
      </p:sp>
      <p:sp>
        <p:nvSpPr>
          <p:cNvPr id="41" name="Rounded Rectangle 40"/>
          <p:cNvSpPr/>
          <p:nvPr/>
        </p:nvSpPr>
        <p:spPr>
          <a:xfrm>
            <a:off x="8458200" y="4389120"/>
            <a:ext cx="3474720" cy="2240280"/>
          </a:xfrm>
          <a:prstGeom prst="roundRect">
            <a:avLst>
              <a:gd name="adj" fmla="val 5000"/>
            </a:avLst>
          </a:prstGeom>
          <a:solidFill>
            <a:srgbClr val="FFFFFF"/>
          </a:solidFill>
          <a:ln w="12700">
            <a:solidFill>
              <a:srgbClr val="0030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ounded Rectangle 41"/>
          <p:cNvSpPr/>
          <p:nvPr/>
        </p:nvSpPr>
        <p:spPr>
          <a:xfrm>
            <a:off x="8458200" y="4389120"/>
            <a:ext cx="3474720" cy="41148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100" b="1" i="0">
                <a:solidFill>
                  <a:srgbClr val="FFFFFF"/>
                </a:solidFill>
                <a:latin typeface="Segoe UI"/>
              </a:rPr>
              <a:t>DÓNDE ESTÁN LOS DATOS</a:t>
            </a:r>
          </a:p>
        </p:txBody>
      </p:sp>
      <p:sp>
        <p:nvSpPr>
          <p:cNvPr id="43" name="Can 42"/>
          <p:cNvSpPr/>
          <p:nvPr/>
        </p:nvSpPr>
        <p:spPr>
          <a:xfrm>
            <a:off x="8595360" y="4892040"/>
            <a:ext cx="914400" cy="1097280"/>
          </a:xfrm>
          <a:prstGeom prst="can">
            <a:avLst/>
          </a:prstGeom>
          <a:solidFill>
            <a:srgbClr val="DBEAFE"/>
          </a:solidFill>
          <a:ln>
            <a:solidFill>
              <a:srgbClr val="0030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555480" y="4864608"/>
            <a:ext cx="2331720" cy="957185"/>
          </a:xfrm>
          <a:prstGeom prst="rect">
            <a:avLst/>
          </a:prstGeom>
          <a:noFill/>
        </p:spPr>
        <p:txBody>
          <a:bodyPr wrap="square" lIns="73152" tIns="18288" rIns="73152" anchor="t">
            <a:spAutoFit/>
          </a:bodyPr>
          <a:lstStyle/>
          <a:p>
            <a:pPr algn="l"/>
            <a:r>
              <a:rPr sz="1050" b="1" i="0">
                <a:solidFill>
                  <a:srgbClr val="003057"/>
                </a:solidFill>
                <a:latin typeface="Segoe UI"/>
              </a:rPr>
              <a:t>Carpeta compartida</a:t>
            </a:r>
          </a:p>
          <a:p>
            <a:pPr algn="l"/>
            <a:r>
              <a:rPr sz="900" b="0" i="0">
                <a:solidFill>
                  <a:srgbClr val="64748B"/>
                </a:solidFill>
                <a:latin typeface="Segoe UI"/>
              </a:rPr>
              <a:t>SharePoint / OneDrive</a:t>
            </a:r>
          </a:p>
          <a:p>
            <a:pPr marL="164592" indent="-164592" algn="l">
              <a:spcBef>
                <a:spcPts val="300"/>
              </a:spcBef>
              <a:buClr>
                <a:srgbClr val="2563EB"/>
              </a:buClr>
              <a:buChar char="•"/>
            </a:pPr>
            <a:r>
              <a:rPr lang="es-MX" sz="900" b="0" i="0">
                <a:solidFill>
                  <a:srgbClr val="1E293B"/>
                </a:solidFill>
                <a:latin typeface="Segoe UI"/>
              </a:rPr>
              <a:t>BASE CENTRAL DE CONTRATOS</a:t>
            </a:r>
            <a:endParaRPr sz="900" b="0" i="0">
              <a:solidFill>
                <a:srgbClr val="1E293B"/>
              </a:solidFill>
              <a:latin typeface="Segoe UI"/>
            </a:endParaRPr>
          </a:p>
          <a:p>
            <a:pPr marL="164592" indent="-164592" algn="l">
              <a:buClr>
                <a:srgbClr val="2563EB"/>
              </a:buClr>
              <a:buChar char="•"/>
            </a:pPr>
            <a:r>
              <a:rPr sz="900" b="0" i="0">
                <a:solidFill>
                  <a:srgbClr val="1E293B"/>
                </a:solidFill>
                <a:latin typeface="Segoe UI"/>
              </a:rPr>
              <a:t>Provisiones</a:t>
            </a:r>
          </a:p>
          <a:p>
            <a:pPr marL="164592" indent="-164592" algn="l">
              <a:buClr>
                <a:srgbClr val="2563EB"/>
              </a:buClr>
              <a:buChar char="•"/>
            </a:pPr>
            <a:r>
              <a:rPr sz="900" b="0" i="0">
                <a:solidFill>
                  <a:srgbClr val="1E293B"/>
                </a:solidFill>
                <a:latin typeface="Segoe UI"/>
              </a:rPr>
              <a:t>Contactos y correos</a:t>
            </a:r>
          </a:p>
          <a:p>
            <a:pPr marL="164592" indent="-164592" algn="l">
              <a:buClr>
                <a:srgbClr val="2563EB"/>
              </a:buClr>
              <a:buChar char="•"/>
            </a:pPr>
            <a:r>
              <a:rPr sz="900" b="0" i="0">
                <a:solidFill>
                  <a:srgbClr val="1E293B"/>
                </a:solidFill>
                <a:latin typeface="Segoe UI"/>
              </a:rPr>
              <a:t>Instalaciones e historial</a:t>
            </a:r>
          </a:p>
        </p:txBody>
      </p:sp>
      <p:sp>
        <p:nvSpPr>
          <p:cNvPr id="45" name="TextBox 44"/>
          <p:cNvSpPr txBox="1"/>
          <p:nvPr/>
        </p:nvSpPr>
        <p:spPr>
          <a:xfrm>
            <a:off x="8549640" y="6053328"/>
            <a:ext cx="3337560" cy="502920"/>
          </a:xfrm>
          <a:prstGeom prst="rect">
            <a:avLst/>
          </a:prstGeom>
          <a:noFill/>
        </p:spPr>
        <p:txBody>
          <a:bodyPr wrap="square" lIns="73152" tIns="0" rIns="73152" anchor="t">
            <a:spAutoFit/>
          </a:bodyPr>
          <a:lstStyle/>
          <a:p>
            <a:pPr algn="l"/>
            <a:r>
              <a:rPr sz="900" b="1" i="0">
                <a:solidFill>
                  <a:srgbClr val="003057"/>
                </a:solidFill>
                <a:latin typeface="Segoe UI"/>
              </a:rPr>
              <a:t>Respaldos automáticos </a:t>
            </a:r>
            <a:r>
              <a:rPr sz="900" b="0" i="0">
                <a:solidFill>
                  <a:srgbClr val="64748B"/>
                </a:solidFill>
                <a:latin typeface="Segoe UI"/>
              </a:rPr>
              <a:t>antes de cada guardado; se restauran desde Configuración.</a:t>
            </a:r>
          </a:p>
        </p:txBody>
      </p:sp>
      <p:cxnSp>
        <p:nvCxnSpPr>
          <p:cNvPr id="46" name="Connector 45"/>
          <p:cNvCxnSpPr/>
          <p:nvPr/>
        </p:nvCxnSpPr>
        <p:spPr>
          <a:xfrm>
            <a:off x="2157984" y="2743200"/>
            <a:ext cx="301752" cy="0"/>
          </a:xfrm>
          <a:prstGeom prst="line">
            <a:avLst/>
          </a:prstGeom>
          <a:ln w="25400">
            <a:solidFill>
              <a:srgbClr val="0030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47304" y="2834640"/>
            <a:ext cx="301752" cy="0"/>
          </a:xfrm>
          <a:prstGeom prst="line">
            <a:avLst/>
          </a:prstGeom>
          <a:ln w="25400">
            <a:solidFill>
              <a:srgbClr val="47556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147304" y="5486400"/>
            <a:ext cx="301752" cy="0"/>
          </a:xfrm>
          <a:prstGeom prst="line">
            <a:avLst/>
          </a:prstGeom>
          <a:ln w="25400">
            <a:solidFill>
              <a:srgbClr val="003057"/>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964912"/>
            <a:ext cx="12191695" cy="584775"/>
          </a:xfrm>
          <a:prstGeom prst="rect">
            <a:avLst/>
          </a:prstGeom>
          <a:noFill/>
        </p:spPr>
        <p:txBody>
          <a:bodyPr wrap="square" lIns="73152" rIns="73152" anchor="ctr">
            <a:spAutoFit/>
          </a:bodyPr>
          <a:lstStyle/>
          <a:p>
            <a:pPr algn="ctr"/>
            <a:r>
              <a:rPr lang="es-MX" sz="3200" b="1" i="0">
                <a:solidFill>
                  <a:srgbClr val="003057"/>
                </a:solidFill>
                <a:latin typeface="Segoe UI"/>
              </a:rPr>
              <a:t>Componentes y tecnologías</a:t>
            </a:r>
            <a:endParaRPr sz="3200" b="1" i="0">
              <a:solidFill>
                <a:srgbClr val="003057"/>
              </a:solidFill>
              <a:latin typeface="Segoe UI"/>
            </a:endParaRPr>
          </a:p>
        </p:txBody>
      </p:sp>
      <p:pic>
        <p:nvPicPr>
          <p:cNvPr id="8" name="Picture 7" descr="image.png"/>
          <p:cNvPicPr>
            <a:picLocks noChangeAspect="1"/>
          </p:cNvPicPr>
          <p:nvPr/>
        </p:nvPicPr>
        <p:blipFill>
          <a:blip r:embed="rId5"/>
          <a:stretch>
            <a:fillRect/>
          </a:stretch>
        </p:blipFill>
        <p:spPr>
          <a:xfrm>
            <a:off x="4854545" y="1691640"/>
            <a:ext cx="1476763" cy="777240"/>
          </a:xfrm>
          <a:prstGeom prst="rect">
            <a:avLst/>
          </a:prstGeom>
        </p:spPr>
      </p:pic>
      <p:pic>
        <p:nvPicPr>
          <p:cNvPr id="9" name="Picture 8" descr="image.png"/>
          <p:cNvPicPr>
            <a:picLocks noChangeAspect="1"/>
          </p:cNvPicPr>
          <p:nvPr/>
        </p:nvPicPr>
        <p:blipFill>
          <a:blip r:embed="rId6"/>
          <a:stretch>
            <a:fillRect/>
          </a:stretch>
        </p:blipFill>
        <p:spPr>
          <a:xfrm>
            <a:off x="6559909" y="1691640"/>
            <a:ext cx="777240" cy="777240"/>
          </a:xfrm>
          <a:prstGeom prst="rect">
            <a:avLst/>
          </a:prstGeom>
        </p:spPr>
      </p:pic>
      <p:graphicFrame>
        <p:nvGraphicFramePr>
          <p:cNvPr id="10" name="Table 9"/>
          <p:cNvGraphicFramePr>
            <a:graphicFrameLocks noGrp="1"/>
          </p:cNvGraphicFramePr>
          <p:nvPr>
            <p:extLst>
              <p:ext uri="{D42A27DB-BD31-4B8C-83A1-F6EECF244321}">
                <p14:modId xmlns:p14="http://schemas.microsoft.com/office/powerpoint/2010/main" val="2230009276"/>
              </p:ext>
            </p:extLst>
          </p:nvPr>
        </p:nvGraphicFramePr>
        <p:xfrm>
          <a:off x="1737360" y="2697480"/>
          <a:ext cx="8686800" cy="2651760"/>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65760">
                <a:tc>
                  <a:txBody>
                    <a:bodyPr/>
                    <a:lstStyle/>
                    <a:p>
                      <a:r>
                        <a:rPr lang="es-MX" sz="1200" b="1" i="0">
                          <a:solidFill>
                            <a:srgbClr val="FFFFFF"/>
                          </a:solidFill>
                          <a:latin typeface="Segoe UI"/>
                        </a:rPr>
                        <a:t>Componente</a:t>
                      </a:r>
                      <a:endParaRPr sz="1200" b="1" i="0">
                        <a:solidFill>
                          <a:srgbClr val="FFFFFF"/>
                        </a:solidFill>
                        <a:latin typeface="Segoe UI"/>
                      </a:endParaRPr>
                    </a:p>
                  </a:txBody>
                  <a:tcPr marL="109728" anchor="ctr">
                    <a:solidFill>
                      <a:srgbClr val="003057"/>
                    </a:solidFill>
                  </a:tcPr>
                </a:tc>
                <a:tc>
                  <a:txBody>
                    <a:bodyPr/>
                    <a:lstStyle/>
                    <a:p>
                      <a:r>
                        <a:rPr lang="es-CL" sz="1200" b="1" i="0">
                          <a:solidFill>
                            <a:srgbClr val="FFFFFF"/>
                          </a:solidFill>
                          <a:latin typeface="Segoe UI"/>
                        </a:rPr>
                        <a:t>Tecnologías y para qué se usan</a:t>
                      </a:r>
                      <a:endParaRPr sz="1200" b="1" i="0">
                        <a:solidFill>
                          <a:srgbClr val="FFFFFF"/>
                        </a:solidFill>
                        <a:latin typeface="Segoe UI"/>
                      </a:endParaRPr>
                    </a:p>
                  </a:txBody>
                  <a:tcPr marL="109728" anchor="ctr">
                    <a:solidFill>
                      <a:srgbClr val="003057"/>
                    </a:solidFill>
                  </a:tcPr>
                </a:tc>
                <a:extLst>
                  <a:ext uri="{0D108BD9-81ED-4DB2-BD59-A6C34878D82A}">
                    <a16:rowId xmlns:a16="http://schemas.microsoft.com/office/drawing/2014/main" val="10000"/>
                  </a:ext>
                </a:extLst>
              </a:tr>
              <a:tr h="365760">
                <a:tc>
                  <a:txBody>
                    <a:bodyPr/>
                    <a:lstStyle/>
                    <a:p>
                      <a:r>
                        <a:rPr lang="es-MX" sz="1200" b="1" i="0">
                          <a:solidFill>
                            <a:srgbClr val="003057"/>
                          </a:solidFill>
                          <a:latin typeface="Segoe UI"/>
                        </a:rPr>
                        <a:t>Backend</a:t>
                      </a:r>
                      <a:endParaRPr sz="1200" b="1" i="0">
                        <a:solidFill>
                          <a:srgbClr val="003057"/>
                        </a:solidFill>
                        <a:latin typeface="Segoe UI"/>
                      </a:endParaRPr>
                    </a:p>
                  </a:txBody>
                  <a:tcPr marL="109728" anchor="ctr">
                    <a:solidFill>
                      <a:srgbClr val="FFFFFF"/>
                    </a:solidFill>
                  </a:tcPr>
                </a:tc>
                <a:tc>
                  <a:txBody>
                    <a:bodyPr/>
                    <a:lstStyle/>
                    <a:p>
                      <a:r>
                        <a:rPr lang="es-CL" sz="1200" b="0" i="0">
                          <a:solidFill>
                            <a:srgbClr val="1E293B"/>
                          </a:solidFill>
                          <a:latin typeface="Segoe UI"/>
                        </a:rPr>
                        <a:t>Python con pandas (cruza y filtra en memoria los datos de más de 12.000 camiones) y openpyxl (escribe en los Excel respetando su formato).</a:t>
                      </a:r>
                      <a:endParaRPr sz="1200" b="0" i="0">
                        <a:solidFill>
                          <a:srgbClr val="1E293B"/>
                        </a:solidFill>
                        <a:latin typeface="Segoe UI"/>
                      </a:endParaRPr>
                    </a:p>
                  </a:txBody>
                  <a:tcPr marL="109728" anchor="ctr">
                    <a:solidFill>
                      <a:srgbClr val="FFFFFF"/>
                    </a:solidFill>
                  </a:tcPr>
                </a:tc>
                <a:extLst>
                  <a:ext uri="{0D108BD9-81ED-4DB2-BD59-A6C34878D82A}">
                    <a16:rowId xmlns:a16="http://schemas.microsoft.com/office/drawing/2014/main" val="10001"/>
                  </a:ext>
                </a:extLst>
              </a:tr>
              <a:tr h="365760">
                <a:tc>
                  <a:txBody>
                    <a:bodyPr/>
                    <a:lstStyle/>
                    <a:p>
                      <a:r>
                        <a:rPr lang="es-MX" sz="1200" b="1" i="0">
                          <a:solidFill>
                            <a:srgbClr val="003057"/>
                          </a:solidFill>
                          <a:latin typeface="Segoe UI"/>
                        </a:rPr>
                        <a:t>Frontend</a:t>
                      </a:r>
                      <a:endParaRPr sz="1200" b="1" i="0">
                        <a:solidFill>
                          <a:srgbClr val="003057"/>
                        </a:solidFill>
                        <a:latin typeface="Segoe UI"/>
                      </a:endParaRPr>
                    </a:p>
                  </a:txBody>
                  <a:tcPr marL="109728" anchor="ctr">
                    <a:solidFill>
                      <a:srgbClr val="F8FAFC"/>
                    </a:solidFill>
                  </a:tcPr>
                </a:tc>
                <a:tc>
                  <a:txBody>
                    <a:bodyPr/>
                    <a:lstStyle/>
                    <a:p>
                      <a:r>
                        <a:rPr lang="es-CL" sz="1200" b="0" i="0">
                          <a:solidFill>
                            <a:srgbClr val="1E293B"/>
                          </a:solidFill>
                          <a:latin typeface="Segoe UI"/>
                        </a:rPr>
                        <a:t>PyQt6 para las ventanas, tablas y botones de escritorio, y un navegador integrado que muestra el dashboard web.</a:t>
                      </a:r>
                      <a:endParaRPr sz="1200" b="0" i="0">
                        <a:solidFill>
                          <a:srgbClr val="1E293B"/>
                        </a:solidFill>
                        <a:latin typeface="Segoe UI"/>
                      </a:endParaRPr>
                    </a:p>
                  </a:txBody>
                  <a:tcPr marL="109728" anchor="ctr">
                    <a:solidFill>
                      <a:srgbClr val="F8FAFC"/>
                    </a:solidFill>
                  </a:tcPr>
                </a:tc>
                <a:extLst>
                  <a:ext uri="{0D108BD9-81ED-4DB2-BD59-A6C34878D82A}">
                    <a16:rowId xmlns:a16="http://schemas.microsoft.com/office/drawing/2014/main" val="10002"/>
                  </a:ext>
                </a:extLst>
              </a:tr>
              <a:tr h="365760">
                <a:tc>
                  <a:txBody>
                    <a:bodyPr/>
                    <a:lstStyle/>
                    <a:p>
                      <a:r>
                        <a:rPr lang="es-MX" sz="1200" b="1" i="0">
                          <a:solidFill>
                            <a:srgbClr val="003057"/>
                          </a:solidFill>
                          <a:latin typeface="Segoe UI"/>
                        </a:rPr>
                        <a:t>API e integraciones</a:t>
                      </a:r>
                      <a:endParaRPr sz="1200" b="1" i="0">
                        <a:solidFill>
                          <a:srgbClr val="003057"/>
                        </a:solidFill>
                        <a:latin typeface="Segoe UI"/>
                      </a:endParaRPr>
                    </a:p>
                  </a:txBody>
                  <a:tcPr marL="109728" anchor="ctr">
                    <a:solidFill>
                      <a:srgbClr val="FFFFFF"/>
                    </a:solidFill>
                  </a:tcPr>
                </a:tc>
                <a:tc>
                  <a:txBody>
                    <a:bodyPr/>
                    <a:lstStyle/>
                    <a:p>
                      <a:r>
                        <a:rPr lang="es-CL" sz="1200" b="0" i="0">
                          <a:solidFill>
                            <a:srgbClr val="1E293B"/>
                          </a:solidFill>
                          <a:latin typeface="Segoe UI"/>
                        </a:rPr>
                        <a:t>Sin servidor propio: Outlook para enviar correos con plantillas e importación de reportes desde SharePoint y Power BI.</a:t>
                      </a:r>
                      <a:endParaRPr sz="1200" b="0" i="0">
                        <a:solidFill>
                          <a:srgbClr val="1E293B"/>
                        </a:solidFill>
                        <a:latin typeface="Segoe UI"/>
                      </a:endParaRPr>
                    </a:p>
                  </a:txBody>
                  <a:tcPr marL="109728" anchor="ctr">
                    <a:solidFill>
                      <a:srgbClr val="FFFFFF"/>
                    </a:solidFill>
                  </a:tcPr>
                </a:tc>
                <a:extLst>
                  <a:ext uri="{0D108BD9-81ED-4DB2-BD59-A6C34878D82A}">
                    <a16:rowId xmlns:a16="http://schemas.microsoft.com/office/drawing/2014/main" val="10003"/>
                  </a:ext>
                </a:extLst>
              </a:tr>
              <a:tr h="365760">
                <a:tc>
                  <a:txBody>
                    <a:bodyPr/>
                    <a:lstStyle/>
                    <a:p>
                      <a:r>
                        <a:rPr lang="es-MX" sz="1200" b="1" i="0">
                          <a:solidFill>
                            <a:srgbClr val="003057"/>
                          </a:solidFill>
                          <a:latin typeface="Segoe UI"/>
                        </a:rPr>
                        <a:t>Base de datos</a:t>
                      </a:r>
                      <a:endParaRPr sz="1200" b="1" i="0">
                        <a:solidFill>
                          <a:srgbClr val="003057"/>
                        </a:solidFill>
                        <a:latin typeface="Segoe UI"/>
                      </a:endParaRPr>
                    </a:p>
                  </a:txBody>
                  <a:tcPr marL="109728" anchor="ctr">
                    <a:solidFill>
                      <a:srgbClr val="F8FAFC"/>
                    </a:solidFill>
                  </a:tcPr>
                </a:tc>
                <a:tc>
                  <a:txBody>
                    <a:bodyPr/>
                    <a:lstStyle/>
                    <a:p>
                      <a:r>
                        <a:rPr lang="es-CL" sz="1200" b="0" i="0">
                          <a:solidFill>
                            <a:srgbClr val="1E293B"/>
                          </a:solidFill>
                          <a:latin typeface="Segoe UI"/>
                        </a:rPr>
                        <a:t>Excel y CSV en SharePoint, porque no se permite SQL. </a:t>
                      </a:r>
                      <a:r>
                        <a:rPr lang="it-IT" sz="1200" b="0" i="0">
                          <a:solidFill>
                            <a:srgbClr val="1E293B"/>
                          </a:solidFill>
                          <a:latin typeface="Segoe UI"/>
                        </a:rPr>
                        <a:t>Una base central con una fila por contrato (N° Contrato).</a:t>
                      </a:r>
                      <a:endParaRPr sz="1200" b="0" i="0">
                        <a:solidFill>
                          <a:srgbClr val="1E293B"/>
                        </a:solidFill>
                        <a:latin typeface="Segoe UI"/>
                      </a:endParaRPr>
                    </a:p>
                  </a:txBody>
                  <a:tcPr marL="109728" anchor="ctr">
                    <a:solidFill>
                      <a:srgbClr val="F8FAFC"/>
                    </a:solidFill>
                  </a:tcPr>
                </a:tc>
                <a:extLst>
                  <a:ext uri="{0D108BD9-81ED-4DB2-BD59-A6C34878D82A}">
                    <a16:rowId xmlns:a16="http://schemas.microsoft.com/office/drawing/2014/main" val="10004"/>
                  </a:ext>
                </a:extLst>
              </a:tr>
              <a:tr h="365760">
                <a:tc>
                  <a:txBody>
                    <a:bodyPr/>
                    <a:lstStyle/>
                    <a:p>
                      <a:r>
                        <a:rPr lang="es-MX" sz="1200" b="1" i="0">
                          <a:solidFill>
                            <a:srgbClr val="003057"/>
                          </a:solidFill>
                          <a:latin typeface="Segoe UI"/>
                        </a:rPr>
                        <a:t>Herramientas</a:t>
                      </a:r>
                      <a:endParaRPr sz="1200" b="1" i="0">
                        <a:solidFill>
                          <a:srgbClr val="003057"/>
                        </a:solidFill>
                        <a:latin typeface="Segoe UI"/>
                      </a:endParaRPr>
                    </a:p>
                  </a:txBody>
                  <a:tcPr marL="109728" anchor="ctr">
                    <a:solidFill>
                      <a:srgbClr val="FFFFFF"/>
                    </a:solidFill>
                  </a:tcPr>
                </a:tc>
                <a:tc>
                  <a:txBody>
                    <a:bodyPr/>
                    <a:lstStyle/>
                    <a:p>
                      <a:r>
                        <a:rPr lang="es-CL" sz="1200" b="0" i="0">
                          <a:solidFill>
                            <a:srgbClr val="1E293B"/>
                          </a:solidFill>
                          <a:latin typeface="Segoe UI"/>
                        </a:rPr>
                        <a:t>PyInstaller genera el ejecutable (.exe) y unittest ejecuta más de 1.000 pruebas automáticas.</a:t>
                      </a:r>
                      <a:endParaRPr sz="1200" b="0" i="0">
                        <a:solidFill>
                          <a:srgbClr val="1E293B"/>
                        </a:solidFill>
                        <a:latin typeface="Segoe UI"/>
                      </a:endParaRPr>
                    </a:p>
                  </a:txBody>
                  <a:tcPr marL="109728"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44269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896112"/>
            <a:ext cx="12191695" cy="502920"/>
          </a:xfrm>
          <a:prstGeom prst="rect">
            <a:avLst/>
          </a:prstGeom>
          <a:noFill/>
        </p:spPr>
        <p:txBody>
          <a:bodyPr wrap="square" lIns="73152" rIns="73152" anchor="ctr">
            <a:spAutoFit/>
          </a:bodyPr>
          <a:lstStyle/>
          <a:p>
            <a:pPr algn="ctr"/>
            <a:r>
              <a:rPr sz="2600" b="1" i="0">
                <a:solidFill>
                  <a:srgbClr val="003057"/>
                </a:solidFill>
                <a:latin typeface="Segoe UI"/>
              </a:rPr>
              <a:t>Modelo de datos · Cómo se conectan en la app</a:t>
            </a:r>
          </a:p>
        </p:txBody>
      </p:sp>
      <p:sp>
        <p:nvSpPr>
          <p:cNvPr id="8" name="Rounded Rectangle 7"/>
          <p:cNvSpPr/>
          <p:nvPr/>
        </p:nvSpPr>
        <p:spPr>
          <a:xfrm>
            <a:off x="3931920" y="1600200"/>
            <a:ext cx="4343400" cy="3749039"/>
          </a:xfrm>
          <a:prstGeom prst="roundRect">
            <a:avLst>
              <a:gd name="adj" fmla="val 4000"/>
            </a:avLst>
          </a:prstGeom>
          <a:solidFill>
            <a:srgbClr val="FFFFFF"/>
          </a:solidFill>
          <a:ln w="25400">
            <a:solidFill>
              <a:srgbClr val="0030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3931920" y="1600200"/>
            <a:ext cx="4343400" cy="566928"/>
          </a:xfrm>
          <a:prstGeom prst="roundRect">
            <a:avLst>
              <a:gd name="adj" fmla="val 1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400" b="1" i="0">
                <a:solidFill>
                  <a:srgbClr val="FFFFFF"/>
                </a:solidFill>
                <a:latin typeface="Segoe UI"/>
              </a:rPr>
              <a:t>BASE CENTRAL DE CONTRATOS</a:t>
            </a:r>
            <a:endParaRPr sz="1400" b="1" i="0">
              <a:solidFill>
                <a:srgbClr val="FFFFFF"/>
              </a:solidFill>
              <a:latin typeface="Segoe UI"/>
            </a:endParaRPr>
          </a:p>
          <a:p>
            <a:pPr algn="ctr"/>
            <a:r>
              <a:rPr lang="es-CL" sz="1100" b="0" i="0">
                <a:solidFill>
                  <a:srgbClr val="DCE6F2"/>
                </a:solidFill>
                <a:latin typeface="Segoe UI"/>
              </a:rPr>
              <a:t>una fila por contrato · PruebasFM</a:t>
            </a:r>
            <a:endParaRPr sz="1100" b="0" i="0">
              <a:solidFill>
                <a:srgbClr val="DCE6F2"/>
              </a:solidFill>
              <a:latin typeface="Segoe UI"/>
            </a:endParaRPr>
          </a:p>
        </p:txBody>
      </p:sp>
      <p:sp>
        <p:nvSpPr>
          <p:cNvPr id="10" name="Rounded Rectangle 9"/>
          <p:cNvSpPr/>
          <p:nvPr/>
        </p:nvSpPr>
        <p:spPr>
          <a:xfrm>
            <a:off x="4069080" y="2313432"/>
            <a:ext cx="1965960" cy="886968"/>
          </a:xfrm>
          <a:prstGeom prst="roundRect">
            <a:avLst>
              <a:gd name="adj" fmla="val 10000"/>
            </a:avLst>
          </a:prstGeom>
          <a:solidFill>
            <a:srgbClr val="FFEDD5"/>
          </a:solidFill>
          <a:ln w="9525">
            <a:solidFill>
              <a:srgbClr val="C2410C"/>
            </a:solidFill>
          </a:ln>
          <a:effectLst/>
        </p:spPr>
        <p:style>
          <a:lnRef idx="1">
            <a:schemeClr val="accent1"/>
          </a:lnRef>
          <a:fillRef idx="3">
            <a:schemeClr val="accent1"/>
          </a:fillRef>
          <a:effectRef idx="2">
            <a:schemeClr val="accent1"/>
          </a:effectRef>
          <a:fontRef idx="minor">
            <a:schemeClr val="lt1"/>
          </a:fontRef>
        </p:style>
        <p:txBody>
          <a:bodyPr wrap="square" lIns="82296" rIns="54864" rtlCol="0" anchor="t"/>
          <a:lstStyle/>
          <a:p>
            <a:pPr algn="l"/>
            <a:r>
              <a:rPr sz="1050" b="1" i="0">
                <a:solidFill>
                  <a:srgbClr val="003057"/>
                </a:solidFill>
                <a:latin typeface="Segoe UI"/>
              </a:rPr>
              <a:t>Identificación</a:t>
            </a:r>
          </a:p>
          <a:p>
            <a:pPr algn="l">
              <a:spcBef>
                <a:spcPts val="200"/>
              </a:spcBef>
            </a:pPr>
            <a:r>
              <a:rPr lang="es-MX" sz="850" b="0" i="0">
                <a:solidFill>
                  <a:srgbClr val="1E293B"/>
                </a:solidFill>
                <a:latin typeface="Segoe UI"/>
              </a:rPr>
              <a:t>N° Contrato (ID) · VIN · Chasis · Modelo</a:t>
            </a:r>
            <a:endParaRPr sz="850" b="0" i="0">
              <a:solidFill>
                <a:srgbClr val="1E293B"/>
              </a:solidFill>
              <a:latin typeface="Segoe UI"/>
            </a:endParaRPr>
          </a:p>
        </p:txBody>
      </p:sp>
      <p:sp>
        <p:nvSpPr>
          <p:cNvPr id="11" name="Rounded Rectangle 10"/>
          <p:cNvSpPr/>
          <p:nvPr/>
        </p:nvSpPr>
        <p:spPr>
          <a:xfrm>
            <a:off x="6126480" y="2313432"/>
            <a:ext cx="1965960" cy="886968"/>
          </a:xfrm>
          <a:prstGeom prst="roundRect">
            <a:avLst>
              <a:gd name="adj" fmla="val 10000"/>
            </a:avLst>
          </a:prstGeom>
          <a:solidFill>
            <a:srgbClr val="EEF4FB"/>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rIns="54864" rtlCol="0" anchor="t"/>
          <a:lstStyle/>
          <a:p>
            <a:pPr algn="l"/>
            <a:r>
              <a:rPr sz="1050" b="1" i="0">
                <a:solidFill>
                  <a:srgbClr val="003057"/>
                </a:solidFill>
                <a:latin typeface="Segoe UI"/>
              </a:rPr>
              <a:t>Cliente</a:t>
            </a:r>
          </a:p>
          <a:p>
            <a:pPr algn="l">
              <a:spcBef>
                <a:spcPts val="200"/>
              </a:spcBef>
            </a:pPr>
            <a:r>
              <a:rPr sz="850" b="0" i="0">
                <a:solidFill>
                  <a:srgbClr val="1E293B"/>
                </a:solidFill>
                <a:latin typeface="Segoe UI"/>
              </a:rPr>
              <a:t>Razón social · RUT · CDB · Ejecutivo · Industria · Flota</a:t>
            </a:r>
          </a:p>
        </p:txBody>
      </p:sp>
      <p:sp>
        <p:nvSpPr>
          <p:cNvPr id="12" name="Rounded Rectangle 11"/>
          <p:cNvSpPr/>
          <p:nvPr/>
        </p:nvSpPr>
        <p:spPr>
          <a:xfrm>
            <a:off x="4069080" y="3291840"/>
            <a:ext cx="1965960" cy="886968"/>
          </a:xfrm>
          <a:prstGeom prst="roundRect">
            <a:avLst>
              <a:gd name="adj" fmla="val 10000"/>
            </a:avLst>
          </a:prstGeom>
          <a:solidFill>
            <a:srgbClr val="EEF4FB"/>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rIns="54864" rtlCol="0" anchor="t"/>
          <a:lstStyle/>
          <a:p>
            <a:pPr algn="l"/>
            <a:r>
              <a:rPr sz="1050" b="1" i="0">
                <a:solidFill>
                  <a:srgbClr val="003057"/>
                </a:solidFill>
                <a:latin typeface="Segoe UI"/>
              </a:rPr>
              <a:t>Contrato</a:t>
            </a:r>
          </a:p>
          <a:p>
            <a:pPr algn="l">
              <a:spcBef>
                <a:spcPts val="200"/>
              </a:spcBef>
            </a:pPr>
            <a:r>
              <a:rPr sz="850" b="0" i="0">
                <a:solidFill>
                  <a:srgbClr val="1E293B"/>
                </a:solidFill>
                <a:latin typeface="Segoe UI"/>
              </a:rPr>
              <a:t>Forma de contrato · Plan · Inicio · Duración · Término</a:t>
            </a:r>
          </a:p>
        </p:txBody>
      </p:sp>
      <p:sp>
        <p:nvSpPr>
          <p:cNvPr id="13" name="Rounded Rectangle 12"/>
          <p:cNvSpPr/>
          <p:nvPr/>
        </p:nvSpPr>
        <p:spPr>
          <a:xfrm>
            <a:off x="6126480" y="3291840"/>
            <a:ext cx="1965960" cy="886968"/>
          </a:xfrm>
          <a:prstGeom prst="roundRect">
            <a:avLst>
              <a:gd name="adj" fmla="val 10000"/>
            </a:avLst>
          </a:prstGeom>
          <a:solidFill>
            <a:srgbClr val="EEF4FB"/>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rIns="54864" rtlCol="0" anchor="t"/>
          <a:lstStyle/>
          <a:p>
            <a:pPr algn="l"/>
            <a:r>
              <a:rPr sz="1050" b="1" i="0">
                <a:solidFill>
                  <a:srgbClr val="003057"/>
                </a:solidFill>
                <a:latin typeface="Segoe UI"/>
              </a:rPr>
              <a:t>Estados</a:t>
            </a:r>
          </a:p>
          <a:p>
            <a:pPr algn="l">
              <a:spcBef>
                <a:spcPts val="200"/>
              </a:spcBef>
            </a:pPr>
            <a:r>
              <a:rPr sz="850" b="0" i="0">
                <a:solidFill>
                  <a:srgbClr val="1E293B"/>
                </a:solidFill>
                <a:latin typeface="Segoe UI"/>
              </a:rPr>
              <a:t>Comercial · Activación · Etapa de gestión</a:t>
            </a:r>
          </a:p>
        </p:txBody>
      </p:sp>
      <p:sp>
        <p:nvSpPr>
          <p:cNvPr id="14" name="Rounded Rectangle 13"/>
          <p:cNvSpPr/>
          <p:nvPr/>
        </p:nvSpPr>
        <p:spPr>
          <a:xfrm>
            <a:off x="4069080" y="4270248"/>
            <a:ext cx="1965960" cy="886968"/>
          </a:xfrm>
          <a:prstGeom prst="roundRect">
            <a:avLst>
              <a:gd name="adj" fmla="val 10000"/>
            </a:avLst>
          </a:prstGeom>
          <a:solidFill>
            <a:srgbClr val="EEF4FB"/>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rIns="54864" rtlCol="0" anchor="t"/>
          <a:lstStyle/>
          <a:p>
            <a:pPr algn="l"/>
            <a:r>
              <a:rPr sz="1050" b="1" i="0">
                <a:solidFill>
                  <a:srgbClr val="003057"/>
                </a:solidFill>
                <a:latin typeface="Segoe UI"/>
              </a:rPr>
              <a:t>Facturación</a:t>
            </a:r>
          </a:p>
          <a:p>
            <a:pPr algn="l">
              <a:spcBef>
                <a:spcPts val="200"/>
              </a:spcBef>
            </a:pPr>
            <a:r>
              <a:rPr sz="850" b="0" i="0">
                <a:solidFill>
                  <a:srgbClr val="1E293B"/>
                </a:solidFill>
                <a:latin typeface="Segoe UI"/>
              </a:rPr>
              <a:t>Tipo de facturación · JustTime</a:t>
            </a:r>
          </a:p>
        </p:txBody>
      </p:sp>
      <p:sp>
        <p:nvSpPr>
          <p:cNvPr id="15" name="Rounded Rectangle 14"/>
          <p:cNvSpPr/>
          <p:nvPr/>
        </p:nvSpPr>
        <p:spPr>
          <a:xfrm>
            <a:off x="6126480" y="4270248"/>
            <a:ext cx="1965960" cy="886968"/>
          </a:xfrm>
          <a:prstGeom prst="roundRect">
            <a:avLst>
              <a:gd name="adj" fmla="val 10000"/>
            </a:avLst>
          </a:prstGeom>
          <a:solidFill>
            <a:srgbClr val="EEF4FB"/>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82296" rIns="54864" rtlCol="0" anchor="t"/>
          <a:lstStyle/>
          <a:p>
            <a:pPr algn="l"/>
            <a:r>
              <a:rPr sz="1050" b="1" i="0">
                <a:solidFill>
                  <a:srgbClr val="003057"/>
                </a:solidFill>
                <a:latin typeface="Segoe UI"/>
              </a:rPr>
              <a:t>Mantenimiento (CM)</a:t>
            </a:r>
          </a:p>
          <a:p>
            <a:pPr algn="l">
              <a:spcBef>
                <a:spcPts val="200"/>
              </a:spcBef>
            </a:pPr>
            <a:r>
              <a:rPr sz="850" b="0" i="0">
                <a:solidFill>
                  <a:srgbClr val="1E293B"/>
                </a:solidFill>
                <a:latin typeface="Segoe UI"/>
              </a:rPr>
              <a:t>N° contrato · Fechas · Estado · Pago</a:t>
            </a:r>
          </a:p>
        </p:txBody>
      </p:sp>
      <p:sp>
        <p:nvSpPr>
          <p:cNvPr id="16" name="Rounded Rectangle 15"/>
          <p:cNvSpPr/>
          <p:nvPr/>
        </p:nvSpPr>
        <p:spPr>
          <a:xfrm>
            <a:off x="274320" y="1600200"/>
            <a:ext cx="2926080" cy="713232"/>
          </a:xfrm>
          <a:prstGeom prst="roundRect">
            <a:avLst>
              <a:gd name="adj" fmla="val 10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1C6BBA"/>
                </a:solidFill>
                <a:latin typeface="Segoe UI"/>
              </a:rPr>
              <a:t>Provisiones nuevas (SharePoint)</a:t>
            </a:r>
          </a:p>
          <a:p>
            <a:pPr algn="l">
              <a:spcBef>
                <a:spcPts val="200"/>
              </a:spcBef>
            </a:pPr>
            <a:r>
              <a:rPr sz="900" b="0" i="0">
                <a:solidFill>
                  <a:srgbClr val="1E293B"/>
                </a:solidFill>
                <a:latin typeface="Segoe UI"/>
              </a:rPr>
              <a:t>Solo se agregan los cobros nuevos del mes</a:t>
            </a:r>
          </a:p>
        </p:txBody>
      </p:sp>
      <p:cxnSp>
        <p:nvCxnSpPr>
          <p:cNvPr id="17" name="Connector 16"/>
          <p:cNvCxnSpPr/>
          <p:nvPr/>
        </p:nvCxnSpPr>
        <p:spPr>
          <a:xfrm>
            <a:off x="1737360" y="2322576"/>
            <a:ext cx="0" cy="274320"/>
          </a:xfrm>
          <a:prstGeom prst="line">
            <a:avLst/>
          </a:prstGeom>
          <a:ln w="22225">
            <a:solidFill>
              <a:srgbClr val="1C6B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4320" y="2606040"/>
            <a:ext cx="2926080" cy="960120"/>
          </a:xfrm>
          <a:prstGeom prst="roundRect">
            <a:avLst>
              <a:gd name="adj" fmla="val 10000"/>
            </a:avLst>
          </a:prstGeom>
          <a:solidFill>
            <a:srgbClr val="FFFFFF"/>
          </a:solidFill>
          <a:ln w="15875">
            <a:solidFill>
              <a:srgbClr val="003057"/>
            </a:solidFill>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003057"/>
                </a:solidFill>
                <a:latin typeface="Segoe UI"/>
              </a:rPr>
              <a:t>Provisiones (Felipe)</a:t>
            </a:r>
          </a:p>
          <a:p>
            <a:pPr algn="l">
              <a:spcBef>
                <a:spcPts val="200"/>
              </a:spcBef>
            </a:pPr>
            <a:r>
              <a:rPr sz="900" b="0" i="0">
                <a:solidFill>
                  <a:srgbClr val="1E293B"/>
                </a:solidFill>
                <a:latin typeface="Segoe UI"/>
              </a:rPr>
              <a:t>Al guardar actualiza el plan, la duración y el período del camión</a:t>
            </a:r>
          </a:p>
        </p:txBody>
      </p:sp>
      <p:cxnSp>
        <p:nvCxnSpPr>
          <p:cNvPr id="19" name="Connector 18"/>
          <p:cNvCxnSpPr/>
          <p:nvPr/>
        </p:nvCxnSpPr>
        <p:spPr>
          <a:xfrm>
            <a:off x="3209544" y="3081528"/>
            <a:ext cx="713232" cy="0"/>
          </a:xfrm>
          <a:prstGeom prst="line">
            <a:avLst/>
          </a:prstGeom>
          <a:ln w="25400">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154680" y="2697480"/>
            <a:ext cx="822960" cy="384048"/>
          </a:xfrm>
          <a:prstGeom prst="rect">
            <a:avLst/>
          </a:prstGeom>
          <a:noFill/>
        </p:spPr>
        <p:txBody>
          <a:bodyPr wrap="square" lIns="73152" tIns="0" rIns="73152" bIns="0" anchor="t">
            <a:spAutoFit/>
          </a:bodyPr>
          <a:lstStyle/>
          <a:p>
            <a:pPr algn="ctr"/>
            <a:r>
              <a:rPr sz="950" b="1" i="0">
                <a:solidFill>
                  <a:srgbClr val="C2410C"/>
                </a:solidFill>
                <a:latin typeface="Segoe UI"/>
              </a:rPr>
              <a:t>por VIN</a:t>
            </a:r>
          </a:p>
        </p:txBody>
      </p:sp>
      <p:sp>
        <p:nvSpPr>
          <p:cNvPr id="21" name="Rounded Rectangle 20"/>
          <p:cNvSpPr/>
          <p:nvPr/>
        </p:nvSpPr>
        <p:spPr>
          <a:xfrm>
            <a:off x="274320" y="3794760"/>
            <a:ext cx="2926080" cy="960120"/>
          </a:xfrm>
          <a:prstGeom prst="roundRect">
            <a:avLst>
              <a:gd name="adj" fmla="val 10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1C6BBA"/>
                </a:solidFill>
                <a:latin typeface="Segoe UI"/>
              </a:rPr>
              <a:t>Notas de venta (Power BI)</a:t>
            </a:r>
          </a:p>
          <a:p>
            <a:pPr algn="l">
              <a:spcBef>
                <a:spcPts val="200"/>
              </a:spcBef>
            </a:pPr>
            <a:r>
              <a:rPr sz="900" b="0" i="0">
                <a:solidFill>
                  <a:srgbClr val="1E293B"/>
                </a:solidFill>
                <a:latin typeface="Segoe UI"/>
              </a:rPr>
              <a:t>Da de alta camiones nuevos con los datos del cliente</a:t>
            </a:r>
          </a:p>
        </p:txBody>
      </p:sp>
      <p:cxnSp>
        <p:nvCxnSpPr>
          <p:cNvPr id="22" name="Connector 21"/>
          <p:cNvCxnSpPr/>
          <p:nvPr/>
        </p:nvCxnSpPr>
        <p:spPr>
          <a:xfrm>
            <a:off x="3209544" y="4270248"/>
            <a:ext cx="713232" cy="0"/>
          </a:xfrm>
          <a:prstGeom prst="line">
            <a:avLst/>
          </a:prstGeom>
          <a:ln w="25400">
            <a:solidFill>
              <a:srgbClr val="1C6B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154680" y="3886200"/>
            <a:ext cx="822960" cy="384048"/>
          </a:xfrm>
          <a:prstGeom prst="rect">
            <a:avLst/>
          </a:prstGeom>
          <a:noFill/>
        </p:spPr>
        <p:txBody>
          <a:bodyPr wrap="square" lIns="73152" tIns="0" rIns="73152" bIns="0" anchor="t">
            <a:spAutoFit/>
          </a:bodyPr>
          <a:lstStyle/>
          <a:p>
            <a:pPr algn="ctr"/>
            <a:r>
              <a:rPr sz="950" b="1" i="0">
                <a:solidFill>
                  <a:srgbClr val="1C6BBA"/>
                </a:solidFill>
                <a:latin typeface="Segoe UI"/>
              </a:rPr>
              <a:t>alta</a:t>
            </a:r>
          </a:p>
        </p:txBody>
      </p:sp>
      <p:sp>
        <p:nvSpPr>
          <p:cNvPr id="24" name="Rounded Rectangle 23"/>
          <p:cNvSpPr/>
          <p:nvPr/>
        </p:nvSpPr>
        <p:spPr>
          <a:xfrm>
            <a:off x="274320" y="4983480"/>
            <a:ext cx="2926080" cy="822960"/>
          </a:xfrm>
          <a:prstGeom prst="roundRect">
            <a:avLst>
              <a:gd name="adj" fmla="val 10000"/>
            </a:avLst>
          </a:prstGeom>
          <a:solidFill>
            <a:srgbClr val="FFFFFF"/>
          </a:solidFill>
          <a:ln w="15875">
            <a:solidFill>
              <a:srgbClr val="475569"/>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475569"/>
                </a:solidFill>
                <a:latin typeface="Segoe UI"/>
              </a:rPr>
              <a:t>RM de la contraparte comercial</a:t>
            </a:r>
          </a:p>
          <a:p>
            <a:pPr algn="l">
              <a:spcBef>
                <a:spcPts val="200"/>
              </a:spcBef>
            </a:pPr>
            <a:r>
              <a:rPr sz="900" b="0" i="0">
                <a:solidFill>
                  <a:srgbClr val="1E293B"/>
                </a:solidFill>
                <a:latin typeface="Segoe UI"/>
              </a:rPr>
              <a:t>Sincronización temporal: se dejará de usar</a:t>
            </a:r>
          </a:p>
        </p:txBody>
      </p:sp>
      <p:cxnSp>
        <p:nvCxnSpPr>
          <p:cNvPr id="25" name="Connector 24"/>
          <p:cNvCxnSpPr/>
          <p:nvPr/>
        </p:nvCxnSpPr>
        <p:spPr>
          <a:xfrm flipV="1">
            <a:off x="3209544" y="4937760"/>
            <a:ext cx="713232" cy="457200"/>
          </a:xfrm>
          <a:prstGeom prst="line">
            <a:avLst/>
          </a:prstGeom>
          <a:ln w="19050">
            <a:solidFill>
              <a:srgbClr val="47556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61120" y="1600200"/>
            <a:ext cx="2971800" cy="914400"/>
          </a:xfrm>
          <a:prstGeom prst="roundRect">
            <a:avLst>
              <a:gd name="adj" fmla="val 10000"/>
            </a:avLst>
          </a:prstGeom>
          <a:solidFill>
            <a:srgbClr val="FFFFFF"/>
          </a:solidFill>
          <a:ln w="15875">
            <a:solidFill>
              <a:srgbClr val="003057"/>
            </a:solidFill>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003057"/>
                </a:solidFill>
                <a:latin typeface="Segoe UI"/>
              </a:rPr>
              <a:t>Contactos (equipo Contactos)</a:t>
            </a:r>
          </a:p>
          <a:p>
            <a:pPr algn="l">
              <a:spcBef>
                <a:spcPts val="200"/>
              </a:spcBef>
            </a:pPr>
            <a:r>
              <a:rPr sz="900" b="0" i="0">
                <a:solidFill>
                  <a:srgbClr val="1E293B"/>
                </a:solidFill>
                <a:latin typeface="Segoe UI"/>
              </a:rPr>
              <a:t>Un cliente, varios administradores de flota</a:t>
            </a:r>
          </a:p>
        </p:txBody>
      </p:sp>
      <p:cxnSp>
        <p:nvCxnSpPr>
          <p:cNvPr id="27" name="Connector 26"/>
          <p:cNvCxnSpPr/>
          <p:nvPr/>
        </p:nvCxnSpPr>
        <p:spPr>
          <a:xfrm>
            <a:off x="8284464" y="2057400"/>
            <a:ext cx="667512" cy="0"/>
          </a:xfrm>
          <a:prstGeom prst="line">
            <a:avLst/>
          </a:prstGeom>
          <a:ln w="25400">
            <a:solidFill>
              <a:srgbClr val="15803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29600" y="1673352"/>
            <a:ext cx="777240" cy="384048"/>
          </a:xfrm>
          <a:prstGeom prst="rect">
            <a:avLst/>
          </a:prstGeom>
          <a:noFill/>
        </p:spPr>
        <p:txBody>
          <a:bodyPr wrap="square" lIns="73152" tIns="0" rIns="73152" bIns="0" anchor="t">
            <a:spAutoFit/>
          </a:bodyPr>
          <a:lstStyle/>
          <a:p>
            <a:pPr algn="ctr"/>
            <a:r>
              <a:rPr sz="950" b="1" i="0">
                <a:solidFill>
                  <a:srgbClr val="15803D"/>
                </a:solidFill>
                <a:latin typeface="Segoe UI"/>
              </a:rPr>
              <a:t>por CDB</a:t>
            </a:r>
          </a:p>
        </p:txBody>
      </p:sp>
      <p:sp>
        <p:nvSpPr>
          <p:cNvPr id="29" name="Rounded Rectangle 28"/>
          <p:cNvSpPr/>
          <p:nvPr/>
        </p:nvSpPr>
        <p:spPr>
          <a:xfrm>
            <a:off x="8961120" y="2697480"/>
            <a:ext cx="2971800" cy="914400"/>
          </a:xfrm>
          <a:prstGeom prst="roundRect">
            <a:avLst>
              <a:gd name="adj" fmla="val 10000"/>
            </a:avLst>
          </a:prstGeom>
          <a:solidFill>
            <a:srgbClr val="FFFFFF"/>
          </a:solidFill>
          <a:ln w="15875">
            <a:solidFill>
              <a:srgbClr val="003057"/>
            </a:solidFill>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003057"/>
                </a:solidFill>
                <a:latin typeface="Segoe UI"/>
              </a:rPr>
              <a:t>Base de clientes (Power BI)</a:t>
            </a:r>
          </a:p>
          <a:p>
            <a:pPr algn="l">
              <a:spcBef>
                <a:spcPts val="200"/>
              </a:spcBef>
            </a:pPr>
            <a:r>
              <a:rPr sz="900" b="0" i="0">
                <a:solidFill>
                  <a:srgbClr val="1E293B"/>
                </a:solidFill>
                <a:latin typeface="Segoe UI"/>
              </a:rPr>
              <a:t>Dirección, comuna y respaldo de RUT y razón social</a:t>
            </a:r>
          </a:p>
        </p:txBody>
      </p:sp>
      <p:cxnSp>
        <p:nvCxnSpPr>
          <p:cNvPr id="30" name="Connector 29"/>
          <p:cNvCxnSpPr/>
          <p:nvPr/>
        </p:nvCxnSpPr>
        <p:spPr>
          <a:xfrm>
            <a:off x="8284464" y="3154680"/>
            <a:ext cx="667512" cy="0"/>
          </a:xfrm>
          <a:prstGeom prst="line">
            <a:avLst/>
          </a:prstGeom>
          <a:ln w="25400">
            <a:solidFill>
              <a:srgbClr val="15803D"/>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229600" y="2770632"/>
            <a:ext cx="777240" cy="384048"/>
          </a:xfrm>
          <a:prstGeom prst="rect">
            <a:avLst/>
          </a:prstGeom>
          <a:noFill/>
        </p:spPr>
        <p:txBody>
          <a:bodyPr wrap="square" lIns="73152" tIns="0" rIns="73152" bIns="0" anchor="t">
            <a:spAutoFit/>
          </a:bodyPr>
          <a:lstStyle/>
          <a:p>
            <a:pPr algn="ctr"/>
            <a:r>
              <a:rPr sz="950" b="1" i="0">
                <a:solidFill>
                  <a:srgbClr val="15803D"/>
                </a:solidFill>
                <a:latin typeface="Segoe UI"/>
              </a:rPr>
              <a:t>por CDB</a:t>
            </a:r>
          </a:p>
        </p:txBody>
      </p:sp>
      <p:sp>
        <p:nvSpPr>
          <p:cNvPr id="32" name="Rounded Rectangle 31"/>
          <p:cNvSpPr/>
          <p:nvPr/>
        </p:nvSpPr>
        <p:spPr>
          <a:xfrm>
            <a:off x="8961120" y="3794760"/>
            <a:ext cx="2971800" cy="960120"/>
          </a:xfrm>
          <a:prstGeom prst="roundRect">
            <a:avLst>
              <a:gd name="adj" fmla="val 10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109728" tIns="64008" rIns="73152" rtlCol="0" anchor="t"/>
          <a:lstStyle/>
          <a:p>
            <a:pPr algn="l"/>
            <a:r>
              <a:rPr sz="1100" b="1" i="0">
                <a:solidFill>
                  <a:srgbClr val="1C6BBA"/>
                </a:solidFill>
                <a:latin typeface="Segoe UI"/>
              </a:rPr>
              <a:t>Contratos CM (3PC)</a:t>
            </a:r>
          </a:p>
          <a:p>
            <a:pPr algn="l">
              <a:spcBef>
                <a:spcPts val="200"/>
              </a:spcBef>
            </a:pPr>
            <a:r>
              <a:rPr sz="900" b="0" i="0">
                <a:solidFill>
                  <a:srgbClr val="1E293B"/>
                </a:solidFill>
                <a:latin typeface="Segoe UI"/>
              </a:rPr>
              <a:t>Actualiza el contrato de mantenimiento cada mes</a:t>
            </a:r>
          </a:p>
        </p:txBody>
      </p:sp>
      <p:cxnSp>
        <p:nvCxnSpPr>
          <p:cNvPr id="33" name="Connector 32"/>
          <p:cNvCxnSpPr/>
          <p:nvPr/>
        </p:nvCxnSpPr>
        <p:spPr>
          <a:xfrm flipH="1">
            <a:off x="8284464" y="4270248"/>
            <a:ext cx="667512" cy="0"/>
          </a:xfrm>
          <a:prstGeom prst="line">
            <a:avLst/>
          </a:prstGeom>
          <a:ln w="25400">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229600" y="3886200"/>
            <a:ext cx="777240" cy="384048"/>
          </a:xfrm>
          <a:prstGeom prst="rect">
            <a:avLst/>
          </a:prstGeom>
          <a:noFill/>
        </p:spPr>
        <p:txBody>
          <a:bodyPr wrap="square" lIns="73152" tIns="0" rIns="73152" bIns="0" anchor="t">
            <a:spAutoFit/>
          </a:bodyPr>
          <a:lstStyle/>
          <a:p>
            <a:pPr algn="ctr"/>
            <a:r>
              <a:rPr sz="950" b="1" i="0">
                <a:solidFill>
                  <a:srgbClr val="C2410C"/>
                </a:solidFill>
                <a:latin typeface="Segoe UI"/>
              </a:rPr>
              <a:t>por VIN</a:t>
            </a:r>
          </a:p>
        </p:txBody>
      </p:sp>
      <p:sp>
        <p:nvSpPr>
          <p:cNvPr id="35" name="Rounded Rectangle 34"/>
          <p:cNvSpPr/>
          <p:nvPr/>
        </p:nvSpPr>
        <p:spPr>
          <a:xfrm>
            <a:off x="8961120" y="4983480"/>
            <a:ext cx="2971800" cy="822960"/>
          </a:xfrm>
          <a:prstGeom prst="roundRect">
            <a:avLst>
              <a:gd name="adj" fmla="val 10000"/>
            </a:avLst>
          </a:prstGeom>
          <a:solidFill>
            <a:srgbClr val="F8FAFC"/>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wrap="square" lIns="137160" rIns="73152" rtlCol="0" anchor="ctr"/>
          <a:lstStyle/>
          <a:p>
            <a:pPr algn="l"/>
            <a:r>
              <a:rPr lang="es-MX" sz="1000" b="1" i="0">
                <a:solidFill>
                  <a:srgbClr val="1F5FB5"/>
                </a:solidFill>
                <a:latin typeface="Segoe UI"/>
              </a:rPr>
              <a:t>ID</a:t>
            </a:r>
            <a:r>
              <a:rPr lang="es-MX" sz="1000" i="0">
                <a:solidFill>
                  <a:srgbClr val="1E293B"/>
                </a:solidFill>
                <a:latin typeface="Segoe UI"/>
              </a:rPr>
              <a:t> identifica al contrato</a:t>
            </a:r>
          </a:p>
          <a:p>
            <a:pPr algn="l"/>
            <a:r>
              <a:rPr sz="1000" b="1" i="0">
                <a:solidFill>
                  <a:srgbClr val="C2410C"/>
                </a:solidFill>
                <a:latin typeface="Segoe UI"/>
              </a:rPr>
              <a:t>VIN </a:t>
            </a:r>
            <a:r>
              <a:rPr sz="950" b="0" i="0">
                <a:solidFill>
                  <a:srgbClr val="1E293B"/>
                </a:solidFill>
                <a:latin typeface="Segoe UI"/>
              </a:rPr>
              <a:t>identifica al camión</a:t>
            </a:r>
          </a:p>
          <a:p>
            <a:pPr algn="l"/>
            <a:r>
              <a:rPr sz="1000" b="1" i="0">
                <a:solidFill>
                  <a:srgbClr val="15803D"/>
                </a:solidFill>
                <a:latin typeface="Segoe UI"/>
              </a:rPr>
              <a:t>CDB </a:t>
            </a:r>
            <a:r>
              <a:rPr sz="950" b="0" i="0">
                <a:solidFill>
                  <a:srgbClr val="1E293B"/>
                </a:solidFill>
                <a:latin typeface="Segoe UI"/>
              </a:rPr>
              <a:t>identifica al cliente</a:t>
            </a:r>
          </a:p>
        </p:txBody>
      </p:sp>
      <p:cxnSp>
        <p:nvCxnSpPr>
          <p:cNvPr id="36" name="Connector 35"/>
          <p:cNvCxnSpPr/>
          <p:nvPr/>
        </p:nvCxnSpPr>
        <p:spPr>
          <a:xfrm>
            <a:off x="6103620" y="5358383"/>
            <a:ext cx="0" cy="310897"/>
          </a:xfrm>
          <a:prstGeom prst="line">
            <a:avLst/>
          </a:prstGeom>
          <a:ln w="22225">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74320" y="6053328"/>
            <a:ext cx="3566160" cy="457200"/>
          </a:xfrm>
          <a:prstGeom prst="rect">
            <a:avLst/>
          </a:prstGeom>
          <a:noFill/>
        </p:spPr>
        <p:txBody>
          <a:bodyPr wrap="square" lIns="73152" tIns="91440" rIns="73152" anchor="t">
            <a:spAutoFit/>
          </a:bodyPr>
          <a:lstStyle/>
          <a:p>
            <a:pPr algn="r"/>
            <a:r>
              <a:rPr sz="1050" b="1" i="0">
                <a:solidFill>
                  <a:srgbClr val="475569"/>
                </a:solidFill>
                <a:latin typeface="Segoe UI"/>
              </a:rPr>
              <a:t>Archivos que genera la app</a:t>
            </a:r>
          </a:p>
        </p:txBody>
      </p:sp>
      <p:sp>
        <p:nvSpPr>
          <p:cNvPr id="38" name="Rounded Rectangle 37"/>
          <p:cNvSpPr/>
          <p:nvPr/>
        </p:nvSpPr>
        <p:spPr>
          <a:xfrm>
            <a:off x="3931920" y="5687568"/>
            <a:ext cx="1380744" cy="822960"/>
          </a:xfrm>
          <a:prstGeom prst="roundRect">
            <a:avLst>
              <a:gd name="adj" fmla="val 12000"/>
            </a:avLst>
          </a:prstGeom>
          <a:solidFill>
            <a:srgbClr val="F8FAFC"/>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050" b="1" i="0">
                <a:solidFill>
                  <a:srgbClr val="475569"/>
                </a:solidFill>
                <a:latin typeface="Segoe UI"/>
              </a:rPr>
              <a:t>Correos</a:t>
            </a:r>
          </a:p>
          <a:p>
            <a:pPr algn="ctr"/>
            <a:r>
              <a:rPr sz="850" b="0" i="0">
                <a:solidFill>
                  <a:srgbClr val="64748B"/>
                </a:solidFill>
                <a:latin typeface="Segoe UI"/>
              </a:rPr>
              <a:t>destinatarios por cliente</a:t>
            </a:r>
          </a:p>
        </p:txBody>
      </p:sp>
      <p:sp>
        <p:nvSpPr>
          <p:cNvPr id="39" name="Rounded Rectangle 38"/>
          <p:cNvSpPr/>
          <p:nvPr/>
        </p:nvSpPr>
        <p:spPr>
          <a:xfrm>
            <a:off x="5413248" y="5687568"/>
            <a:ext cx="1380744" cy="822960"/>
          </a:xfrm>
          <a:prstGeom prst="roundRect">
            <a:avLst>
              <a:gd name="adj" fmla="val 12000"/>
            </a:avLst>
          </a:prstGeom>
          <a:solidFill>
            <a:srgbClr val="F8FAFC"/>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050" b="1" i="0">
                <a:solidFill>
                  <a:srgbClr val="475569"/>
                </a:solidFill>
                <a:latin typeface="Segoe UI"/>
              </a:rPr>
              <a:t>Instalaciones</a:t>
            </a:r>
          </a:p>
          <a:p>
            <a:pPr algn="ctr"/>
            <a:r>
              <a:rPr sz="850" b="0" i="0">
                <a:solidFill>
                  <a:srgbClr val="64748B"/>
                </a:solidFill>
                <a:latin typeface="Segoe UI"/>
              </a:rPr>
              <a:t>reporte mensual</a:t>
            </a:r>
          </a:p>
        </p:txBody>
      </p:sp>
      <p:sp>
        <p:nvSpPr>
          <p:cNvPr id="40" name="Rounded Rectangle 39"/>
          <p:cNvSpPr/>
          <p:nvPr/>
        </p:nvSpPr>
        <p:spPr>
          <a:xfrm>
            <a:off x="6894576" y="5687568"/>
            <a:ext cx="1380744" cy="822960"/>
          </a:xfrm>
          <a:prstGeom prst="roundRect">
            <a:avLst>
              <a:gd name="adj" fmla="val 12000"/>
            </a:avLst>
          </a:prstGeom>
          <a:solidFill>
            <a:srgbClr val="F8FAFC"/>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r>
              <a:rPr sz="1050" b="1" i="0">
                <a:solidFill>
                  <a:srgbClr val="475569"/>
                </a:solidFill>
                <a:latin typeface="Segoe UI"/>
              </a:rPr>
              <a:t>Casos CM</a:t>
            </a:r>
          </a:p>
          <a:p>
            <a:pPr algn="ctr"/>
            <a:r>
              <a:rPr sz="850" b="0" i="0">
                <a:solidFill>
                  <a:srgbClr val="64748B"/>
                </a:solidFill>
                <a:latin typeface="Segoe UI"/>
              </a:rPr>
              <a:t>contratos a revisar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1132403"/>
            <a:ext cx="12191695" cy="615553"/>
          </a:xfrm>
          <a:prstGeom prst="rect">
            <a:avLst/>
          </a:prstGeom>
          <a:noFill/>
        </p:spPr>
        <p:txBody>
          <a:bodyPr wrap="square" lIns="73152" rIns="73152" anchor="ctr">
            <a:spAutoFit/>
          </a:bodyPr>
          <a:lstStyle/>
          <a:p>
            <a:pPr algn="ctr"/>
            <a:r>
              <a:rPr lang="es-CL" sz="3400" b="1" i="0">
                <a:solidFill>
                  <a:srgbClr val="003057"/>
                </a:solidFill>
                <a:latin typeface="Segoe UI"/>
              </a:rPr>
              <a:t>Seguridad y protección de los datos</a:t>
            </a:r>
            <a:endParaRPr sz="3400" b="1" i="0">
              <a:solidFill>
                <a:srgbClr val="003057"/>
              </a:solidFill>
              <a:latin typeface="Segoe UI"/>
            </a:endParaRPr>
          </a:p>
        </p:txBody>
      </p:sp>
      <p:sp>
        <p:nvSpPr>
          <p:cNvPr id="8" name="Rounded Rectangle 7"/>
          <p:cNvSpPr/>
          <p:nvPr/>
        </p:nvSpPr>
        <p:spPr>
          <a:xfrm>
            <a:off x="420624" y="2103120"/>
            <a:ext cx="5577840" cy="4526280"/>
          </a:xfrm>
          <a:prstGeom prst="roundRect">
            <a:avLst>
              <a:gd name="adj" fmla="val 12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274320" tIns="182880" rIns="228600" rtlCol="0" anchor="t"/>
          <a:lstStyle/>
          <a:p>
            <a:pPr algn="l"/>
            <a:r>
              <a:rPr lang="es-CL" sz="1500" b="1" i="0">
                <a:solidFill>
                  <a:srgbClr val="003057"/>
                </a:solidFill>
                <a:latin typeface="Segoe UI"/>
              </a:rPr>
              <a:t>Lo que ya está resuelto</a:t>
            </a:r>
            <a:endParaRPr sz="1500" b="1" i="0">
              <a:solidFill>
                <a:srgbClr val="003057"/>
              </a:solidFill>
              <a:latin typeface="Segoe UI"/>
            </a:endParaRPr>
          </a:p>
          <a:p>
            <a:pPr marL="164592" indent="-164592" algn="l">
              <a:spcBef>
                <a:spcPts val="800"/>
              </a:spcBef>
              <a:buClr>
                <a:srgbClr val="2563EB"/>
              </a:buClr>
              <a:buChar char="•"/>
            </a:pPr>
            <a:r>
              <a:rPr lang="es-CL" sz="1350" b="1" i="0">
                <a:solidFill>
                  <a:srgbClr val="1E293B"/>
                </a:solidFill>
                <a:latin typeface="Segoe UI"/>
              </a:rPr>
              <a:t>Respaldo obligatorio:</a:t>
            </a:r>
            <a:r>
              <a:rPr lang="es-CL" sz="1350" i="0">
                <a:solidFill>
                  <a:srgbClr val="1E293B"/>
                </a:solidFill>
                <a:latin typeface="Segoe UI"/>
              </a:rPr>
              <a:t> antes de cada guardado se copia el archivo; si el respaldo falla, no se guarda. Además hay una copia completa semanal.</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Guardado seguro:</a:t>
            </a:r>
            <a:r>
              <a:rPr lang="es-CL" sz="1350" i="0">
                <a:solidFill>
                  <a:srgbClr val="1E293B"/>
                </a:solidFill>
                <a:latin typeface="Segoe UI"/>
              </a:rPr>
              <a:t> se escribe en una copia temporal y luego reemplaza al original, para evitar archivos dañados.</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Historial de cambios:</a:t>
            </a:r>
            <a:r>
              <a:rPr lang="es-CL" sz="1350" i="0">
                <a:solidFill>
                  <a:srgbClr val="1E293B"/>
                </a:solidFill>
                <a:latin typeface="Segoe UI"/>
              </a:rPr>
              <a:t> cada cambio queda registrado y se puede restaurar un respaldo desde Configuración.</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Archivos en uso:</a:t>
            </a:r>
            <a:r>
              <a:rPr lang="es-CL" sz="1350" i="0">
                <a:solidFill>
                  <a:srgbClr val="1E293B"/>
                </a:solidFill>
                <a:latin typeface="Segoe UI"/>
              </a:rPr>
              <a:t> si OneDrive u otra persona tiene el archivo abierto, la app avisa y permite reintentar.</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Validación al cargar:</a:t>
            </a:r>
            <a:r>
              <a:rPr lang="es-CL" sz="1350" i="0">
                <a:solidFill>
                  <a:srgbClr val="1E293B"/>
                </a:solidFill>
                <a:latin typeface="Segoe UI"/>
              </a:rPr>
              <a:t> si faltan columnas clave como VIN o Chasis, el archivo no se carga.</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Pruebas:</a:t>
            </a:r>
            <a:r>
              <a:rPr lang="es-CL" sz="1350" i="0">
                <a:solidFill>
                  <a:srgbClr val="1E293B"/>
                </a:solidFill>
                <a:latin typeface="Segoe UI"/>
              </a:rPr>
              <a:t> más de 1.000 pruebas automáticas, hechas con datos de prueba y no con datos reales.</a:t>
            </a:r>
            <a:endParaRPr sz="1350" i="0">
              <a:solidFill>
                <a:srgbClr val="1E293B"/>
              </a:solidFill>
              <a:latin typeface="Segoe UI"/>
            </a:endParaRPr>
          </a:p>
        </p:txBody>
      </p:sp>
      <p:sp>
        <p:nvSpPr>
          <p:cNvPr id="9" name="Rounded Rectangle 8"/>
          <p:cNvSpPr/>
          <p:nvPr/>
        </p:nvSpPr>
        <p:spPr>
          <a:xfrm>
            <a:off x="6400800" y="2103120"/>
            <a:ext cx="5394960" cy="4526280"/>
          </a:xfrm>
          <a:prstGeom prst="roundRect">
            <a:avLst>
              <a:gd name="adj" fmla="val 12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274320" tIns="182880" rIns="228600" rtlCol="0" anchor="t"/>
          <a:lstStyle/>
          <a:p>
            <a:pPr algn="l"/>
            <a:r>
              <a:rPr lang="es-CL" sz="1500" b="1" i="0">
                <a:solidFill>
                  <a:srgbClr val="003057"/>
                </a:solidFill>
                <a:latin typeface="Segoe UI"/>
              </a:rPr>
              <a:t>Lo que falta o tiene límites</a:t>
            </a:r>
            <a:endParaRPr sz="1500" b="1" i="0">
              <a:solidFill>
                <a:srgbClr val="003057"/>
              </a:solidFill>
              <a:latin typeface="Segoe UI"/>
            </a:endParaRPr>
          </a:p>
          <a:p>
            <a:pPr marL="164592" indent="-164592" algn="l">
              <a:spcBef>
                <a:spcPts val="800"/>
              </a:spcBef>
              <a:buClr>
                <a:srgbClr val="2563EB"/>
              </a:buClr>
              <a:buChar char="•"/>
            </a:pPr>
            <a:r>
              <a:rPr lang="es-CL" sz="1350" b="1" i="0">
                <a:solidFill>
                  <a:srgbClr val="1E293B"/>
                </a:solidFill>
                <a:latin typeface="Segoe UI"/>
              </a:rPr>
              <a:t>Sin inicio de sesión propio:</a:t>
            </a:r>
            <a:r>
              <a:rPr lang="es-CL" sz="1350" i="0">
                <a:solidFill>
                  <a:srgbClr val="1E293B"/>
                </a:solidFill>
                <a:latin typeface="Segoe UI"/>
              </a:rPr>
              <a:t> el acceso depende de los permisos de la carpeta compartida en SharePoint.</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Edición al mismo tiempo:</a:t>
            </a:r>
            <a:r>
              <a:rPr lang="es-CL" sz="1350" i="0">
                <a:solidFill>
                  <a:srgbClr val="1E293B"/>
                </a:solidFill>
                <a:latin typeface="Segoe UI"/>
              </a:rPr>
              <a:t> la app avisa si otra persona modifica un archivo, pero no impide que dos personas editen a la vez.</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Sin base de datos:</a:t>
            </a:r>
            <a:r>
              <a:rPr lang="es-CL" sz="1350" i="0">
                <a:solidFill>
                  <a:srgbClr val="1E293B"/>
                </a:solidFill>
                <a:latin typeface="Segoe UI"/>
              </a:rPr>
              <a:t> la política de ciberseguridad solo permite archivos Excel y CSV.</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Reportes protegidos:</a:t>
            </a:r>
            <a:r>
              <a:rPr lang="es-CL" sz="1350" i="0">
                <a:solidFill>
                  <a:srgbClr val="1E293B"/>
                </a:solidFill>
                <a:latin typeface="Segoe UI"/>
              </a:rPr>
              <a:t> las notas de venta llegan cifradas y requieren un paso manual antes de importarlas.</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Respaldos:</a:t>
            </a:r>
            <a:r>
              <a:rPr lang="es-CL" sz="1350" i="0">
                <a:solidFill>
                  <a:srgbClr val="1E293B"/>
                </a:solidFill>
                <a:latin typeface="Segoe UI"/>
              </a:rPr>
              <a:t> la restauración es manual, desde la pantalla de Configuración.</a:t>
            </a:r>
            <a:endParaRPr sz="1350" i="0">
              <a:solidFill>
                <a:srgbClr val="1E293B"/>
              </a:solidFill>
              <a:latin typeface="Segoe UI"/>
            </a:endParaRPr>
          </a:p>
        </p:txBody>
      </p:sp>
    </p:spTree>
    <p:extLst>
      <p:ext uri="{BB962C8B-B14F-4D97-AF65-F5344CB8AC3E}">
        <p14:creationId xmlns:p14="http://schemas.microsoft.com/office/powerpoint/2010/main" val="759895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995243"/>
            <a:ext cx="12191695" cy="615553"/>
          </a:xfrm>
          <a:prstGeom prst="rect">
            <a:avLst/>
          </a:prstGeom>
          <a:noFill/>
        </p:spPr>
        <p:txBody>
          <a:bodyPr wrap="square" lIns="73152" rIns="73152" anchor="ctr">
            <a:spAutoFit/>
          </a:bodyPr>
          <a:lstStyle/>
          <a:p>
            <a:pPr algn="ctr"/>
            <a:r>
              <a:rPr lang="es-MX" sz="3400" b="1" i="0">
                <a:solidFill>
                  <a:srgbClr val="003057"/>
                </a:solidFill>
                <a:latin typeface="Segoe UI"/>
              </a:rPr>
              <a:t>Modelo de negocio</a:t>
            </a:r>
            <a:endParaRPr sz="3400" b="1" i="0">
              <a:solidFill>
                <a:srgbClr val="003057"/>
              </a:solidFill>
              <a:latin typeface="Segoe UI"/>
            </a:endParaRPr>
          </a:p>
        </p:txBody>
      </p:sp>
      <p:sp>
        <p:nvSpPr>
          <p:cNvPr id="8" name="Rounded Rectangle 7"/>
          <p:cNvSpPr/>
          <p:nvPr/>
        </p:nvSpPr>
        <p:spPr>
          <a:xfrm>
            <a:off x="612648"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12648"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Valor</a:t>
            </a:r>
            <a:endParaRPr sz="1500" b="1" i="0">
              <a:solidFill>
                <a:srgbClr val="FFFFFF"/>
              </a:solidFill>
              <a:latin typeface="Segoe UI"/>
            </a:endParaRPr>
          </a:p>
        </p:txBody>
      </p:sp>
      <p:sp>
        <p:nvSpPr>
          <p:cNvPr id="10" name="TextBox 9"/>
          <p:cNvSpPr txBox="1"/>
          <p:nvPr/>
        </p:nvSpPr>
        <p:spPr>
          <a:xfrm>
            <a:off x="704088" y="2863408"/>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1 sistema</a:t>
            </a:r>
            <a:endParaRPr sz="1700" b="1" i="0">
              <a:solidFill>
                <a:srgbClr val="1C6BBA"/>
              </a:solidFill>
              <a:latin typeface="Segoe UI"/>
            </a:endParaRPr>
          </a:p>
        </p:txBody>
      </p:sp>
      <p:sp>
        <p:nvSpPr>
          <p:cNvPr id="11" name="TextBox 10"/>
          <p:cNvSpPr txBox="1"/>
          <p:nvPr/>
        </p:nvSpPr>
        <p:spPr>
          <a:xfrm>
            <a:off x="749808" y="33832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en lugar de 10 a 15 planillas dispersas</a:t>
            </a:r>
            <a:endParaRPr sz="1200" b="0" i="0">
              <a:solidFill>
                <a:srgbClr val="1E293B"/>
              </a:solidFill>
              <a:latin typeface="Segoe UI"/>
            </a:endParaRPr>
          </a:p>
        </p:txBody>
      </p:sp>
      <p:cxnSp>
        <p:nvCxnSpPr>
          <p:cNvPr id="12" name="Connector 11"/>
          <p:cNvCxnSpPr/>
          <p:nvPr/>
        </p:nvCxnSpPr>
        <p:spPr>
          <a:xfrm>
            <a:off x="1069848"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692209"/>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Menos trabajo manual</a:t>
            </a:r>
            <a:endParaRPr sz="1700" b="1" i="0">
              <a:solidFill>
                <a:srgbClr val="1C6BBA"/>
              </a:solidFill>
              <a:latin typeface="Segoe UI"/>
            </a:endParaRPr>
          </a:p>
        </p:txBody>
      </p:sp>
      <p:sp>
        <p:nvSpPr>
          <p:cNvPr id="14" name="TextBox 13"/>
          <p:cNvSpPr txBox="1"/>
          <p:nvPr/>
        </p:nvSpPr>
        <p:spPr>
          <a:xfrm>
            <a:off x="749808" y="52120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cruces, fórmulas y correos que antes se hacían a mano</a:t>
            </a:r>
            <a:endParaRPr sz="1200" b="0" i="0">
              <a:solidFill>
                <a:srgbClr val="1E293B"/>
              </a:solidFill>
              <a:latin typeface="Segoe UI"/>
            </a:endParaRPr>
          </a:p>
        </p:txBody>
      </p:sp>
      <p:sp>
        <p:nvSpPr>
          <p:cNvPr id="15" name="Rounded Rectangle 14"/>
          <p:cNvSpPr/>
          <p:nvPr/>
        </p:nvSpPr>
        <p:spPr>
          <a:xfrm>
            <a:off x="3392424"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3392424"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Usuarios</a:t>
            </a:r>
            <a:endParaRPr sz="1500" b="1" i="0">
              <a:solidFill>
                <a:srgbClr val="FFFFFF"/>
              </a:solidFill>
              <a:latin typeface="Segoe UI"/>
            </a:endParaRPr>
          </a:p>
        </p:txBody>
      </p:sp>
      <p:sp>
        <p:nvSpPr>
          <p:cNvPr id="17" name="TextBox 16"/>
          <p:cNvSpPr txBox="1"/>
          <p:nvPr/>
        </p:nvSpPr>
        <p:spPr>
          <a:xfrm>
            <a:off x="3483864" y="2863409"/>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Servicios Conectados</a:t>
            </a:r>
            <a:endParaRPr sz="1700" b="1" i="0">
              <a:solidFill>
                <a:srgbClr val="1C6BBA"/>
              </a:solidFill>
              <a:latin typeface="Segoe UI"/>
            </a:endParaRPr>
          </a:p>
        </p:txBody>
      </p:sp>
      <p:sp>
        <p:nvSpPr>
          <p:cNvPr id="18" name="TextBox 17"/>
          <p:cNvSpPr txBox="1"/>
          <p:nvPr/>
        </p:nvSpPr>
        <p:spPr>
          <a:xfrm>
            <a:off x="3529584" y="3383280"/>
            <a:ext cx="2350008" cy="646331"/>
          </a:xfrm>
          <a:prstGeom prst="rect">
            <a:avLst/>
          </a:prstGeom>
          <a:noFill/>
        </p:spPr>
        <p:txBody>
          <a:bodyPr wrap="square" lIns="73152" rIns="73152" anchor="t">
            <a:spAutoFit/>
          </a:bodyPr>
          <a:lstStyle/>
          <a:p>
            <a:pPr algn="ctr"/>
            <a:r>
              <a:rPr lang="es-CL" sz="1200" b="0" i="0">
                <a:solidFill>
                  <a:srgbClr val="1E293B"/>
                </a:solidFill>
                <a:latin typeface="Segoe UI"/>
              </a:rPr>
              <a:t>Comercial, Operaciones y Finanzas, con la Product Owner como contraparte</a:t>
            </a:r>
            <a:endParaRPr sz="1200" b="0" i="0">
              <a:solidFill>
                <a:srgbClr val="1E293B"/>
              </a:solidFill>
              <a:latin typeface="Segoe UI"/>
            </a:endParaRPr>
          </a:p>
        </p:txBody>
      </p:sp>
      <p:cxnSp>
        <p:nvCxnSpPr>
          <p:cNvPr id="19" name="Connector 18"/>
          <p:cNvCxnSpPr/>
          <p:nvPr/>
        </p:nvCxnSpPr>
        <p:spPr>
          <a:xfrm>
            <a:off x="3849624"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83864" y="4692209"/>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Clientes de Empresa Demo</a:t>
            </a:r>
            <a:endParaRPr sz="1700" b="1" i="0">
              <a:solidFill>
                <a:srgbClr val="1C6BBA"/>
              </a:solidFill>
              <a:latin typeface="Segoe UI"/>
            </a:endParaRPr>
          </a:p>
        </p:txBody>
      </p:sp>
      <p:sp>
        <p:nvSpPr>
          <p:cNvPr id="21" name="TextBox 20"/>
          <p:cNvSpPr txBox="1"/>
          <p:nvPr/>
        </p:nvSpPr>
        <p:spPr>
          <a:xfrm>
            <a:off x="3529584" y="52120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reciben correos y avisos generados con plantillas</a:t>
            </a:r>
            <a:endParaRPr sz="1200" b="0" i="0">
              <a:solidFill>
                <a:srgbClr val="1E293B"/>
              </a:solidFill>
              <a:latin typeface="Segoe UI"/>
            </a:endParaRPr>
          </a:p>
        </p:txBody>
      </p:sp>
      <p:sp>
        <p:nvSpPr>
          <p:cNvPr id="22" name="Rounded Rectangle 21"/>
          <p:cNvSpPr/>
          <p:nvPr/>
        </p:nvSpPr>
        <p:spPr>
          <a:xfrm>
            <a:off x="6172200"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6172200"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Implementación</a:t>
            </a:r>
            <a:endParaRPr sz="1500" b="1" i="0">
              <a:solidFill>
                <a:srgbClr val="FFFFFF"/>
              </a:solidFill>
              <a:latin typeface="Segoe UI"/>
            </a:endParaRPr>
          </a:p>
        </p:txBody>
      </p:sp>
      <p:sp>
        <p:nvSpPr>
          <p:cNvPr id="24" name="TextBox 23"/>
          <p:cNvSpPr txBox="1"/>
          <p:nvPr/>
        </p:nvSpPr>
        <p:spPr>
          <a:xfrm>
            <a:off x="6263640" y="2863408"/>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Un solo .exe</a:t>
            </a:r>
            <a:endParaRPr sz="1700" b="1" i="0">
              <a:solidFill>
                <a:srgbClr val="1C6BBA"/>
              </a:solidFill>
              <a:latin typeface="Segoe UI"/>
            </a:endParaRPr>
          </a:p>
        </p:txBody>
      </p:sp>
      <p:sp>
        <p:nvSpPr>
          <p:cNvPr id="25" name="TextBox 24"/>
          <p:cNvSpPr txBox="1"/>
          <p:nvPr/>
        </p:nvSpPr>
        <p:spPr>
          <a:xfrm>
            <a:off x="6309360" y="3383280"/>
            <a:ext cx="2350008" cy="646331"/>
          </a:xfrm>
          <a:prstGeom prst="rect">
            <a:avLst/>
          </a:prstGeom>
          <a:noFill/>
        </p:spPr>
        <p:txBody>
          <a:bodyPr wrap="square" lIns="73152" rIns="73152" anchor="t">
            <a:spAutoFit/>
          </a:bodyPr>
          <a:lstStyle/>
          <a:p>
            <a:pPr algn="ctr"/>
            <a:r>
              <a:rPr lang="es-CL" sz="1200" b="0" i="0">
                <a:solidFill>
                  <a:srgbClr val="1E293B"/>
                </a:solidFill>
                <a:latin typeface="Segoe UI"/>
              </a:rPr>
              <a:t>se instala en cada PC con Windows y usa la carpeta compartida actual</a:t>
            </a:r>
            <a:endParaRPr sz="1200" b="0" i="0">
              <a:solidFill>
                <a:srgbClr val="1E293B"/>
              </a:solidFill>
              <a:latin typeface="Segoe UI"/>
            </a:endParaRPr>
          </a:p>
        </p:txBody>
      </p:sp>
      <p:cxnSp>
        <p:nvCxnSpPr>
          <p:cNvPr id="26" name="Connector 25"/>
          <p:cNvCxnSpPr/>
          <p:nvPr/>
        </p:nvCxnSpPr>
        <p:spPr>
          <a:xfrm>
            <a:off x="6629400"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263640" y="4692208"/>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Sin servidor ni SQL</a:t>
            </a:r>
            <a:endParaRPr sz="1700" b="1" i="0">
              <a:solidFill>
                <a:srgbClr val="1C6BBA"/>
              </a:solidFill>
              <a:latin typeface="Segoe UI"/>
            </a:endParaRPr>
          </a:p>
        </p:txBody>
      </p:sp>
      <p:sp>
        <p:nvSpPr>
          <p:cNvPr id="28" name="TextBox 27"/>
          <p:cNvSpPr txBox="1"/>
          <p:nvPr/>
        </p:nvSpPr>
        <p:spPr>
          <a:xfrm>
            <a:off x="6309360" y="5212080"/>
            <a:ext cx="2350008" cy="461665"/>
          </a:xfrm>
          <a:prstGeom prst="rect">
            <a:avLst/>
          </a:prstGeom>
          <a:noFill/>
        </p:spPr>
        <p:txBody>
          <a:bodyPr wrap="square" lIns="73152" rIns="73152" anchor="t">
            <a:spAutoFit/>
          </a:bodyPr>
          <a:lstStyle/>
          <a:p>
            <a:pPr algn="ctr"/>
            <a:r>
              <a:rPr lang="es-MX" sz="1200" b="0" i="0">
                <a:solidFill>
                  <a:srgbClr val="1E293B"/>
                </a:solidFill>
                <a:latin typeface="Segoe UI"/>
              </a:rPr>
              <a:t>no requiere infraestructura nueva</a:t>
            </a:r>
            <a:endParaRPr sz="1200" b="0" i="0">
              <a:solidFill>
                <a:srgbClr val="1E293B"/>
              </a:solidFill>
              <a:latin typeface="Segoe UI"/>
            </a:endParaRPr>
          </a:p>
        </p:txBody>
      </p:sp>
      <p:sp>
        <p:nvSpPr>
          <p:cNvPr id="29" name="Rounded Rectangle 28"/>
          <p:cNvSpPr/>
          <p:nvPr/>
        </p:nvSpPr>
        <p:spPr>
          <a:xfrm>
            <a:off x="8951976"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8951976"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Escalamiento</a:t>
            </a:r>
            <a:endParaRPr sz="1500" b="1" i="0">
              <a:solidFill>
                <a:srgbClr val="FFFFFF"/>
              </a:solidFill>
              <a:latin typeface="Segoe UI"/>
            </a:endParaRPr>
          </a:p>
        </p:txBody>
      </p:sp>
      <p:sp>
        <p:nvSpPr>
          <p:cNvPr id="31" name="TextBox 30"/>
          <p:cNvSpPr txBox="1"/>
          <p:nvPr/>
        </p:nvSpPr>
        <p:spPr>
          <a:xfrm>
            <a:off x="9043416" y="2863408"/>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Más módulos</a:t>
            </a:r>
            <a:endParaRPr sz="1700" b="1" i="0">
              <a:solidFill>
                <a:srgbClr val="1C6BBA"/>
              </a:solidFill>
              <a:latin typeface="Segoe UI"/>
            </a:endParaRPr>
          </a:p>
        </p:txBody>
      </p:sp>
      <p:sp>
        <p:nvSpPr>
          <p:cNvPr id="32" name="TextBox 31"/>
          <p:cNvSpPr txBox="1"/>
          <p:nvPr/>
        </p:nvSpPr>
        <p:spPr>
          <a:xfrm>
            <a:off x="9089136" y="33832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la estructura permite agregar pantallas para otras áreas</a:t>
            </a:r>
            <a:endParaRPr sz="1200" b="0" i="0">
              <a:solidFill>
                <a:srgbClr val="1E293B"/>
              </a:solidFill>
              <a:latin typeface="Segoe UI"/>
            </a:endParaRPr>
          </a:p>
        </p:txBody>
      </p:sp>
      <p:cxnSp>
        <p:nvCxnSpPr>
          <p:cNvPr id="33" name="Connector 32"/>
          <p:cNvCxnSpPr/>
          <p:nvPr/>
        </p:nvCxnSpPr>
        <p:spPr>
          <a:xfrm>
            <a:off x="9409176"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43416" y="4692208"/>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Base de datos</a:t>
            </a:r>
            <a:endParaRPr sz="1700" b="1" i="0">
              <a:solidFill>
                <a:srgbClr val="1C6BBA"/>
              </a:solidFill>
              <a:latin typeface="Segoe UI"/>
            </a:endParaRPr>
          </a:p>
        </p:txBody>
      </p:sp>
      <p:sp>
        <p:nvSpPr>
          <p:cNvPr id="35" name="TextBox 34"/>
          <p:cNvSpPr txBox="1"/>
          <p:nvPr/>
        </p:nvSpPr>
        <p:spPr>
          <a:xfrm>
            <a:off x="9089136" y="52120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migrar a SQL si la política de ciberseguridad lo permite</a:t>
            </a:r>
            <a:endParaRPr sz="1200" b="0" i="0">
              <a:solidFill>
                <a:srgbClr val="1E293B"/>
              </a:solidFill>
              <a:latin typeface="Segoe UI"/>
            </a:endParaRPr>
          </a:p>
        </p:txBody>
      </p:sp>
      <p:sp>
        <p:nvSpPr>
          <p:cNvPr id="36" name="TextBox 35"/>
          <p:cNvSpPr txBox="1"/>
          <p:nvPr/>
        </p:nvSpPr>
        <p:spPr>
          <a:xfrm>
            <a:off x="612648" y="6473952"/>
            <a:ext cx="10972800" cy="200055"/>
          </a:xfrm>
          <a:prstGeom prst="rect">
            <a:avLst/>
          </a:prstGeom>
          <a:noFill/>
        </p:spPr>
        <p:txBody>
          <a:bodyPr wrap="square" lIns="73152" tIns="0" rIns="73152" anchor="t">
            <a:spAutoFit/>
          </a:bodyPr>
          <a:lstStyle/>
          <a:p>
            <a:pPr algn="ctr"/>
            <a:r>
              <a:rPr lang="es-CL" sz="1000" b="0" i="0">
                <a:solidFill>
                  <a:srgbClr val="64748B"/>
                </a:solidFill>
                <a:latin typeface="Segoe UI"/>
              </a:rPr>
              <a:t>Propuesta del equipo; los supuestos de uso y escalamiento deben validarse con la Product Owner de Empresa Demo.</a:t>
            </a:r>
            <a:endParaRPr sz="1000" b="0" i="0">
              <a:solidFill>
                <a:srgbClr val="64748B"/>
              </a:solidFill>
              <a:latin typeface="Segoe UI"/>
            </a:endParaRPr>
          </a:p>
        </p:txBody>
      </p:sp>
    </p:spTree>
    <p:extLst>
      <p:ext uri="{BB962C8B-B14F-4D97-AF65-F5344CB8AC3E}">
        <p14:creationId xmlns:p14="http://schemas.microsoft.com/office/powerpoint/2010/main" val="3445409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1132403"/>
            <a:ext cx="12191695" cy="615553"/>
          </a:xfrm>
          <a:prstGeom prst="rect">
            <a:avLst/>
          </a:prstGeom>
          <a:noFill/>
        </p:spPr>
        <p:txBody>
          <a:bodyPr wrap="square" lIns="73152" rIns="73152" anchor="ctr">
            <a:spAutoFit/>
          </a:bodyPr>
          <a:lstStyle/>
          <a:p>
            <a:pPr algn="ctr"/>
            <a:r>
              <a:rPr lang="es-CL" sz="3400" b="1" i="0">
                <a:solidFill>
                  <a:srgbClr val="003057"/>
                </a:solidFill>
                <a:latin typeface="Segoe UI"/>
              </a:rPr>
              <a:t>Nivel de madurez del proyecto</a:t>
            </a:r>
            <a:endParaRPr sz="3400" b="1" i="0">
              <a:solidFill>
                <a:srgbClr val="003057"/>
              </a:solidFill>
              <a:latin typeface="Segoe UI"/>
            </a:endParaRPr>
          </a:p>
        </p:txBody>
      </p:sp>
      <p:sp>
        <p:nvSpPr>
          <p:cNvPr id="8" name="Rounded Rectangle 7"/>
          <p:cNvSpPr/>
          <p:nvPr/>
        </p:nvSpPr>
        <p:spPr>
          <a:xfrm>
            <a:off x="420624" y="2103120"/>
            <a:ext cx="5577840" cy="4526280"/>
          </a:xfrm>
          <a:prstGeom prst="roundRect">
            <a:avLst>
              <a:gd name="adj" fmla="val 12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274320" tIns="182880" rIns="228600" rtlCol="0" anchor="t"/>
          <a:lstStyle/>
          <a:p>
            <a:pPr algn="l"/>
            <a:r>
              <a:rPr lang="es-MX" sz="1500" b="1" i="0">
                <a:solidFill>
                  <a:srgbClr val="003057"/>
                </a:solidFill>
                <a:latin typeface="Segoe UI"/>
              </a:rPr>
              <a:t>Implementado y funcionando</a:t>
            </a:r>
            <a:endParaRPr sz="1500" b="1" i="0">
              <a:solidFill>
                <a:srgbClr val="003057"/>
              </a:solidFill>
              <a:latin typeface="Segoe UI"/>
            </a:endParaRPr>
          </a:p>
          <a:p>
            <a:pPr marL="164592" indent="-164592" algn="l">
              <a:spcBef>
                <a:spcPts val="800"/>
              </a:spcBef>
              <a:buClr>
                <a:srgbClr val="2563EB"/>
              </a:buClr>
              <a:buChar char="•"/>
            </a:pPr>
            <a:r>
              <a:rPr lang="es-CL" sz="1350" b="1" i="0">
                <a:solidFill>
                  <a:srgbClr val="1E293B"/>
                </a:solidFill>
                <a:latin typeface="Segoe UI"/>
              </a:rPr>
              <a:t>9 módulos de gestión:</a:t>
            </a:r>
            <a:r>
              <a:rPr lang="es-CL" sz="1350" i="0">
                <a:solidFill>
                  <a:srgbClr val="1E293B"/>
                </a:solidFill>
                <a:latin typeface="Segoe UI"/>
              </a:rPr>
              <a:t> Clientes y Flota, Comercial, Operaciones, Provisiones, Contratos CM, JustTime, Facturación Manual, Contactos e Instalaciones.</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Importación de reportes:</a:t>
            </a:r>
            <a:r>
              <a:rPr lang="es-CL" sz="1350" i="0">
                <a:solidFill>
                  <a:srgbClr val="1E293B"/>
                </a:solidFill>
                <a:latin typeface="Segoe UI"/>
              </a:rPr>
              <a:t> provisiones (SharePoint), notas de venta (Power BI) y contratos de mantenimiento (3PC).</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Correos a clientes</a:t>
            </a:r>
            <a:r>
              <a:rPr lang="es-CL" sz="1350" i="0">
                <a:solidFill>
                  <a:srgbClr val="1E293B"/>
                </a:solidFill>
                <a:latin typeface="Segoe UI"/>
              </a:rPr>
              <a:t> con plantillas de Outlook.</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Comercial por contrato (ID):</a:t>
            </a:r>
            <a:r>
              <a:rPr lang="es-CL" sz="1350" i="0">
                <a:solidFill>
                  <a:srgbClr val="1E293B"/>
                </a:solidFill>
                <a:latin typeface="Segoe UI"/>
              </a:rPr>
              <a:t> cada fila es un contrato; baja, renovación y contrato nuevo conservan el historial.</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Pantalla de Inicio</a:t>
            </a:r>
            <a:r>
              <a:rPr lang="es-CL" sz="1350" i="0">
                <a:solidFill>
                  <a:srgbClr val="1E293B"/>
                </a:solidFill>
                <a:latin typeface="Segoe UI"/>
              </a:rPr>
              <a:t> con el dashboard web de Conectividad y Academia.</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Ejecutable (.exe)</a:t>
            </a:r>
            <a:r>
              <a:rPr lang="es-CL" sz="1350" i="0">
                <a:solidFill>
                  <a:srgbClr val="1E293B"/>
                </a:solidFill>
                <a:latin typeface="Segoe UI"/>
              </a:rPr>
              <a:t> y más de 1.000 pruebas automáticas.</a:t>
            </a:r>
            <a:endParaRPr sz="1350" i="0">
              <a:solidFill>
                <a:srgbClr val="1E293B"/>
              </a:solidFill>
              <a:latin typeface="Segoe UI"/>
            </a:endParaRPr>
          </a:p>
        </p:txBody>
      </p:sp>
      <p:sp>
        <p:nvSpPr>
          <p:cNvPr id="9" name="Rounded Rectangle 8"/>
          <p:cNvSpPr/>
          <p:nvPr/>
        </p:nvSpPr>
        <p:spPr>
          <a:xfrm>
            <a:off x="6400800" y="2103120"/>
            <a:ext cx="5394960" cy="4526280"/>
          </a:xfrm>
          <a:prstGeom prst="roundRect">
            <a:avLst>
              <a:gd name="adj" fmla="val 12000"/>
            </a:avLst>
          </a:prstGeom>
          <a:solidFill>
            <a:srgbClr val="FFFFFF"/>
          </a:solidFill>
          <a:ln w="15875">
            <a:solidFill>
              <a:srgbClr val="1C6BBA"/>
            </a:solidFill>
          </a:ln>
          <a:effectLst/>
        </p:spPr>
        <p:style>
          <a:lnRef idx="1">
            <a:schemeClr val="accent1"/>
          </a:lnRef>
          <a:fillRef idx="3">
            <a:schemeClr val="accent1"/>
          </a:fillRef>
          <a:effectRef idx="2">
            <a:schemeClr val="accent1"/>
          </a:effectRef>
          <a:fontRef idx="minor">
            <a:schemeClr val="lt1"/>
          </a:fontRef>
        </p:style>
        <p:txBody>
          <a:bodyPr wrap="square" lIns="274320" tIns="182880" rIns="228600" rtlCol="0" anchor="t"/>
          <a:lstStyle/>
          <a:p>
            <a:pPr algn="l"/>
            <a:r>
              <a:rPr lang="es-MX" sz="1500" b="1" i="0">
                <a:solidFill>
                  <a:srgbClr val="003057"/>
                </a:solidFill>
                <a:latin typeface="Segoe UI"/>
              </a:rPr>
              <a:t>Pendiente y próximos pasos</a:t>
            </a:r>
            <a:endParaRPr sz="1500" b="1" i="0">
              <a:solidFill>
                <a:srgbClr val="003057"/>
              </a:solidFill>
              <a:latin typeface="Segoe UI"/>
            </a:endParaRPr>
          </a:p>
          <a:p>
            <a:pPr marL="164592" indent="-164592" algn="l">
              <a:spcBef>
                <a:spcPts val="800"/>
              </a:spcBef>
              <a:buClr>
                <a:srgbClr val="2563EB"/>
              </a:buClr>
              <a:buChar char="•"/>
            </a:pPr>
            <a:r>
              <a:rPr lang="es-CL" sz="1350" b="1" i="0">
                <a:solidFill>
                  <a:srgbClr val="1E293B"/>
                </a:solidFill>
                <a:latin typeface="Segoe UI"/>
              </a:rPr>
              <a:t>Cronograma:</a:t>
            </a:r>
            <a:r>
              <a:rPr lang="es-CL" sz="1350" i="0">
                <a:solidFill>
                  <a:srgbClr val="1E293B"/>
                </a:solidFill>
                <a:latin typeface="Segoe UI"/>
              </a:rPr>
              <a:t> app lista el 23/10, integración con el dashboard la semana del 2/11 y pruebas con usuarios hasta el 15/11.</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Contratos por ID en las demás pantallas:</a:t>
            </a:r>
            <a:r>
              <a:rPr lang="es-CL" sz="1350" i="0">
                <a:solidFill>
                  <a:srgbClr val="1E293B"/>
                </a:solidFill>
                <a:latin typeface="Segoe UI"/>
              </a:rPr>
              <a:t> Operaciones, General e Ingresos y Conciliación aún trabajan por VIN.</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Sincronización con el RM:</a:t>
            </a:r>
            <a:r>
              <a:rPr lang="es-CL" sz="1350" i="0">
                <a:solidFill>
                  <a:srgbClr val="1E293B"/>
                </a:solidFill>
                <a:latin typeface="Segoe UI"/>
              </a:rPr>
              <a:t> es temporal y hoy borra lo que no está en el RM; debe corregirse antes de usar contratos creados en la app.</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Contratos anteriores:</a:t>
            </a:r>
            <a:r>
              <a:rPr lang="es-CL" sz="1350" i="0">
                <a:solidFill>
                  <a:srgbClr val="1E293B"/>
                </a:solidFill>
                <a:latin typeface="Segoe UI"/>
              </a:rPr>
              <a:t> falta la vista de historial por contrato, que irá en General.</a:t>
            </a:r>
            <a:endParaRPr sz="1350" i="0">
              <a:solidFill>
                <a:srgbClr val="1E293B"/>
              </a:solidFill>
              <a:latin typeface="Segoe UI"/>
            </a:endParaRPr>
          </a:p>
          <a:p>
            <a:pPr marL="164592" indent="-164592" algn="l">
              <a:spcBef>
                <a:spcPts val="400"/>
              </a:spcBef>
              <a:buClr>
                <a:srgbClr val="2563EB"/>
              </a:buClr>
              <a:buChar char="•"/>
            </a:pPr>
            <a:r>
              <a:rPr lang="es-CL" sz="1350" b="1" i="0">
                <a:solidFill>
                  <a:srgbClr val="1E293B"/>
                </a:solidFill>
                <a:latin typeface="Segoe UI"/>
              </a:rPr>
              <a:t>Facturación Manual:</a:t>
            </a:r>
            <a:r>
              <a:rPr lang="es-CL" sz="1350" i="0">
                <a:solidFill>
                  <a:srgbClr val="1E293B"/>
                </a:solidFill>
                <a:latin typeface="Segoe UI"/>
              </a:rPr>
              <a:t> faltan definir con el área datos como N° de OC y HES.</a:t>
            </a:r>
            <a:endParaRPr sz="1350" i="0">
              <a:solidFill>
                <a:srgbClr val="1E293B"/>
              </a:solidFill>
              <a:latin typeface="Segoe UI"/>
            </a:endParaRPr>
          </a:p>
        </p:txBody>
      </p:sp>
    </p:spTree>
    <p:extLst>
      <p:ext uri="{BB962C8B-B14F-4D97-AF65-F5344CB8AC3E}">
        <p14:creationId xmlns:p14="http://schemas.microsoft.com/office/powerpoint/2010/main" val="2145860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995243"/>
            <a:ext cx="12191695" cy="615553"/>
          </a:xfrm>
          <a:prstGeom prst="rect">
            <a:avLst/>
          </a:prstGeom>
          <a:noFill/>
        </p:spPr>
        <p:txBody>
          <a:bodyPr wrap="square" lIns="73152" rIns="73152" anchor="ctr">
            <a:spAutoFit/>
          </a:bodyPr>
          <a:lstStyle/>
          <a:p>
            <a:pPr algn="ctr"/>
            <a:r>
              <a:rPr lang="es-MX" sz="3400" b="1" i="0">
                <a:solidFill>
                  <a:srgbClr val="003057"/>
                </a:solidFill>
                <a:latin typeface="Segoe UI"/>
              </a:rPr>
              <a:t>Demostración en vivo</a:t>
            </a:r>
            <a:endParaRPr sz="3400" b="1" i="0">
              <a:solidFill>
                <a:srgbClr val="003057"/>
              </a:solidFill>
              <a:latin typeface="Segoe UI"/>
            </a:endParaRPr>
          </a:p>
        </p:txBody>
      </p:sp>
      <p:sp>
        <p:nvSpPr>
          <p:cNvPr id="8" name="Rounded Rectangle 7"/>
          <p:cNvSpPr/>
          <p:nvPr/>
        </p:nvSpPr>
        <p:spPr>
          <a:xfrm>
            <a:off x="612648" y="2664460"/>
            <a:ext cx="2624328" cy="26035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12648" y="26644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1 · Buscar</a:t>
            </a:r>
            <a:endParaRPr sz="1500" b="1" i="0">
              <a:solidFill>
                <a:srgbClr val="FFFFFF"/>
              </a:solidFill>
              <a:latin typeface="Segoe UI"/>
            </a:endParaRPr>
          </a:p>
        </p:txBody>
      </p:sp>
      <p:sp>
        <p:nvSpPr>
          <p:cNvPr id="10" name="TextBox 9"/>
          <p:cNvSpPr txBox="1"/>
          <p:nvPr/>
        </p:nvSpPr>
        <p:spPr>
          <a:xfrm>
            <a:off x="704088" y="3561909"/>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Buscar un camión</a:t>
            </a:r>
            <a:endParaRPr sz="1700" b="1" i="0">
              <a:solidFill>
                <a:srgbClr val="1C6BBA"/>
              </a:solidFill>
              <a:latin typeface="Segoe UI"/>
            </a:endParaRPr>
          </a:p>
        </p:txBody>
      </p:sp>
      <p:sp>
        <p:nvSpPr>
          <p:cNvPr id="11" name="TextBox 10"/>
          <p:cNvSpPr txBox="1"/>
          <p:nvPr/>
        </p:nvSpPr>
        <p:spPr>
          <a:xfrm>
            <a:off x="749808" y="4081780"/>
            <a:ext cx="2350008" cy="646331"/>
          </a:xfrm>
          <a:prstGeom prst="rect">
            <a:avLst/>
          </a:prstGeom>
          <a:noFill/>
        </p:spPr>
        <p:txBody>
          <a:bodyPr wrap="square" lIns="73152" rIns="73152" anchor="t">
            <a:spAutoFit/>
          </a:bodyPr>
          <a:lstStyle/>
          <a:p>
            <a:pPr algn="ctr"/>
            <a:r>
              <a:rPr lang="es-CL" sz="1200" b="0" i="0">
                <a:solidFill>
                  <a:srgbClr val="1E293B"/>
                </a:solidFill>
                <a:latin typeface="Segoe UI"/>
              </a:rPr>
              <a:t>en Comercial: cliente, plan, estado y contrato en una sola fila</a:t>
            </a:r>
            <a:endParaRPr sz="1200" b="0" i="0">
              <a:solidFill>
                <a:srgbClr val="1E293B"/>
              </a:solidFill>
              <a:latin typeface="Segoe UI"/>
            </a:endParaRPr>
          </a:p>
        </p:txBody>
      </p:sp>
      <p:sp>
        <p:nvSpPr>
          <p:cNvPr id="15" name="Rounded Rectangle 14"/>
          <p:cNvSpPr/>
          <p:nvPr/>
        </p:nvSpPr>
        <p:spPr>
          <a:xfrm>
            <a:off x="3392424" y="2664460"/>
            <a:ext cx="2624328" cy="26035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3392424" y="26644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2 · Importar</a:t>
            </a:r>
            <a:endParaRPr sz="1500" b="1" i="0">
              <a:solidFill>
                <a:srgbClr val="FFFFFF"/>
              </a:solidFill>
              <a:latin typeface="Segoe UI"/>
            </a:endParaRPr>
          </a:p>
        </p:txBody>
      </p:sp>
      <p:sp>
        <p:nvSpPr>
          <p:cNvPr id="17" name="TextBox 16"/>
          <p:cNvSpPr txBox="1"/>
          <p:nvPr/>
        </p:nvSpPr>
        <p:spPr>
          <a:xfrm>
            <a:off x="3483864" y="3561909"/>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Cargar un reporte</a:t>
            </a:r>
            <a:endParaRPr sz="1700" b="1" i="0">
              <a:solidFill>
                <a:srgbClr val="1C6BBA"/>
              </a:solidFill>
              <a:latin typeface="Segoe UI"/>
            </a:endParaRPr>
          </a:p>
        </p:txBody>
      </p:sp>
      <p:sp>
        <p:nvSpPr>
          <p:cNvPr id="18" name="TextBox 17"/>
          <p:cNvSpPr txBox="1"/>
          <p:nvPr/>
        </p:nvSpPr>
        <p:spPr>
          <a:xfrm>
            <a:off x="3529584" y="40817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las provisiones nuevas entran sin copiar datos a mano</a:t>
            </a:r>
            <a:endParaRPr sz="1200" b="0" i="0">
              <a:solidFill>
                <a:srgbClr val="1E293B"/>
              </a:solidFill>
              <a:latin typeface="Segoe UI"/>
            </a:endParaRPr>
          </a:p>
        </p:txBody>
      </p:sp>
      <p:sp>
        <p:nvSpPr>
          <p:cNvPr id="22" name="Rounded Rectangle 21"/>
          <p:cNvSpPr/>
          <p:nvPr/>
        </p:nvSpPr>
        <p:spPr>
          <a:xfrm>
            <a:off x="6172200" y="2664460"/>
            <a:ext cx="2624328" cy="26035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6172200" y="26644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3 · Guardar</a:t>
            </a:r>
            <a:endParaRPr sz="1500" b="1" i="0">
              <a:solidFill>
                <a:srgbClr val="FFFFFF"/>
              </a:solidFill>
              <a:latin typeface="Segoe UI"/>
            </a:endParaRPr>
          </a:p>
        </p:txBody>
      </p:sp>
      <p:sp>
        <p:nvSpPr>
          <p:cNvPr id="24" name="TextBox 23"/>
          <p:cNvSpPr txBox="1"/>
          <p:nvPr/>
        </p:nvSpPr>
        <p:spPr>
          <a:xfrm>
            <a:off x="6263640" y="3561908"/>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Editar y guardar</a:t>
            </a:r>
            <a:endParaRPr sz="1700" b="1" i="0">
              <a:solidFill>
                <a:srgbClr val="1C6BBA"/>
              </a:solidFill>
              <a:latin typeface="Segoe UI"/>
            </a:endParaRPr>
          </a:p>
        </p:txBody>
      </p:sp>
      <p:sp>
        <p:nvSpPr>
          <p:cNvPr id="25" name="TextBox 24"/>
          <p:cNvSpPr txBox="1"/>
          <p:nvPr/>
        </p:nvSpPr>
        <p:spPr>
          <a:xfrm>
            <a:off x="6309360" y="40817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se crea el respaldo y el cambio queda en el Historial</a:t>
            </a:r>
            <a:endParaRPr sz="1200" b="0" i="0">
              <a:solidFill>
                <a:srgbClr val="1E293B"/>
              </a:solidFill>
              <a:latin typeface="Segoe UI"/>
            </a:endParaRPr>
          </a:p>
        </p:txBody>
      </p:sp>
      <p:sp>
        <p:nvSpPr>
          <p:cNvPr id="29" name="Rounded Rectangle 28"/>
          <p:cNvSpPr/>
          <p:nvPr/>
        </p:nvSpPr>
        <p:spPr>
          <a:xfrm>
            <a:off x="8951976" y="2664460"/>
            <a:ext cx="2624328" cy="26035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8951976" y="26644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lang="es-MX" sz="1500" b="1" i="0">
                <a:solidFill>
                  <a:srgbClr val="FFFFFF"/>
                </a:solidFill>
                <a:latin typeface="Segoe UI"/>
              </a:rPr>
              <a:t>4 · Contactar</a:t>
            </a:r>
            <a:endParaRPr sz="1500" b="1" i="0">
              <a:solidFill>
                <a:srgbClr val="FFFFFF"/>
              </a:solidFill>
              <a:latin typeface="Segoe UI"/>
            </a:endParaRPr>
          </a:p>
        </p:txBody>
      </p:sp>
      <p:sp>
        <p:nvSpPr>
          <p:cNvPr id="31" name="TextBox 30"/>
          <p:cNvSpPr txBox="1"/>
          <p:nvPr/>
        </p:nvSpPr>
        <p:spPr>
          <a:xfrm>
            <a:off x="9043416" y="3561909"/>
            <a:ext cx="2441448" cy="353943"/>
          </a:xfrm>
          <a:prstGeom prst="rect">
            <a:avLst/>
          </a:prstGeom>
          <a:noFill/>
        </p:spPr>
        <p:txBody>
          <a:bodyPr wrap="square" lIns="73152" rIns="73152" anchor="ctr">
            <a:spAutoFit/>
          </a:bodyPr>
          <a:lstStyle/>
          <a:p>
            <a:pPr algn="ctr"/>
            <a:r>
              <a:rPr lang="es-MX" sz="1700" b="1" i="0">
                <a:solidFill>
                  <a:srgbClr val="1C6BBA"/>
                </a:solidFill>
                <a:latin typeface="Segoe UI"/>
              </a:rPr>
              <a:t>Enviar un correo</a:t>
            </a:r>
            <a:endParaRPr sz="1700" b="1" i="0">
              <a:solidFill>
                <a:srgbClr val="1C6BBA"/>
              </a:solidFill>
              <a:latin typeface="Segoe UI"/>
            </a:endParaRPr>
          </a:p>
        </p:txBody>
      </p:sp>
      <p:sp>
        <p:nvSpPr>
          <p:cNvPr id="32" name="TextBox 31"/>
          <p:cNvSpPr txBox="1"/>
          <p:nvPr/>
        </p:nvSpPr>
        <p:spPr>
          <a:xfrm>
            <a:off x="9089136" y="40817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con la plantilla de Outlook, a los contactos del cliente</a:t>
            </a:r>
            <a:endParaRPr sz="1200" b="0" i="0">
              <a:solidFill>
                <a:srgbClr val="1E293B"/>
              </a:solidFill>
              <a:latin typeface="Segoe UI"/>
            </a:endParaRPr>
          </a:p>
        </p:txBody>
      </p:sp>
      <p:sp>
        <p:nvSpPr>
          <p:cNvPr id="36" name="TextBox 35"/>
          <p:cNvSpPr txBox="1"/>
          <p:nvPr/>
        </p:nvSpPr>
        <p:spPr>
          <a:xfrm>
            <a:off x="612648" y="5397500"/>
            <a:ext cx="10972800" cy="200055"/>
          </a:xfrm>
          <a:prstGeom prst="rect">
            <a:avLst/>
          </a:prstGeom>
          <a:noFill/>
        </p:spPr>
        <p:txBody>
          <a:bodyPr wrap="square" lIns="73152" tIns="0" rIns="73152" anchor="t">
            <a:spAutoFit/>
          </a:bodyPr>
          <a:lstStyle/>
          <a:p>
            <a:pPr algn="ctr"/>
            <a:r>
              <a:rPr lang="es-CL" sz="1000" b="0" i="0">
                <a:solidFill>
                  <a:srgbClr val="64748B"/>
                </a:solidFill>
                <a:latin typeface="Segoe UI"/>
              </a:rPr>
              <a:t>Duración total: 2 minutos, unos 30 segundos por paso.</a:t>
            </a:r>
            <a:endParaRPr sz="1000" b="0" i="0">
              <a:solidFill>
                <a:srgbClr val="64748B"/>
              </a:solidFill>
              <a:latin typeface="Segoe UI"/>
            </a:endParaRPr>
          </a:p>
        </p:txBody>
      </p:sp>
    </p:spTree>
    <p:extLst>
      <p:ext uri="{BB962C8B-B14F-4D97-AF65-F5344CB8AC3E}">
        <p14:creationId xmlns:p14="http://schemas.microsoft.com/office/powerpoint/2010/main" val="2401650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2743200"/>
            <a:ext cx="12191695" cy="1554480"/>
          </a:xfrm>
          <a:prstGeom prst="rect">
            <a:avLst/>
          </a:prstGeom>
          <a:noFill/>
        </p:spPr>
        <p:txBody>
          <a:bodyPr wrap="square" lIns="73152" rIns="73152" anchor="ctr">
            <a:spAutoFit/>
          </a:bodyPr>
          <a:lstStyle/>
          <a:p>
            <a:pPr algn="ctr"/>
            <a:r>
              <a:rPr sz="4400" b="0" i="0">
                <a:solidFill>
                  <a:srgbClr val="003057"/>
                </a:solidFill>
                <a:latin typeface="Segoe UI"/>
              </a:rPr>
              <a:t>Muchas gracias por su atención</a:t>
            </a:r>
          </a:p>
          <a:p>
            <a:pPr algn="ctr">
              <a:spcBef>
                <a:spcPts val="600"/>
              </a:spcBef>
            </a:pPr>
            <a:r>
              <a:rPr sz="3200" b="0" i="0">
                <a:solidFill>
                  <a:srgbClr val="1C6BBA"/>
                </a:solidFill>
                <a:latin typeface="Segoe UI"/>
              </a:rPr>
              <a:t>¿Preguntas?</a:t>
            </a:r>
          </a:p>
        </p:txBody>
      </p:sp>
      <p:cxnSp>
        <p:nvCxnSpPr>
          <p:cNvPr id="8" name="Connector 7"/>
          <p:cNvCxnSpPr/>
          <p:nvPr/>
        </p:nvCxnSpPr>
        <p:spPr>
          <a:xfrm>
            <a:off x="5184648" y="4526280"/>
            <a:ext cx="18288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3" name="Connector 2"/>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4" name="Picture 3" descr="image.jpg"/>
          <p:cNvPicPr>
            <a:picLocks noChangeAspect="1"/>
          </p:cNvPicPr>
          <p:nvPr/>
        </p:nvPicPr>
        <p:blipFill>
          <a:blip r:embed="rId4"/>
          <a:stretch>
            <a:fillRect/>
          </a:stretch>
        </p:blipFill>
        <p:spPr>
          <a:xfrm>
            <a:off x="8769096" y="210312"/>
            <a:ext cx="3145536" cy="786384"/>
          </a:xfrm>
          <a:prstGeom prst="rect">
            <a:avLst/>
          </a:prstGeom>
        </p:spPr>
      </p:pic>
      <p:sp>
        <p:nvSpPr>
          <p:cNvPr id="5" name="TextBox 4"/>
          <p:cNvSpPr txBox="1"/>
          <p:nvPr/>
        </p:nvSpPr>
        <p:spPr>
          <a:xfrm>
            <a:off x="274320" y="109728"/>
            <a:ext cx="7498079" cy="1188720"/>
          </a:xfrm>
          <a:prstGeom prst="rect">
            <a:avLst/>
          </a:prstGeom>
          <a:noFill/>
        </p:spPr>
        <p:txBody>
          <a:bodyPr wrap="square" lIns="73152" rIns="73152" anchor="ctr">
            <a:spAutoFit/>
          </a:bodyPr>
          <a:lstStyle/>
          <a:p>
            <a:pPr algn="l"/>
            <a:r>
              <a:rPr sz="3000" b="1" i="0">
                <a:solidFill>
                  <a:srgbClr val="003057"/>
                </a:solidFill>
                <a:latin typeface="Segoe UI"/>
              </a:rPr>
              <a:t>Cronograma para el desarrollo del proyecto</a:t>
            </a:r>
          </a:p>
        </p:txBody>
      </p:sp>
      <p:sp>
        <p:nvSpPr>
          <p:cNvPr id="6" name="Rectangle 5"/>
          <p:cNvSpPr/>
          <p:nvPr/>
        </p:nvSpPr>
        <p:spPr>
          <a:xfrm>
            <a:off x="274320" y="1371600"/>
            <a:ext cx="3246120" cy="329184"/>
          </a:xfrm>
          <a:prstGeom prst="rect">
            <a:avLst/>
          </a:prstGeom>
          <a:solidFill>
            <a:srgbClr val="0B2A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050" b="1" i="0">
                <a:solidFill>
                  <a:srgbClr val="FFFFFF"/>
                </a:solidFill>
                <a:latin typeface="Segoe UI"/>
              </a:rPr>
              <a:t>SPRINT Y ENTREGABLES</a:t>
            </a:r>
          </a:p>
        </p:txBody>
      </p:sp>
      <p:sp>
        <p:nvSpPr>
          <p:cNvPr id="7" name="Rectangle 6"/>
          <p:cNvSpPr/>
          <p:nvPr/>
        </p:nvSpPr>
        <p:spPr>
          <a:xfrm>
            <a:off x="3520439" y="1371600"/>
            <a:ext cx="1767198" cy="329184"/>
          </a:xfrm>
          <a:prstGeom prst="rect">
            <a:avLst/>
          </a:prstGeom>
          <a:solidFill>
            <a:srgbClr val="1C6BB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900" b="1" i="0">
                <a:solidFill>
                  <a:srgbClr val="FFFFFF"/>
                </a:solidFill>
                <a:latin typeface="Segoe UI"/>
              </a:rPr>
              <a:t>FASE 1 · INICIO</a:t>
            </a:r>
          </a:p>
        </p:txBody>
      </p:sp>
      <p:sp>
        <p:nvSpPr>
          <p:cNvPr id="8" name="Rectangle 7"/>
          <p:cNvSpPr/>
          <p:nvPr/>
        </p:nvSpPr>
        <p:spPr>
          <a:xfrm>
            <a:off x="5287638" y="1371600"/>
            <a:ext cx="3534396" cy="329184"/>
          </a:xfrm>
          <a:prstGeom prst="rect">
            <a:avLst/>
          </a:prstGeom>
          <a:solidFill>
            <a:srgbClr val="00305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900" b="1" i="0">
                <a:solidFill>
                  <a:srgbClr val="FFFFFF"/>
                </a:solidFill>
                <a:latin typeface="Segoe UI"/>
              </a:rPr>
              <a:t>FASE 2 · DESARROLLO, INTEGRACIÓN Y CALIDAD</a:t>
            </a:r>
          </a:p>
        </p:txBody>
      </p:sp>
      <p:sp>
        <p:nvSpPr>
          <p:cNvPr id="9" name="Rectangle 8"/>
          <p:cNvSpPr/>
          <p:nvPr/>
        </p:nvSpPr>
        <p:spPr>
          <a:xfrm>
            <a:off x="8822034" y="1371600"/>
            <a:ext cx="2650797" cy="329184"/>
          </a:xfrm>
          <a:prstGeom prst="rect">
            <a:avLst/>
          </a:prstGeom>
          <a:solidFill>
            <a:srgbClr val="33415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900" b="1" i="0">
                <a:solidFill>
                  <a:srgbClr val="FFFFFF"/>
                </a:solidFill>
                <a:latin typeface="Segoe UI"/>
              </a:rPr>
              <a:t>FASE 3 · INTEGRACIÓN Y ENTREGA</a:t>
            </a:r>
          </a:p>
        </p:txBody>
      </p:sp>
      <p:sp>
        <p:nvSpPr>
          <p:cNvPr id="10" name="Rectangle 9"/>
          <p:cNvSpPr/>
          <p:nvPr/>
        </p:nvSpPr>
        <p:spPr>
          <a:xfrm>
            <a:off x="11472832" y="1371600"/>
            <a:ext cx="441799" cy="329184"/>
          </a:xfrm>
          <a:prstGeom prst="rect">
            <a:avLst/>
          </a:prstGeom>
          <a:solidFill>
            <a:srgbClr val="6474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800" b="1" i="0">
                <a:solidFill>
                  <a:srgbClr val="FFFFFF"/>
                </a:solidFill>
                <a:latin typeface="Segoe UI"/>
              </a:rPr>
              <a:t>CIERRE</a:t>
            </a:r>
          </a:p>
        </p:txBody>
      </p:sp>
      <p:sp>
        <p:nvSpPr>
          <p:cNvPr id="11" name="Rectangle 10"/>
          <p:cNvSpPr/>
          <p:nvPr/>
        </p:nvSpPr>
        <p:spPr>
          <a:xfrm>
            <a:off x="274320" y="1700784"/>
            <a:ext cx="3246120"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950" b="0" i="0">
                <a:solidFill>
                  <a:srgbClr val="CBD5E1"/>
                </a:solidFill>
                <a:latin typeface="Segoe UI"/>
              </a:rPr>
              <a:t>Semana (inicio lunes)</a:t>
            </a:r>
          </a:p>
        </p:txBody>
      </p:sp>
      <p:sp>
        <p:nvSpPr>
          <p:cNvPr id="12" name="Rectangle 11"/>
          <p:cNvSpPr/>
          <p:nvPr/>
        </p:nvSpPr>
        <p:spPr>
          <a:xfrm>
            <a:off x="3520439"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a:t>
            </a:r>
          </a:p>
          <a:p>
            <a:pPr algn="ctr"/>
            <a:r>
              <a:rPr sz="700" b="0" i="0">
                <a:solidFill>
                  <a:srgbClr val="CBD5E1"/>
                </a:solidFill>
                <a:latin typeface="Segoe UI"/>
              </a:rPr>
              <a:t>13/07</a:t>
            </a:r>
          </a:p>
        </p:txBody>
      </p:sp>
      <p:sp>
        <p:nvSpPr>
          <p:cNvPr id="13" name="Rectangle 12"/>
          <p:cNvSpPr/>
          <p:nvPr/>
        </p:nvSpPr>
        <p:spPr>
          <a:xfrm>
            <a:off x="3962239"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S2</a:t>
            </a:r>
          </a:p>
          <a:p>
            <a:pPr algn="ctr"/>
            <a:r>
              <a:rPr sz="700" b="0" i="0">
                <a:solidFill>
                  <a:srgbClr val="CBD5E1"/>
                </a:solidFill>
                <a:latin typeface="Segoe UI"/>
              </a:rPr>
              <a:t>20/07</a:t>
            </a:r>
          </a:p>
        </p:txBody>
      </p:sp>
      <p:sp>
        <p:nvSpPr>
          <p:cNvPr id="14" name="Rectangle 13"/>
          <p:cNvSpPr/>
          <p:nvPr/>
        </p:nvSpPr>
        <p:spPr>
          <a:xfrm>
            <a:off x="4404039"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S3</a:t>
            </a:r>
          </a:p>
          <a:p>
            <a:pPr algn="ctr"/>
            <a:r>
              <a:rPr sz="700" b="0" i="0">
                <a:solidFill>
                  <a:srgbClr val="CBD5E1"/>
                </a:solidFill>
                <a:latin typeface="Segoe UI"/>
              </a:rPr>
              <a:t>27/07</a:t>
            </a:r>
          </a:p>
        </p:txBody>
      </p:sp>
      <p:sp>
        <p:nvSpPr>
          <p:cNvPr id="15" name="Rectangle 14"/>
          <p:cNvSpPr/>
          <p:nvPr/>
        </p:nvSpPr>
        <p:spPr>
          <a:xfrm>
            <a:off x="4845838"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S4</a:t>
            </a:r>
          </a:p>
          <a:p>
            <a:pPr algn="ctr"/>
            <a:r>
              <a:rPr sz="700" b="0" i="0">
                <a:solidFill>
                  <a:srgbClr val="CBD5E1"/>
                </a:solidFill>
                <a:latin typeface="Segoe UI"/>
              </a:rPr>
              <a:t>03/08</a:t>
            </a:r>
          </a:p>
        </p:txBody>
      </p:sp>
      <p:sp>
        <p:nvSpPr>
          <p:cNvPr id="16" name="Rectangle 15"/>
          <p:cNvSpPr/>
          <p:nvPr/>
        </p:nvSpPr>
        <p:spPr>
          <a:xfrm>
            <a:off x="5287638"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S5</a:t>
            </a:r>
          </a:p>
          <a:p>
            <a:pPr algn="ctr"/>
            <a:r>
              <a:rPr sz="700" b="0" i="0">
                <a:solidFill>
                  <a:srgbClr val="CBD5E1"/>
                </a:solidFill>
                <a:latin typeface="Segoe UI"/>
              </a:rPr>
              <a:t>10/08</a:t>
            </a:r>
          </a:p>
        </p:txBody>
      </p:sp>
      <p:sp>
        <p:nvSpPr>
          <p:cNvPr id="17" name="Rectangle 16"/>
          <p:cNvSpPr/>
          <p:nvPr/>
        </p:nvSpPr>
        <p:spPr>
          <a:xfrm>
            <a:off x="5729437"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S6</a:t>
            </a:r>
          </a:p>
          <a:p>
            <a:pPr algn="ctr"/>
            <a:r>
              <a:rPr sz="700" b="0" i="0">
                <a:solidFill>
                  <a:srgbClr val="CBD5E1"/>
                </a:solidFill>
                <a:latin typeface="Segoe UI"/>
              </a:rPr>
              <a:t>17/08</a:t>
            </a:r>
          </a:p>
        </p:txBody>
      </p:sp>
      <p:sp>
        <p:nvSpPr>
          <p:cNvPr id="18" name="Rectangle 17"/>
          <p:cNvSpPr/>
          <p:nvPr/>
        </p:nvSpPr>
        <p:spPr>
          <a:xfrm>
            <a:off x="6171237"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S7</a:t>
            </a:r>
          </a:p>
          <a:p>
            <a:pPr algn="ctr"/>
            <a:r>
              <a:rPr sz="700" b="0" i="0">
                <a:solidFill>
                  <a:srgbClr val="CBD5E1"/>
                </a:solidFill>
                <a:latin typeface="Segoe UI"/>
              </a:rPr>
              <a:t>24/08</a:t>
            </a:r>
          </a:p>
        </p:txBody>
      </p:sp>
      <p:sp>
        <p:nvSpPr>
          <p:cNvPr id="19" name="Rectangle 18"/>
          <p:cNvSpPr/>
          <p:nvPr/>
        </p:nvSpPr>
        <p:spPr>
          <a:xfrm>
            <a:off x="6613037"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S8</a:t>
            </a:r>
          </a:p>
          <a:p>
            <a:pPr algn="ctr"/>
            <a:r>
              <a:rPr sz="700" b="0" i="0">
                <a:solidFill>
                  <a:srgbClr val="CBD5E1"/>
                </a:solidFill>
                <a:latin typeface="Segoe UI"/>
              </a:rPr>
              <a:t>31/08</a:t>
            </a:r>
          </a:p>
        </p:txBody>
      </p:sp>
      <p:sp>
        <p:nvSpPr>
          <p:cNvPr id="20" name="Rectangle 19"/>
          <p:cNvSpPr/>
          <p:nvPr/>
        </p:nvSpPr>
        <p:spPr>
          <a:xfrm>
            <a:off x="7054836"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S9</a:t>
            </a:r>
          </a:p>
          <a:p>
            <a:pPr algn="ctr"/>
            <a:r>
              <a:rPr sz="700" b="0" i="0">
                <a:solidFill>
                  <a:srgbClr val="CBD5E1"/>
                </a:solidFill>
                <a:latin typeface="Segoe UI"/>
              </a:rPr>
              <a:t>07/09</a:t>
            </a:r>
          </a:p>
        </p:txBody>
      </p:sp>
      <p:sp>
        <p:nvSpPr>
          <p:cNvPr id="21" name="Rectangle 20"/>
          <p:cNvSpPr/>
          <p:nvPr/>
        </p:nvSpPr>
        <p:spPr>
          <a:xfrm>
            <a:off x="7496636"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S10</a:t>
            </a:r>
          </a:p>
          <a:p>
            <a:pPr algn="ctr"/>
            <a:r>
              <a:rPr sz="700" b="0" i="0">
                <a:solidFill>
                  <a:srgbClr val="CBD5E1"/>
                </a:solidFill>
                <a:latin typeface="Segoe UI"/>
              </a:rPr>
              <a:t>14/09</a:t>
            </a:r>
          </a:p>
        </p:txBody>
      </p:sp>
      <p:sp>
        <p:nvSpPr>
          <p:cNvPr id="22" name="Rectangle 21"/>
          <p:cNvSpPr/>
          <p:nvPr/>
        </p:nvSpPr>
        <p:spPr>
          <a:xfrm>
            <a:off x="7938435"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S11</a:t>
            </a:r>
          </a:p>
          <a:p>
            <a:pPr algn="ctr"/>
            <a:r>
              <a:rPr sz="700" b="0" i="0">
                <a:solidFill>
                  <a:srgbClr val="CBD5E1"/>
                </a:solidFill>
                <a:latin typeface="Segoe UI"/>
              </a:rPr>
              <a:t>21/09</a:t>
            </a:r>
          </a:p>
        </p:txBody>
      </p:sp>
      <p:sp>
        <p:nvSpPr>
          <p:cNvPr id="23" name="Rectangle 22"/>
          <p:cNvSpPr/>
          <p:nvPr/>
        </p:nvSpPr>
        <p:spPr>
          <a:xfrm>
            <a:off x="8380235"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S12</a:t>
            </a:r>
          </a:p>
          <a:p>
            <a:pPr algn="ctr"/>
            <a:r>
              <a:rPr sz="700" b="0" i="0">
                <a:solidFill>
                  <a:srgbClr val="CBD5E1"/>
                </a:solidFill>
                <a:latin typeface="Segoe UI"/>
              </a:rPr>
              <a:t>28/09</a:t>
            </a:r>
          </a:p>
        </p:txBody>
      </p:sp>
      <p:sp>
        <p:nvSpPr>
          <p:cNvPr id="24" name="Rectangle 23"/>
          <p:cNvSpPr/>
          <p:nvPr/>
        </p:nvSpPr>
        <p:spPr>
          <a:xfrm>
            <a:off x="8822034"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S13</a:t>
            </a:r>
          </a:p>
          <a:p>
            <a:pPr algn="ctr"/>
            <a:r>
              <a:rPr sz="700" b="0" i="0">
                <a:solidFill>
                  <a:srgbClr val="CBD5E1"/>
                </a:solidFill>
                <a:latin typeface="Segoe UI"/>
              </a:rPr>
              <a:t>05/10</a:t>
            </a:r>
          </a:p>
        </p:txBody>
      </p:sp>
      <p:sp>
        <p:nvSpPr>
          <p:cNvPr id="25" name="Rectangle 24"/>
          <p:cNvSpPr/>
          <p:nvPr/>
        </p:nvSpPr>
        <p:spPr>
          <a:xfrm>
            <a:off x="9263834"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S14</a:t>
            </a:r>
          </a:p>
          <a:p>
            <a:pPr algn="ctr"/>
            <a:r>
              <a:rPr sz="700" b="0" i="0">
                <a:solidFill>
                  <a:srgbClr val="CBD5E1"/>
                </a:solidFill>
                <a:latin typeface="Segoe UI"/>
              </a:rPr>
              <a:t>12/10</a:t>
            </a:r>
          </a:p>
        </p:txBody>
      </p:sp>
      <p:sp>
        <p:nvSpPr>
          <p:cNvPr id="26" name="Rectangle 25"/>
          <p:cNvSpPr/>
          <p:nvPr/>
        </p:nvSpPr>
        <p:spPr>
          <a:xfrm>
            <a:off x="9705634"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S15</a:t>
            </a:r>
          </a:p>
          <a:p>
            <a:pPr algn="ctr"/>
            <a:r>
              <a:rPr sz="700" b="0" i="0">
                <a:solidFill>
                  <a:srgbClr val="CBD5E1"/>
                </a:solidFill>
                <a:latin typeface="Segoe UI"/>
              </a:rPr>
              <a:t>19/10</a:t>
            </a:r>
          </a:p>
        </p:txBody>
      </p:sp>
      <p:sp>
        <p:nvSpPr>
          <p:cNvPr id="27" name="Rectangle 26"/>
          <p:cNvSpPr/>
          <p:nvPr/>
        </p:nvSpPr>
        <p:spPr>
          <a:xfrm>
            <a:off x="10147433"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S16</a:t>
            </a:r>
          </a:p>
          <a:p>
            <a:pPr algn="ctr"/>
            <a:r>
              <a:rPr sz="700" b="0" i="0">
                <a:solidFill>
                  <a:srgbClr val="CBD5E1"/>
                </a:solidFill>
                <a:latin typeface="Segoe UI"/>
              </a:rPr>
              <a:t>26/10</a:t>
            </a:r>
          </a:p>
        </p:txBody>
      </p:sp>
      <p:sp>
        <p:nvSpPr>
          <p:cNvPr id="28" name="Rectangle 27"/>
          <p:cNvSpPr/>
          <p:nvPr/>
        </p:nvSpPr>
        <p:spPr>
          <a:xfrm>
            <a:off x="10589233"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S17</a:t>
            </a:r>
          </a:p>
          <a:p>
            <a:pPr algn="ctr"/>
            <a:r>
              <a:rPr sz="700" b="0" i="0">
                <a:solidFill>
                  <a:srgbClr val="CBD5E1"/>
                </a:solidFill>
                <a:latin typeface="Segoe UI"/>
              </a:rPr>
              <a:t>02/11</a:t>
            </a:r>
          </a:p>
        </p:txBody>
      </p:sp>
      <p:sp>
        <p:nvSpPr>
          <p:cNvPr id="29" name="Rectangle 28"/>
          <p:cNvSpPr/>
          <p:nvPr/>
        </p:nvSpPr>
        <p:spPr>
          <a:xfrm>
            <a:off x="11031032"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Segoe UI"/>
              </a:rPr>
              <a:t>S18</a:t>
            </a:r>
          </a:p>
          <a:p>
            <a:pPr algn="ctr"/>
            <a:r>
              <a:rPr sz="700" b="0" i="0">
                <a:solidFill>
                  <a:srgbClr val="CBD5E1"/>
                </a:solidFill>
                <a:latin typeface="Segoe UI"/>
              </a:rPr>
              <a:t>09/11</a:t>
            </a:r>
          </a:p>
        </p:txBody>
      </p:sp>
      <p:sp>
        <p:nvSpPr>
          <p:cNvPr id="30" name="Rectangle 29"/>
          <p:cNvSpPr/>
          <p:nvPr/>
        </p:nvSpPr>
        <p:spPr>
          <a:xfrm>
            <a:off x="11472832" y="1700784"/>
            <a:ext cx="441799" cy="384048"/>
          </a:xfrm>
          <a:prstGeom prst="rect">
            <a:avLst/>
          </a:prstGeom>
          <a:solidFill>
            <a:srgbClr val="1E293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750" b="1" i="0">
                <a:solidFill>
                  <a:srgbClr val="FFFFFF"/>
                </a:solidFill>
                <a:latin typeface="Segoe UI"/>
              </a:rPr>
              <a:t>Nov–Dic</a:t>
            </a:r>
          </a:p>
        </p:txBody>
      </p:sp>
      <p:sp>
        <p:nvSpPr>
          <p:cNvPr id="31" name="Rectangle 30"/>
          <p:cNvSpPr/>
          <p:nvPr/>
        </p:nvSpPr>
        <p:spPr>
          <a:xfrm>
            <a:off x="274320" y="2084832"/>
            <a:ext cx="11640311" cy="42976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20040" y="2066544"/>
            <a:ext cx="3200400" cy="429768"/>
          </a:xfrm>
          <a:prstGeom prst="rect">
            <a:avLst/>
          </a:prstGeom>
          <a:noFill/>
        </p:spPr>
        <p:txBody>
          <a:bodyPr wrap="square" lIns="73152" tIns="27432" rIns="73152" anchor="t">
            <a:spAutoFit/>
          </a:bodyPr>
          <a:lstStyle/>
          <a:p>
            <a:pPr algn="l"/>
            <a:r>
              <a:rPr sz="950" b="1" i="0">
                <a:solidFill>
                  <a:srgbClr val="1E293B"/>
                </a:solidFill>
                <a:latin typeface="Segoe UI"/>
              </a:rPr>
              <a:t>Sprint 0 · Inducción y diagnóstico</a:t>
            </a:r>
          </a:p>
          <a:p>
            <a:pPr algn="l"/>
            <a:r>
              <a:rPr sz="750" b="0" i="0">
                <a:solidFill>
                  <a:srgbClr val="64748B"/>
                </a:solidFill>
                <a:latin typeface="Segoe UI"/>
              </a:rPr>
              <a:t>Problema levantado; propuesta web con SQL descartada</a:t>
            </a:r>
          </a:p>
        </p:txBody>
      </p:sp>
      <p:sp>
        <p:nvSpPr>
          <p:cNvPr id="33" name="Rounded Rectangle 32"/>
          <p:cNvSpPr/>
          <p:nvPr/>
        </p:nvSpPr>
        <p:spPr>
          <a:xfrm>
            <a:off x="3557015" y="2148840"/>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3998815" y="2148840"/>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274320" y="2514600"/>
            <a:ext cx="11640311" cy="429768"/>
          </a:xfrm>
          <a:prstGeom prst="rect">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320040" y="2496312"/>
            <a:ext cx="3200400" cy="429768"/>
          </a:xfrm>
          <a:prstGeom prst="rect">
            <a:avLst/>
          </a:prstGeom>
          <a:noFill/>
        </p:spPr>
        <p:txBody>
          <a:bodyPr wrap="square" lIns="73152" tIns="27432" rIns="73152" anchor="t">
            <a:spAutoFit/>
          </a:bodyPr>
          <a:lstStyle/>
          <a:p>
            <a:pPr algn="l"/>
            <a:r>
              <a:rPr sz="950" b="1" i="0">
                <a:solidFill>
                  <a:srgbClr val="1E293B"/>
                </a:solidFill>
                <a:latin typeface="Segoe UI"/>
              </a:rPr>
              <a:t>Sprint 1 · Arquitectura y base</a:t>
            </a:r>
          </a:p>
          <a:p>
            <a:pPr algn="l"/>
            <a:r>
              <a:rPr sz="750" b="0" i="0">
                <a:solidFill>
                  <a:srgbClr val="64748B"/>
                </a:solidFill>
                <a:latin typeface="Segoe UI"/>
              </a:rPr>
              <a:t>App de escritorio, Comercial, Provisiones</a:t>
            </a:r>
          </a:p>
        </p:txBody>
      </p:sp>
      <p:sp>
        <p:nvSpPr>
          <p:cNvPr id="37" name="Rounded Rectangle 36"/>
          <p:cNvSpPr/>
          <p:nvPr/>
        </p:nvSpPr>
        <p:spPr>
          <a:xfrm>
            <a:off x="4440615" y="2578608"/>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4882414" y="2578608"/>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274320" y="2944368"/>
            <a:ext cx="11640311" cy="42976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320040" y="2926080"/>
            <a:ext cx="3200400" cy="429768"/>
          </a:xfrm>
          <a:prstGeom prst="rect">
            <a:avLst/>
          </a:prstGeom>
          <a:noFill/>
        </p:spPr>
        <p:txBody>
          <a:bodyPr wrap="square" lIns="73152" tIns="27432" rIns="73152" anchor="t">
            <a:spAutoFit/>
          </a:bodyPr>
          <a:lstStyle/>
          <a:p>
            <a:pPr algn="l"/>
            <a:r>
              <a:rPr sz="950" b="1" i="0">
                <a:solidFill>
                  <a:srgbClr val="1E293B"/>
                </a:solidFill>
                <a:latin typeface="Segoe UI"/>
              </a:rPr>
              <a:t>Sprint 2 · Módulos e integraciones</a:t>
            </a:r>
          </a:p>
          <a:p>
            <a:pPr algn="l"/>
            <a:r>
              <a:rPr sz="750" b="0" i="0">
                <a:solidFill>
                  <a:srgbClr val="64748B"/>
                </a:solidFill>
                <a:latin typeface="Segoe UI"/>
              </a:rPr>
              <a:t>Instalaciones, sincronización RM, Contactos, Correos, primer .exe</a:t>
            </a:r>
          </a:p>
        </p:txBody>
      </p:sp>
      <p:sp>
        <p:nvSpPr>
          <p:cNvPr id="41" name="Rounded Rectangle 40"/>
          <p:cNvSpPr/>
          <p:nvPr/>
        </p:nvSpPr>
        <p:spPr>
          <a:xfrm>
            <a:off x="5324214" y="3008376"/>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ounded Rectangle 41"/>
          <p:cNvSpPr/>
          <p:nvPr/>
        </p:nvSpPr>
        <p:spPr>
          <a:xfrm>
            <a:off x="5766013" y="3008376"/>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ectangle 42"/>
          <p:cNvSpPr/>
          <p:nvPr/>
        </p:nvSpPr>
        <p:spPr>
          <a:xfrm>
            <a:off x="274320" y="3374136"/>
            <a:ext cx="11640311" cy="429768"/>
          </a:xfrm>
          <a:prstGeom prst="rect">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320040" y="3355848"/>
            <a:ext cx="3200400" cy="429768"/>
          </a:xfrm>
          <a:prstGeom prst="rect">
            <a:avLst/>
          </a:prstGeom>
          <a:noFill/>
        </p:spPr>
        <p:txBody>
          <a:bodyPr wrap="square" lIns="73152" tIns="27432" rIns="73152" anchor="t">
            <a:spAutoFit/>
          </a:bodyPr>
          <a:lstStyle/>
          <a:p>
            <a:pPr algn="l"/>
            <a:r>
              <a:rPr sz="950" b="1" i="0">
                <a:solidFill>
                  <a:srgbClr val="1E293B"/>
                </a:solidFill>
                <a:latin typeface="Segoe UI"/>
              </a:rPr>
              <a:t>Sprint 3 · Seguridad y pruebas</a:t>
            </a:r>
          </a:p>
          <a:p>
            <a:pPr algn="l"/>
            <a:r>
              <a:rPr sz="750" b="0" i="0">
                <a:solidFill>
                  <a:srgbClr val="64748B"/>
                </a:solidFill>
                <a:latin typeface="Segoe UI"/>
              </a:rPr>
              <a:t>Guardado seguro, respaldo obligatorio, pruebas automáticas</a:t>
            </a:r>
          </a:p>
        </p:txBody>
      </p:sp>
      <p:sp>
        <p:nvSpPr>
          <p:cNvPr id="45" name="Rounded Rectangle 44"/>
          <p:cNvSpPr/>
          <p:nvPr/>
        </p:nvSpPr>
        <p:spPr>
          <a:xfrm>
            <a:off x="6207813" y="3438144"/>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649613" y="3438144"/>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274320" y="3803904"/>
            <a:ext cx="11640311" cy="42976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320040" y="3785616"/>
            <a:ext cx="3200400" cy="429768"/>
          </a:xfrm>
          <a:prstGeom prst="rect">
            <a:avLst/>
          </a:prstGeom>
          <a:noFill/>
        </p:spPr>
        <p:txBody>
          <a:bodyPr wrap="square" lIns="73152" tIns="27432" rIns="73152" anchor="t">
            <a:spAutoFit/>
          </a:bodyPr>
          <a:lstStyle/>
          <a:p>
            <a:pPr algn="l"/>
            <a:r>
              <a:rPr sz="950" b="1" i="0">
                <a:solidFill>
                  <a:srgbClr val="1E293B"/>
                </a:solidFill>
                <a:latin typeface="Segoe UI"/>
              </a:rPr>
              <a:t>Sprint 4 · Calidad y Contratos CM</a:t>
            </a:r>
          </a:p>
          <a:p>
            <a:pPr algn="l"/>
            <a:r>
              <a:rPr sz="750" b="0" i="0">
                <a:solidFill>
                  <a:srgbClr val="64748B"/>
                </a:solidFill>
                <a:latin typeface="Segoe UI"/>
              </a:rPr>
              <a:t>Auditoría de pruebas, revisión CM, reglas de negocio</a:t>
            </a:r>
          </a:p>
        </p:txBody>
      </p:sp>
      <p:sp>
        <p:nvSpPr>
          <p:cNvPr id="49" name="Rounded Rectangle 48"/>
          <p:cNvSpPr/>
          <p:nvPr/>
        </p:nvSpPr>
        <p:spPr>
          <a:xfrm>
            <a:off x="7091412" y="3867912"/>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ounded Rectangle 49"/>
          <p:cNvSpPr/>
          <p:nvPr/>
        </p:nvSpPr>
        <p:spPr>
          <a:xfrm>
            <a:off x="7533212" y="3867912"/>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274320" y="4233672"/>
            <a:ext cx="11640311" cy="429768"/>
          </a:xfrm>
          <a:prstGeom prst="rect">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320040" y="4215384"/>
            <a:ext cx="3200400" cy="429768"/>
          </a:xfrm>
          <a:prstGeom prst="rect">
            <a:avLst/>
          </a:prstGeom>
          <a:noFill/>
        </p:spPr>
        <p:txBody>
          <a:bodyPr wrap="square" lIns="73152" tIns="27432" rIns="73152" anchor="t">
            <a:spAutoFit/>
          </a:bodyPr>
          <a:lstStyle/>
          <a:p>
            <a:pPr algn="l"/>
            <a:r>
              <a:rPr sz="950" b="1" i="0">
                <a:solidFill>
                  <a:srgbClr val="1E293B"/>
                </a:solidFill>
                <a:latin typeface="Segoe UI"/>
              </a:rPr>
              <a:t>Sprint 5 · Rendimiento y rediseño</a:t>
            </a:r>
          </a:p>
          <a:p>
            <a:pPr algn="l"/>
            <a:r>
              <a:rPr sz="750" b="0" i="0">
                <a:solidFill>
                  <a:srgbClr val="64748B"/>
                </a:solidFill>
                <a:latin typeface="Segoe UI"/>
              </a:rPr>
              <a:t>Optimización, archivo CSV, Operaciones, JustTime</a:t>
            </a:r>
          </a:p>
        </p:txBody>
      </p:sp>
      <p:sp>
        <p:nvSpPr>
          <p:cNvPr id="53" name="Rounded Rectangle 52"/>
          <p:cNvSpPr/>
          <p:nvPr/>
        </p:nvSpPr>
        <p:spPr>
          <a:xfrm>
            <a:off x="7975011" y="4297680"/>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ounded Rectangle 53"/>
          <p:cNvSpPr/>
          <p:nvPr/>
        </p:nvSpPr>
        <p:spPr>
          <a:xfrm>
            <a:off x="8416811" y="4297680"/>
            <a:ext cx="368647" cy="301751"/>
          </a:xfrm>
          <a:prstGeom prst="roundRect">
            <a:avLst>
              <a:gd name="adj" fmla="val 18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Rectangle 54"/>
          <p:cNvSpPr/>
          <p:nvPr/>
        </p:nvSpPr>
        <p:spPr>
          <a:xfrm>
            <a:off x="274320" y="4663440"/>
            <a:ext cx="11640311" cy="42976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320040" y="4645152"/>
            <a:ext cx="3200400" cy="335476"/>
          </a:xfrm>
          <a:prstGeom prst="rect">
            <a:avLst/>
          </a:prstGeom>
          <a:noFill/>
        </p:spPr>
        <p:txBody>
          <a:bodyPr wrap="square" lIns="73152" tIns="27432" rIns="73152" anchor="t">
            <a:spAutoFit/>
          </a:bodyPr>
          <a:lstStyle/>
          <a:p>
            <a:pPr algn="l"/>
            <a:r>
              <a:rPr lang="es-CL" sz="950" b="1" i="0">
                <a:solidFill>
                  <a:srgbClr val="1E293B"/>
                </a:solidFill>
                <a:latin typeface="Segoe UI"/>
              </a:rPr>
              <a:t>Sprint 6 · Cierre de la app y contratos por ID</a:t>
            </a:r>
            <a:endParaRPr sz="950" b="1" i="0">
              <a:solidFill>
                <a:srgbClr val="1E293B"/>
              </a:solidFill>
              <a:latin typeface="Segoe UI"/>
            </a:endParaRPr>
          </a:p>
          <a:p>
            <a:pPr algn="l"/>
            <a:r>
              <a:rPr lang="es-CL" sz="750" b="0" i="0">
                <a:solidFill>
                  <a:srgbClr val="64748B"/>
                </a:solidFill>
                <a:latin typeface="Segoe UI"/>
              </a:rPr>
              <a:t>ID en todas las pantallas; app lista el 23/10</a:t>
            </a:r>
            <a:endParaRPr sz="750" b="0" i="0">
              <a:solidFill>
                <a:srgbClr val="64748B"/>
              </a:solidFill>
              <a:latin typeface="Segoe UI"/>
            </a:endParaRPr>
          </a:p>
        </p:txBody>
      </p:sp>
      <p:sp>
        <p:nvSpPr>
          <p:cNvPr id="57" name="Rounded Rectangle 56"/>
          <p:cNvSpPr/>
          <p:nvPr/>
        </p:nvSpPr>
        <p:spPr>
          <a:xfrm>
            <a:off x="8864600" y="4727448"/>
            <a:ext cx="368647" cy="301751"/>
          </a:xfrm>
          <a:prstGeom prst="roundRect">
            <a:avLst>
              <a:gd name="adj" fmla="val 18000"/>
            </a:avLst>
          </a:prstGeom>
          <a:solidFill>
            <a:srgbClr val="00305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Rounded Rectangle 57"/>
          <p:cNvSpPr/>
          <p:nvPr/>
        </p:nvSpPr>
        <p:spPr>
          <a:xfrm>
            <a:off x="9309100" y="4727448"/>
            <a:ext cx="368647" cy="301751"/>
          </a:xfrm>
          <a:prstGeom prst="roundRect">
            <a:avLst>
              <a:gd name="adj" fmla="val 18000"/>
            </a:avLst>
          </a:prstGeom>
          <a:solidFill>
            <a:srgbClr val="2563EB"/>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ectangle 58"/>
          <p:cNvSpPr/>
          <p:nvPr/>
        </p:nvSpPr>
        <p:spPr>
          <a:xfrm>
            <a:off x="274320" y="5093208"/>
            <a:ext cx="11640311" cy="429768"/>
          </a:xfrm>
          <a:prstGeom prst="rect">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320040" y="5074920"/>
            <a:ext cx="3200400" cy="335476"/>
          </a:xfrm>
          <a:prstGeom prst="rect">
            <a:avLst/>
          </a:prstGeom>
          <a:noFill/>
        </p:spPr>
        <p:txBody>
          <a:bodyPr wrap="square" lIns="73152" tIns="27432" rIns="73152" anchor="t">
            <a:spAutoFit/>
          </a:bodyPr>
          <a:lstStyle/>
          <a:p>
            <a:pPr algn="l"/>
            <a:r>
              <a:rPr lang="es-MX" sz="950" b="1" i="0">
                <a:solidFill>
                  <a:srgbClr val="1E293B"/>
                </a:solidFill>
                <a:latin typeface="Segoe UI"/>
              </a:rPr>
              <a:t>Sprint 7 · Dashboard e integración</a:t>
            </a:r>
            <a:endParaRPr sz="950" b="1" i="0">
              <a:solidFill>
                <a:srgbClr val="1E293B"/>
              </a:solidFill>
              <a:latin typeface="Segoe UI"/>
            </a:endParaRPr>
          </a:p>
          <a:p>
            <a:pPr algn="l"/>
            <a:r>
              <a:rPr lang="es-CL" sz="750" b="0" i="0">
                <a:solidFill>
                  <a:srgbClr val="64748B"/>
                </a:solidFill>
                <a:latin typeface="Segoe UI"/>
              </a:rPr>
              <a:t>Dashboard desde el 26/10; integración semana del 2/11</a:t>
            </a:r>
            <a:endParaRPr sz="750" b="0" i="0">
              <a:solidFill>
                <a:srgbClr val="64748B"/>
              </a:solidFill>
              <a:latin typeface="Segoe UI"/>
            </a:endParaRPr>
          </a:p>
        </p:txBody>
      </p:sp>
      <p:sp>
        <p:nvSpPr>
          <p:cNvPr id="61" name="Rounded Rectangle 60"/>
          <p:cNvSpPr/>
          <p:nvPr/>
        </p:nvSpPr>
        <p:spPr>
          <a:xfrm>
            <a:off x="10185400" y="5157216"/>
            <a:ext cx="368647" cy="301751"/>
          </a:xfrm>
          <a:prstGeom prst="roundRect">
            <a:avLst>
              <a:gd name="adj" fmla="val 18000"/>
            </a:avLst>
          </a:prstGeom>
          <a:solidFill>
            <a:srgbClr val="DBEAFE"/>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Rounded Rectangle 61"/>
          <p:cNvSpPr/>
          <p:nvPr/>
        </p:nvSpPr>
        <p:spPr>
          <a:xfrm>
            <a:off x="10629900" y="5157216"/>
            <a:ext cx="368647" cy="301751"/>
          </a:xfrm>
          <a:prstGeom prst="roundRect">
            <a:avLst>
              <a:gd name="adj" fmla="val 18000"/>
            </a:avLst>
          </a:prstGeom>
          <a:solidFill>
            <a:srgbClr val="DBEAFE"/>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Rectangle 62"/>
          <p:cNvSpPr/>
          <p:nvPr/>
        </p:nvSpPr>
        <p:spPr>
          <a:xfrm>
            <a:off x="274320" y="5522976"/>
            <a:ext cx="11640311" cy="42976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320040" y="5504688"/>
            <a:ext cx="3200400" cy="335476"/>
          </a:xfrm>
          <a:prstGeom prst="rect">
            <a:avLst/>
          </a:prstGeom>
          <a:noFill/>
        </p:spPr>
        <p:txBody>
          <a:bodyPr wrap="square" lIns="73152" tIns="27432" rIns="73152" anchor="t">
            <a:spAutoFit/>
          </a:bodyPr>
          <a:lstStyle/>
          <a:p>
            <a:pPr algn="l"/>
            <a:r>
              <a:rPr lang="es-CL" sz="950" b="1" i="0">
                <a:solidFill>
                  <a:srgbClr val="1E293B"/>
                </a:solidFill>
                <a:latin typeface="Segoe UI"/>
              </a:rPr>
              <a:t>Sprint 8 · Pruebas con usuarios</a:t>
            </a:r>
            <a:endParaRPr sz="950" b="1" i="0">
              <a:solidFill>
                <a:srgbClr val="1E293B"/>
              </a:solidFill>
              <a:latin typeface="Segoe UI"/>
            </a:endParaRPr>
          </a:p>
          <a:p>
            <a:pPr algn="l"/>
            <a:r>
              <a:rPr lang="es-CL" sz="750" b="0" i="0">
                <a:solidFill>
                  <a:srgbClr val="64748B"/>
                </a:solidFill>
                <a:latin typeface="Segoe UI"/>
              </a:rPr>
              <a:t>Hasta el 15-11; se corrige lo que se encuentre</a:t>
            </a:r>
            <a:endParaRPr sz="750" b="0" i="0">
              <a:solidFill>
                <a:srgbClr val="64748B"/>
              </a:solidFill>
              <a:latin typeface="Segoe UI"/>
            </a:endParaRPr>
          </a:p>
        </p:txBody>
      </p:sp>
      <p:sp>
        <p:nvSpPr>
          <p:cNvPr id="65" name="Rounded Rectangle 64"/>
          <p:cNvSpPr/>
          <p:nvPr/>
        </p:nvSpPr>
        <p:spPr>
          <a:xfrm>
            <a:off x="10629900" y="5586984"/>
            <a:ext cx="368647" cy="301751"/>
          </a:xfrm>
          <a:prstGeom prst="roundRect">
            <a:avLst>
              <a:gd name="adj" fmla="val 18000"/>
            </a:avLst>
          </a:prstGeom>
          <a:solidFill>
            <a:srgbClr val="DBEAFE"/>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Rounded Rectangle 65"/>
          <p:cNvSpPr/>
          <p:nvPr/>
        </p:nvSpPr>
        <p:spPr>
          <a:xfrm>
            <a:off x="11061700" y="5586984"/>
            <a:ext cx="368647" cy="301751"/>
          </a:xfrm>
          <a:prstGeom prst="roundRect">
            <a:avLst>
              <a:gd name="adj" fmla="val 18000"/>
            </a:avLst>
          </a:prstGeom>
          <a:solidFill>
            <a:srgbClr val="DBEAFE"/>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Rectangle 66"/>
          <p:cNvSpPr/>
          <p:nvPr/>
        </p:nvSpPr>
        <p:spPr>
          <a:xfrm>
            <a:off x="274320" y="5952744"/>
            <a:ext cx="11640311" cy="429768"/>
          </a:xfrm>
          <a:prstGeom prst="rect">
            <a:avLst/>
          </a:prstGeom>
          <a:solidFill>
            <a:srgbClr val="F8FAFC"/>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320040" y="5934456"/>
            <a:ext cx="3200400" cy="335476"/>
          </a:xfrm>
          <a:prstGeom prst="rect">
            <a:avLst/>
          </a:prstGeom>
          <a:noFill/>
        </p:spPr>
        <p:txBody>
          <a:bodyPr wrap="square" lIns="73152" tIns="27432" rIns="73152" anchor="t">
            <a:spAutoFit/>
          </a:bodyPr>
          <a:lstStyle/>
          <a:p>
            <a:pPr algn="l"/>
            <a:r>
              <a:rPr lang="es-CL" sz="950" b="1" i="0">
                <a:solidFill>
                  <a:srgbClr val="1E293B"/>
                </a:solidFill>
                <a:latin typeface="Segoe UI"/>
              </a:rPr>
              <a:t>Cierre Capstone · Documentación y propuestas</a:t>
            </a:r>
            <a:endParaRPr sz="950" b="1" i="0">
              <a:solidFill>
                <a:srgbClr val="1E293B"/>
              </a:solidFill>
              <a:latin typeface="Segoe UI"/>
            </a:endParaRPr>
          </a:p>
          <a:p>
            <a:pPr algn="l"/>
            <a:r>
              <a:rPr lang="es-CL" sz="750" b="0" i="0">
                <a:solidFill>
                  <a:srgbClr val="64748B"/>
                </a:solidFill>
                <a:latin typeface="Segoe UI"/>
              </a:rPr>
              <a:t>Desde el 16-11: documentación y propuesta de mejora</a:t>
            </a:r>
            <a:endParaRPr sz="750" b="0" i="0">
              <a:solidFill>
                <a:srgbClr val="64748B"/>
              </a:solidFill>
              <a:latin typeface="Segoe UI"/>
            </a:endParaRPr>
          </a:p>
        </p:txBody>
      </p:sp>
      <p:sp>
        <p:nvSpPr>
          <p:cNvPr id="69" name="Rounded Rectangle 68"/>
          <p:cNvSpPr/>
          <p:nvPr/>
        </p:nvSpPr>
        <p:spPr>
          <a:xfrm>
            <a:off x="11509408" y="6016752"/>
            <a:ext cx="368647" cy="301751"/>
          </a:xfrm>
          <a:prstGeom prst="roundRect">
            <a:avLst>
              <a:gd name="adj" fmla="val 18000"/>
            </a:avLst>
          </a:prstGeom>
          <a:solidFill>
            <a:srgbClr val="DBEAFE"/>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70" name="Connector 69"/>
          <p:cNvCxnSpPr/>
          <p:nvPr/>
        </p:nvCxnSpPr>
        <p:spPr>
          <a:xfrm>
            <a:off x="9479280" y="2084832"/>
            <a:ext cx="0" cy="4297680"/>
          </a:xfrm>
          <a:prstGeom prst="line">
            <a:avLst/>
          </a:prstGeom>
          <a:ln w="19050">
            <a:solidFill>
              <a:srgbClr val="EF4444"/>
            </a:solidFill>
            <a:prstDash val="dash"/>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8780780" y="6382512"/>
            <a:ext cx="1397000" cy="307777"/>
          </a:xfrm>
          <a:prstGeom prst="rect">
            <a:avLst/>
          </a:prstGeom>
          <a:noFill/>
        </p:spPr>
        <p:txBody>
          <a:bodyPr wrap="square" lIns="73152" tIns="0" rIns="73152" anchor="t">
            <a:spAutoFit/>
          </a:bodyPr>
          <a:lstStyle/>
          <a:p>
            <a:pPr algn="ctr"/>
            <a:r>
              <a:rPr lang="es-MX" sz="850" b="1" i="0">
                <a:solidFill>
                  <a:srgbClr val="B91C1C"/>
                </a:solidFill>
                <a:latin typeface="Segoe UI"/>
              </a:rPr>
              <a:t>Presentación 15-10</a:t>
            </a:r>
            <a:endParaRPr sz="850" b="1" i="0" dirty="0">
              <a:solidFill>
                <a:srgbClr val="B91C1C"/>
              </a:solidFill>
              <a:latin typeface="Segoe UI"/>
            </a:endParaRPr>
          </a:p>
        </p:txBody>
      </p:sp>
      <p:sp>
        <p:nvSpPr>
          <p:cNvPr id="72" name="Rounded Rectangle 71"/>
          <p:cNvSpPr/>
          <p:nvPr/>
        </p:nvSpPr>
        <p:spPr>
          <a:xfrm>
            <a:off x="365760" y="6547103"/>
            <a:ext cx="274320" cy="182880"/>
          </a:xfrm>
          <a:prstGeom prst="roundRect">
            <a:avLst>
              <a:gd name="adj" fmla="val 20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685800" y="6492240"/>
            <a:ext cx="1280160" cy="292608"/>
          </a:xfrm>
          <a:prstGeom prst="rect">
            <a:avLst/>
          </a:prstGeom>
          <a:noFill/>
        </p:spPr>
        <p:txBody>
          <a:bodyPr wrap="square" lIns="73152" tIns="18288" rIns="73152" anchor="t">
            <a:spAutoFit/>
          </a:bodyPr>
          <a:lstStyle/>
          <a:p>
            <a:pPr algn="l"/>
            <a:r>
              <a:rPr sz="950" b="0" i="0">
                <a:solidFill>
                  <a:srgbClr val="475569"/>
                </a:solidFill>
                <a:latin typeface="Segoe UI"/>
              </a:rPr>
              <a:t>Completado</a:t>
            </a:r>
          </a:p>
        </p:txBody>
      </p:sp>
      <p:sp>
        <p:nvSpPr>
          <p:cNvPr id="74" name="Rounded Rectangle 73"/>
          <p:cNvSpPr/>
          <p:nvPr/>
        </p:nvSpPr>
        <p:spPr>
          <a:xfrm>
            <a:off x="1965960" y="6547103"/>
            <a:ext cx="274320" cy="18288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TextBox 74"/>
          <p:cNvSpPr txBox="1"/>
          <p:nvPr/>
        </p:nvSpPr>
        <p:spPr>
          <a:xfrm>
            <a:off x="2286000" y="6492240"/>
            <a:ext cx="1280160" cy="292608"/>
          </a:xfrm>
          <a:prstGeom prst="rect">
            <a:avLst/>
          </a:prstGeom>
          <a:noFill/>
        </p:spPr>
        <p:txBody>
          <a:bodyPr wrap="square" lIns="73152" tIns="18288" rIns="73152" anchor="t">
            <a:spAutoFit/>
          </a:bodyPr>
          <a:lstStyle/>
          <a:p>
            <a:pPr algn="l"/>
            <a:r>
              <a:rPr sz="950" b="0" i="0">
                <a:solidFill>
                  <a:srgbClr val="475569"/>
                </a:solidFill>
                <a:latin typeface="Segoe UI"/>
              </a:rPr>
              <a:t>En curso</a:t>
            </a:r>
          </a:p>
        </p:txBody>
      </p:sp>
      <p:sp>
        <p:nvSpPr>
          <p:cNvPr id="76" name="Rounded Rectangle 75"/>
          <p:cNvSpPr/>
          <p:nvPr/>
        </p:nvSpPr>
        <p:spPr>
          <a:xfrm>
            <a:off x="3566160" y="6547103"/>
            <a:ext cx="274320" cy="182880"/>
          </a:xfrm>
          <a:prstGeom prst="roundRect">
            <a:avLst>
              <a:gd name="adj" fmla="val 20000"/>
            </a:avLst>
          </a:prstGeom>
          <a:solidFill>
            <a:srgbClr val="DBEAFE"/>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TextBox 76"/>
          <p:cNvSpPr txBox="1"/>
          <p:nvPr/>
        </p:nvSpPr>
        <p:spPr>
          <a:xfrm>
            <a:off x="3886200" y="6492240"/>
            <a:ext cx="1280160" cy="292608"/>
          </a:xfrm>
          <a:prstGeom prst="rect">
            <a:avLst/>
          </a:prstGeom>
          <a:noFill/>
        </p:spPr>
        <p:txBody>
          <a:bodyPr wrap="square" lIns="73152" tIns="18288" rIns="73152" anchor="t">
            <a:spAutoFit/>
          </a:bodyPr>
          <a:lstStyle/>
          <a:p>
            <a:pPr algn="l"/>
            <a:r>
              <a:rPr sz="950" b="0" i="0">
                <a:solidFill>
                  <a:srgbClr val="475569"/>
                </a:solidFill>
                <a:latin typeface="Segoe UI"/>
              </a:rPr>
              <a:t>Planificado</a:t>
            </a:r>
          </a:p>
        </p:txBody>
      </p:sp>
      <p:sp>
        <p:nvSpPr>
          <p:cNvPr id="78" name="TextBox 77"/>
          <p:cNvSpPr txBox="1"/>
          <p:nvPr/>
        </p:nvSpPr>
        <p:spPr>
          <a:xfrm>
            <a:off x="5212080" y="6492240"/>
            <a:ext cx="6720840" cy="292608"/>
          </a:xfrm>
          <a:prstGeom prst="rect">
            <a:avLst/>
          </a:prstGeom>
          <a:noFill/>
        </p:spPr>
        <p:txBody>
          <a:bodyPr wrap="square" lIns="73152" tIns="18288" rIns="73152" anchor="t">
            <a:spAutoFit/>
          </a:bodyPr>
          <a:lstStyle/>
          <a:p>
            <a:pPr algn="r"/>
            <a:r>
              <a:rPr sz="900" b="0" i="0">
                <a:solidFill>
                  <a:srgbClr val="64748B"/>
                </a:solidFill>
                <a:latin typeface="Segoe UI"/>
              </a:rPr>
              <a:t>Práctica y proyecto Empresa Demo: 13-07 al 15-11-2026  ·  Capstone Duoc UC: hasta diciembre de 2026</a:t>
            </a:r>
          </a:p>
        </p:txBody>
      </p:sp>
      <p:sp>
        <p:nvSpPr>
          <p:cNvPr id="79" name="Rounded Rectangle 57">
            <a:extLst>
              <a:ext uri="{FF2B5EF4-FFF2-40B4-BE49-F238E27FC236}">
                <a16:creationId xmlns:a16="http://schemas.microsoft.com/office/drawing/2014/main" id="{91F74F00-4467-62F0-A2F6-F517EE80806F}"/>
              </a:ext>
            </a:extLst>
          </p:cNvPr>
          <p:cNvSpPr/>
          <p:nvPr/>
        </p:nvSpPr>
        <p:spPr>
          <a:xfrm>
            <a:off x="9740900" y="4727448"/>
            <a:ext cx="368647" cy="301751"/>
          </a:xfrm>
          <a:prstGeom prst="roundRect">
            <a:avLst>
              <a:gd name="adj" fmla="val 18000"/>
            </a:avLst>
          </a:prstGeom>
          <a:solidFill>
            <a:srgbClr val="DBEAFE"/>
          </a:solidFill>
          <a:ln w="9525">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896112"/>
            <a:ext cx="12191695" cy="502920"/>
          </a:xfrm>
          <a:prstGeom prst="rect">
            <a:avLst/>
          </a:prstGeom>
          <a:noFill/>
        </p:spPr>
        <p:txBody>
          <a:bodyPr wrap="square" lIns="73152" rIns="73152" anchor="ctr">
            <a:spAutoFit/>
          </a:bodyPr>
          <a:lstStyle/>
          <a:p>
            <a:pPr algn="ctr"/>
            <a:r>
              <a:rPr sz="2600" b="1" i="0">
                <a:solidFill>
                  <a:srgbClr val="003057"/>
                </a:solidFill>
                <a:latin typeface="Segoe UI"/>
              </a:rPr>
              <a:t>Modelo de datos · Cómo llegaban los datos</a:t>
            </a:r>
          </a:p>
        </p:txBody>
      </p:sp>
      <p:sp>
        <p:nvSpPr>
          <p:cNvPr id="8" name="TextBox 7"/>
          <p:cNvSpPr txBox="1"/>
          <p:nvPr/>
        </p:nvSpPr>
        <p:spPr>
          <a:xfrm>
            <a:off x="274320" y="1463040"/>
            <a:ext cx="8138160" cy="292608"/>
          </a:xfrm>
          <a:prstGeom prst="rect">
            <a:avLst/>
          </a:prstGeom>
          <a:noFill/>
        </p:spPr>
        <p:txBody>
          <a:bodyPr wrap="square" lIns="73152" tIns="0" rIns="73152" anchor="t">
            <a:spAutoFit/>
          </a:bodyPr>
          <a:lstStyle/>
          <a:p>
            <a:pPr algn="l"/>
            <a:r>
              <a:rPr sz="1100" b="1" i="0">
                <a:solidFill>
                  <a:srgbClr val="003057"/>
                </a:solidFill>
                <a:latin typeface="Segoe UI"/>
              </a:rPr>
              <a:t>BASES PRINCIPALES</a:t>
            </a:r>
            <a:r>
              <a:rPr sz="1000" b="0" i="0">
                <a:solidFill>
                  <a:srgbClr val="64748B"/>
                </a:solidFill>
                <a:latin typeface="Segoe UI"/>
              </a:rPr>
              <a:t>  ·  se usan todos los días</a:t>
            </a:r>
          </a:p>
        </p:txBody>
      </p:sp>
      <p:sp>
        <p:nvSpPr>
          <p:cNvPr id="9" name="Rounded Rectangle 8"/>
          <p:cNvSpPr/>
          <p:nvPr/>
        </p:nvSpPr>
        <p:spPr>
          <a:xfrm>
            <a:off x="274320" y="1783080"/>
            <a:ext cx="1947672"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274320" y="1783080"/>
            <a:ext cx="1947672" cy="566928"/>
          </a:xfrm>
          <a:prstGeom prst="roundRect">
            <a:avLst>
              <a:gd name="adj" fmla="val 20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RM comercial</a:t>
            </a:r>
          </a:p>
          <a:p>
            <a:pPr algn="l"/>
            <a:r>
              <a:rPr sz="850" b="0" i="0">
                <a:solidFill>
                  <a:srgbClr val="DCE6F2"/>
                </a:solidFill>
                <a:latin typeface="Segoe UI"/>
              </a:rPr>
              <a:t>la contraparte comercial · 1 fila por camión</a:t>
            </a:r>
          </a:p>
        </p:txBody>
      </p:sp>
      <p:sp>
        <p:nvSpPr>
          <p:cNvPr id="11" name="TextBox 10"/>
          <p:cNvSpPr txBox="1"/>
          <p:nvPr/>
        </p:nvSpPr>
        <p:spPr>
          <a:xfrm>
            <a:off x="274320" y="2386584"/>
            <a:ext cx="1947672"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VIN, chasis, cliente (razón social, RUT, CDB), contrato, estados y CM</a:t>
            </a:r>
          </a:p>
        </p:txBody>
      </p:sp>
      <p:sp>
        <p:nvSpPr>
          <p:cNvPr id="12" name="Rounded Rectangle 11"/>
          <p:cNvSpPr/>
          <p:nvPr/>
        </p:nvSpPr>
        <p:spPr>
          <a:xfrm>
            <a:off x="347472" y="3291840"/>
            <a:ext cx="1801368"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Columnas que cambian de nombre cada mes</a:t>
            </a:r>
          </a:p>
        </p:txBody>
      </p:sp>
      <p:sp>
        <p:nvSpPr>
          <p:cNvPr id="13" name="Rounded Rectangle 12"/>
          <p:cNvSpPr/>
          <p:nvPr/>
        </p:nvSpPr>
        <p:spPr>
          <a:xfrm>
            <a:off x="2331720" y="1783080"/>
            <a:ext cx="1947672"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2331720" y="1783080"/>
            <a:ext cx="1947672" cy="566928"/>
          </a:xfrm>
          <a:prstGeom prst="roundRect">
            <a:avLst>
              <a:gd name="adj" fmla="val 20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Provisiones</a:t>
            </a:r>
          </a:p>
          <a:p>
            <a:pPr algn="l"/>
            <a:r>
              <a:rPr sz="850" b="0" i="0">
                <a:solidFill>
                  <a:srgbClr val="DCE6F2"/>
                </a:solidFill>
                <a:latin typeface="Segoe UI"/>
              </a:rPr>
              <a:t>Felipe · 1 fila por camión por mes</a:t>
            </a:r>
          </a:p>
        </p:txBody>
      </p:sp>
      <p:sp>
        <p:nvSpPr>
          <p:cNvPr id="15" name="TextBox 14"/>
          <p:cNvSpPr txBox="1"/>
          <p:nvPr/>
        </p:nvSpPr>
        <p:spPr>
          <a:xfrm>
            <a:off x="2331720" y="2386584"/>
            <a:ext cx="1947672"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Año-mes, VIN, cliente, plan, meses y monto cobrado</a:t>
            </a:r>
          </a:p>
        </p:txBody>
      </p:sp>
      <p:sp>
        <p:nvSpPr>
          <p:cNvPr id="16" name="Rounded Rectangle 15"/>
          <p:cNvSpPr/>
          <p:nvPr/>
        </p:nvSpPr>
        <p:spPr>
          <a:xfrm>
            <a:off x="2404872" y="3291840"/>
            <a:ext cx="1801368"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El cliente es un nombre escrito a mano, sin RUT ni CDB</a:t>
            </a:r>
          </a:p>
        </p:txBody>
      </p:sp>
      <p:sp>
        <p:nvSpPr>
          <p:cNvPr id="17" name="Rounded Rectangle 16"/>
          <p:cNvSpPr/>
          <p:nvPr/>
        </p:nvSpPr>
        <p:spPr>
          <a:xfrm>
            <a:off x="4389120" y="1783080"/>
            <a:ext cx="1947672"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389120" y="1783080"/>
            <a:ext cx="1947672" cy="566928"/>
          </a:xfrm>
          <a:prstGeom prst="roundRect">
            <a:avLst>
              <a:gd name="adj" fmla="val 20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Contactos</a:t>
            </a:r>
          </a:p>
          <a:p>
            <a:pPr algn="l"/>
            <a:r>
              <a:rPr sz="850" b="0" i="0">
                <a:solidFill>
                  <a:srgbClr val="DCE6F2"/>
                </a:solidFill>
                <a:latin typeface="Segoe UI"/>
              </a:rPr>
              <a:t>equipo Contactos · varios por empresa</a:t>
            </a:r>
          </a:p>
        </p:txBody>
      </p:sp>
      <p:sp>
        <p:nvSpPr>
          <p:cNvPr id="19" name="TextBox 18"/>
          <p:cNvSpPr txBox="1"/>
          <p:nvPr/>
        </p:nvSpPr>
        <p:spPr>
          <a:xfrm>
            <a:off x="4389120" y="2386584"/>
            <a:ext cx="1947672"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CDB, flota, nombre, correo, móvil y rol del administrador</a:t>
            </a:r>
          </a:p>
        </p:txBody>
      </p:sp>
      <p:sp>
        <p:nvSpPr>
          <p:cNvPr id="20" name="Rounded Rectangle 19"/>
          <p:cNvSpPr/>
          <p:nvPr/>
        </p:nvSpPr>
        <p:spPr>
          <a:xfrm>
            <a:off x="4462272" y="3291840"/>
            <a:ext cx="1801368"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El CDB llega como número (10001.0)</a:t>
            </a:r>
          </a:p>
        </p:txBody>
      </p:sp>
      <p:sp>
        <p:nvSpPr>
          <p:cNvPr id="21" name="Rounded Rectangle 20"/>
          <p:cNvSpPr/>
          <p:nvPr/>
        </p:nvSpPr>
        <p:spPr>
          <a:xfrm>
            <a:off x="6446520" y="1783080"/>
            <a:ext cx="1947672"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6446520" y="1783080"/>
            <a:ext cx="1947672" cy="566928"/>
          </a:xfrm>
          <a:prstGeom prst="roundRect">
            <a:avLst>
              <a:gd name="adj" fmla="val 20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Base de clientes</a:t>
            </a:r>
          </a:p>
          <a:p>
            <a:pPr algn="l"/>
            <a:r>
              <a:rPr sz="850" b="0" i="0">
                <a:solidFill>
                  <a:srgbClr val="DCE6F2"/>
                </a:solidFill>
                <a:latin typeface="Segoe UI"/>
              </a:rPr>
              <a:t>equipo Power BI · Power BI · ~53.000 filas</a:t>
            </a:r>
          </a:p>
        </p:txBody>
      </p:sp>
      <p:sp>
        <p:nvSpPr>
          <p:cNvPr id="23" name="TextBox 22"/>
          <p:cNvSpPr txBox="1"/>
          <p:nvPr/>
        </p:nvSpPr>
        <p:spPr>
          <a:xfrm>
            <a:off x="6446520" y="2386584"/>
            <a:ext cx="1947672"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CDB, nombre, RUT, dirección, comuna y teléfono</a:t>
            </a:r>
          </a:p>
        </p:txBody>
      </p:sp>
      <p:sp>
        <p:nvSpPr>
          <p:cNvPr id="24" name="Rounded Rectangle 23"/>
          <p:cNvSpPr/>
          <p:nvPr/>
        </p:nvSpPr>
        <p:spPr>
          <a:xfrm>
            <a:off x="6519672" y="3291840"/>
            <a:ext cx="1801368"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Archivo pesado: 11 a 17 s en leerse</a:t>
            </a:r>
          </a:p>
        </p:txBody>
      </p:sp>
      <p:sp>
        <p:nvSpPr>
          <p:cNvPr id="25" name="TextBox 24"/>
          <p:cNvSpPr txBox="1"/>
          <p:nvPr/>
        </p:nvSpPr>
        <p:spPr>
          <a:xfrm>
            <a:off x="274320" y="4005072"/>
            <a:ext cx="8138160" cy="292608"/>
          </a:xfrm>
          <a:prstGeom prst="rect">
            <a:avLst/>
          </a:prstGeom>
          <a:noFill/>
        </p:spPr>
        <p:txBody>
          <a:bodyPr wrap="square" lIns="73152" tIns="0" rIns="73152" anchor="t">
            <a:spAutoFit/>
          </a:bodyPr>
          <a:lstStyle/>
          <a:p>
            <a:pPr algn="l"/>
            <a:r>
              <a:rPr sz="1100" b="1" i="0">
                <a:solidFill>
                  <a:srgbClr val="1C6BBA"/>
                </a:solidFill>
                <a:latin typeface="Segoe UI"/>
              </a:rPr>
              <a:t>REPORTES QUE SE SUBEN A LA APP</a:t>
            </a:r>
            <a:r>
              <a:rPr sz="1000" b="0" i="0">
                <a:solidFill>
                  <a:srgbClr val="64748B"/>
                </a:solidFill>
                <a:latin typeface="Segoe UI"/>
              </a:rPr>
              <a:t>  ·  se importan cuando llegan</a:t>
            </a:r>
          </a:p>
        </p:txBody>
      </p:sp>
      <p:sp>
        <p:nvSpPr>
          <p:cNvPr id="26" name="Rounded Rectangle 25"/>
          <p:cNvSpPr/>
          <p:nvPr/>
        </p:nvSpPr>
        <p:spPr>
          <a:xfrm>
            <a:off x="274320" y="4325112"/>
            <a:ext cx="2606040"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274320" y="4325112"/>
            <a:ext cx="2606040" cy="566928"/>
          </a:xfrm>
          <a:prstGeom prst="roundRect">
            <a:avLst>
              <a:gd name="adj" fmla="val 20000"/>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Provisiones nuevas</a:t>
            </a:r>
          </a:p>
          <a:p>
            <a:pPr algn="l"/>
            <a:r>
              <a:rPr sz="850" b="0" i="0">
                <a:solidFill>
                  <a:srgbClr val="DCE6F2"/>
                </a:solidFill>
                <a:latin typeface="Segoe UI"/>
              </a:rPr>
              <a:t>SharePoint · cobros del mes</a:t>
            </a:r>
          </a:p>
        </p:txBody>
      </p:sp>
      <p:sp>
        <p:nvSpPr>
          <p:cNvPr id="28" name="TextBox 27"/>
          <p:cNvSpPr txBox="1"/>
          <p:nvPr/>
        </p:nvSpPr>
        <p:spPr>
          <a:xfrm>
            <a:off x="274320" y="4928616"/>
            <a:ext cx="2606040"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Año, mes, chasis, cliente y monto (Dynafleet)</a:t>
            </a:r>
          </a:p>
        </p:txBody>
      </p:sp>
      <p:sp>
        <p:nvSpPr>
          <p:cNvPr id="29" name="Rounded Rectangle 28"/>
          <p:cNvSpPr/>
          <p:nvPr/>
        </p:nvSpPr>
        <p:spPr>
          <a:xfrm>
            <a:off x="347472" y="5833872"/>
            <a:ext cx="2459736"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La columna “Chasis” en realidad trae el VIN</a:t>
            </a:r>
          </a:p>
        </p:txBody>
      </p:sp>
      <p:sp>
        <p:nvSpPr>
          <p:cNvPr id="30" name="Rounded Rectangle 29"/>
          <p:cNvSpPr/>
          <p:nvPr/>
        </p:nvSpPr>
        <p:spPr>
          <a:xfrm>
            <a:off x="3017520" y="4325112"/>
            <a:ext cx="2606040"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3017520" y="4325112"/>
            <a:ext cx="2606040" cy="566928"/>
          </a:xfrm>
          <a:prstGeom prst="roundRect">
            <a:avLst>
              <a:gd name="adj" fmla="val 20000"/>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Notas de venta</a:t>
            </a:r>
          </a:p>
          <a:p>
            <a:pPr algn="l"/>
            <a:r>
              <a:rPr sz="850" b="0" i="0">
                <a:solidFill>
                  <a:srgbClr val="DCE6F2"/>
                </a:solidFill>
                <a:latin typeface="Segoe UI"/>
              </a:rPr>
              <a:t>Power BI · equipo de reportes</a:t>
            </a:r>
          </a:p>
        </p:txBody>
      </p:sp>
      <p:sp>
        <p:nvSpPr>
          <p:cNvPr id="32" name="TextBox 31"/>
          <p:cNvSpPr txBox="1"/>
          <p:nvPr/>
        </p:nvSpPr>
        <p:spPr>
          <a:xfrm>
            <a:off x="3017520" y="4928616"/>
            <a:ext cx="2606040"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Chasis corto, RUT, cliente, CDB, industria y vendedor</a:t>
            </a:r>
          </a:p>
        </p:txBody>
      </p:sp>
      <p:sp>
        <p:nvSpPr>
          <p:cNvPr id="33" name="Rounded Rectangle 32"/>
          <p:cNvSpPr/>
          <p:nvPr/>
        </p:nvSpPr>
        <p:spPr>
          <a:xfrm>
            <a:off x="3090672" y="5833872"/>
            <a:ext cx="2459736"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Llega cifrado y no trae el VIN</a:t>
            </a:r>
          </a:p>
        </p:txBody>
      </p:sp>
      <p:sp>
        <p:nvSpPr>
          <p:cNvPr id="34" name="Rounded Rectangle 33"/>
          <p:cNvSpPr/>
          <p:nvPr/>
        </p:nvSpPr>
        <p:spPr>
          <a:xfrm>
            <a:off x="5760720" y="4325112"/>
            <a:ext cx="2606040" cy="205740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5760720" y="4325112"/>
            <a:ext cx="2606040" cy="566928"/>
          </a:xfrm>
          <a:prstGeom prst="roundRect">
            <a:avLst>
              <a:gd name="adj" fmla="val 20000"/>
            </a:avLst>
          </a:prstGeom>
          <a:solidFill>
            <a:srgbClr val="1C6BBA"/>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l"/>
            <a:r>
              <a:rPr sz="1150" b="1" i="0">
                <a:solidFill>
                  <a:srgbClr val="FFFFFF"/>
                </a:solidFill>
                <a:latin typeface="Segoe UI"/>
              </a:rPr>
              <a:t>Contratos de mantenimiento</a:t>
            </a:r>
          </a:p>
          <a:p>
            <a:pPr algn="l"/>
            <a:r>
              <a:rPr sz="850" b="0" i="0">
                <a:solidFill>
                  <a:srgbClr val="DCE6F2"/>
                </a:solidFill>
                <a:latin typeface="Segoe UI"/>
              </a:rPr>
              <a:t>3PC · la contraparte comercial · mensual</a:t>
            </a:r>
          </a:p>
        </p:txBody>
      </p:sp>
      <p:sp>
        <p:nvSpPr>
          <p:cNvPr id="36" name="TextBox 35"/>
          <p:cNvSpPr txBox="1"/>
          <p:nvPr/>
        </p:nvSpPr>
        <p:spPr>
          <a:xfrm>
            <a:off x="5760720" y="4928616"/>
            <a:ext cx="2606040" cy="960120"/>
          </a:xfrm>
          <a:prstGeom prst="rect">
            <a:avLst/>
          </a:prstGeom>
          <a:noFill/>
        </p:spPr>
        <p:txBody>
          <a:bodyPr wrap="square" lIns="109728" anchor="t">
            <a:spAutoFit/>
          </a:bodyPr>
          <a:lstStyle/>
          <a:p>
            <a:pPr algn="l"/>
            <a:r>
              <a:rPr sz="950" b="1" i="0">
                <a:solidFill>
                  <a:srgbClr val="003057"/>
                </a:solidFill>
                <a:latin typeface="Segoe UI"/>
              </a:rPr>
              <a:t>Trae: </a:t>
            </a:r>
            <a:r>
              <a:rPr sz="950" b="0" i="0">
                <a:solidFill>
                  <a:srgbClr val="1E293B"/>
                </a:solidFill>
                <a:latin typeface="Segoe UI"/>
              </a:rPr>
              <a:t>VIN No, N° de contrato, fechas, estado y monto</a:t>
            </a:r>
          </a:p>
        </p:txBody>
      </p:sp>
      <p:sp>
        <p:nvSpPr>
          <p:cNvPr id="37" name="Rounded Rectangle 36"/>
          <p:cNvSpPr/>
          <p:nvPr/>
        </p:nvSpPr>
        <p:spPr>
          <a:xfrm>
            <a:off x="5833872" y="5833872"/>
            <a:ext cx="2459736" cy="475488"/>
          </a:xfrm>
          <a:prstGeom prst="roundRect">
            <a:avLst>
              <a:gd name="adj" fmla="val 1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54864" rtlCol="0" anchor="ctr"/>
          <a:lstStyle/>
          <a:p>
            <a:pPr algn="l"/>
            <a:r>
              <a:rPr sz="850" b="1" i="0">
                <a:solidFill>
                  <a:srgbClr val="9F1239"/>
                </a:solidFill>
                <a:latin typeface="Segoe UI"/>
              </a:rPr>
              <a:t>Problema: </a:t>
            </a:r>
            <a:r>
              <a:rPr sz="850" b="0" i="0">
                <a:solidFill>
                  <a:srgbClr val="475569"/>
                </a:solidFill>
                <a:latin typeface="Segoe UI"/>
              </a:rPr>
              <a:t>Columnas en inglés</a:t>
            </a:r>
          </a:p>
        </p:txBody>
      </p:sp>
      <p:sp>
        <p:nvSpPr>
          <p:cNvPr id="38" name="Rounded Rectangle 37"/>
          <p:cNvSpPr/>
          <p:nvPr/>
        </p:nvSpPr>
        <p:spPr>
          <a:xfrm>
            <a:off x="8641080" y="1463040"/>
            <a:ext cx="3291840" cy="4937760"/>
          </a:xfrm>
          <a:prstGeom prst="roundRect">
            <a:avLst>
              <a:gd name="adj" fmla="val 5000"/>
            </a:avLst>
          </a:prstGeom>
          <a:solidFill>
            <a:srgbClr val="EEF4FB"/>
          </a:solidFill>
          <a:ln w="12700">
            <a:solidFill>
              <a:srgbClr val="1C6B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8641080" y="1463040"/>
            <a:ext cx="3291840" cy="438912"/>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100" b="1" i="0">
                <a:solidFill>
                  <a:srgbClr val="FFFFFF"/>
                </a:solidFill>
                <a:latin typeface="Segoe UI"/>
              </a:rPr>
              <a:t>MISMO DATO, DISTINTO NOMBRE</a:t>
            </a:r>
          </a:p>
        </p:txBody>
      </p:sp>
      <p:sp>
        <p:nvSpPr>
          <p:cNvPr id="40" name="TextBox 39"/>
          <p:cNvSpPr txBox="1"/>
          <p:nvPr/>
        </p:nvSpPr>
        <p:spPr>
          <a:xfrm>
            <a:off x="8778240" y="1993392"/>
            <a:ext cx="3063240" cy="713232"/>
          </a:xfrm>
          <a:prstGeom prst="rect">
            <a:avLst/>
          </a:prstGeom>
          <a:noFill/>
        </p:spPr>
        <p:txBody>
          <a:bodyPr wrap="square" lIns="73152" tIns="18288" rIns="73152" anchor="t">
            <a:spAutoFit/>
          </a:bodyPr>
          <a:lstStyle/>
          <a:p>
            <a:pPr algn="l"/>
            <a:r>
              <a:rPr sz="1050" b="1" i="0">
                <a:solidFill>
                  <a:srgbClr val="003057"/>
                </a:solidFill>
                <a:latin typeface="Segoe UI"/>
              </a:rPr>
              <a:t>El camión</a:t>
            </a:r>
          </a:p>
          <a:p>
            <a:pPr algn="l"/>
            <a:r>
              <a:rPr sz="950" b="0" i="0">
                <a:solidFill>
                  <a:srgbClr val="1E293B"/>
                </a:solidFill>
                <a:latin typeface="Segoe UI"/>
              </a:rPr>
              <a:t>VIN · Chasis (con el VIN) · Chasis corto · VIN No</a:t>
            </a:r>
          </a:p>
        </p:txBody>
      </p:sp>
      <p:sp>
        <p:nvSpPr>
          <p:cNvPr id="41" name="TextBox 40"/>
          <p:cNvSpPr txBox="1"/>
          <p:nvPr/>
        </p:nvSpPr>
        <p:spPr>
          <a:xfrm>
            <a:off x="8778240" y="2706624"/>
            <a:ext cx="3063240" cy="713232"/>
          </a:xfrm>
          <a:prstGeom prst="rect">
            <a:avLst/>
          </a:prstGeom>
          <a:noFill/>
        </p:spPr>
        <p:txBody>
          <a:bodyPr wrap="square" lIns="73152" tIns="18288" rIns="73152" anchor="t">
            <a:spAutoFit/>
          </a:bodyPr>
          <a:lstStyle/>
          <a:p>
            <a:pPr algn="l"/>
            <a:r>
              <a:rPr sz="1050" b="1" i="0">
                <a:solidFill>
                  <a:srgbClr val="003057"/>
                </a:solidFill>
                <a:latin typeface="Segoe UI"/>
              </a:rPr>
              <a:t>La empresa</a:t>
            </a:r>
          </a:p>
          <a:p>
            <a:pPr algn="l"/>
            <a:r>
              <a:rPr sz="950" b="0" i="0">
                <a:solidFill>
                  <a:srgbClr val="1E293B"/>
                </a:solidFill>
                <a:latin typeface="Segoe UI"/>
              </a:rPr>
              <a:t>Razón social · Cliente · Flota · Nombre · Customer Name</a:t>
            </a:r>
          </a:p>
        </p:txBody>
      </p:sp>
      <p:sp>
        <p:nvSpPr>
          <p:cNvPr id="42" name="TextBox 41"/>
          <p:cNvSpPr txBox="1"/>
          <p:nvPr/>
        </p:nvSpPr>
        <p:spPr>
          <a:xfrm>
            <a:off x="8778240" y="3419856"/>
            <a:ext cx="3063240" cy="713232"/>
          </a:xfrm>
          <a:prstGeom prst="rect">
            <a:avLst/>
          </a:prstGeom>
          <a:noFill/>
        </p:spPr>
        <p:txBody>
          <a:bodyPr wrap="square" lIns="73152" tIns="18288" rIns="73152" anchor="t">
            <a:spAutoFit/>
          </a:bodyPr>
          <a:lstStyle/>
          <a:p>
            <a:pPr algn="l"/>
            <a:r>
              <a:rPr sz="1050" b="1" i="0">
                <a:solidFill>
                  <a:srgbClr val="003057"/>
                </a:solidFill>
                <a:latin typeface="Segoe UI"/>
              </a:rPr>
              <a:t>El código de cliente</a:t>
            </a:r>
          </a:p>
          <a:p>
            <a:pPr algn="l"/>
            <a:r>
              <a:rPr sz="950" b="0" i="0">
                <a:solidFill>
                  <a:srgbClr val="1E293B"/>
                </a:solidFill>
                <a:latin typeface="Segoe UI"/>
              </a:rPr>
              <a:t>CDB en 3 archivos; Provisiones y 3PC no lo traen</a:t>
            </a:r>
          </a:p>
        </p:txBody>
      </p:sp>
      <p:sp>
        <p:nvSpPr>
          <p:cNvPr id="43" name="TextBox 42"/>
          <p:cNvSpPr txBox="1"/>
          <p:nvPr/>
        </p:nvSpPr>
        <p:spPr>
          <a:xfrm>
            <a:off x="8778240" y="4133087"/>
            <a:ext cx="3063240" cy="713232"/>
          </a:xfrm>
          <a:prstGeom prst="rect">
            <a:avLst/>
          </a:prstGeom>
          <a:noFill/>
        </p:spPr>
        <p:txBody>
          <a:bodyPr wrap="square" lIns="73152" tIns="18288" rIns="73152" anchor="t">
            <a:spAutoFit/>
          </a:bodyPr>
          <a:lstStyle/>
          <a:p>
            <a:pPr algn="l"/>
            <a:r>
              <a:rPr sz="1050" b="1" i="0">
                <a:solidFill>
                  <a:srgbClr val="003057"/>
                </a:solidFill>
                <a:latin typeface="Segoe UI"/>
              </a:rPr>
              <a:t>El vendedor</a:t>
            </a:r>
          </a:p>
          <a:p>
            <a:pPr algn="l"/>
            <a:r>
              <a:rPr sz="950" b="0" i="0">
                <a:solidFill>
                  <a:srgbClr val="1E293B"/>
                </a:solidFill>
                <a:latin typeface="Segoe UI"/>
              </a:rPr>
              <a:t>Ejecutivo · Vendedor</a:t>
            </a:r>
          </a:p>
        </p:txBody>
      </p:sp>
      <p:cxnSp>
        <p:nvCxnSpPr>
          <p:cNvPr id="44" name="Connector 43"/>
          <p:cNvCxnSpPr/>
          <p:nvPr/>
        </p:nvCxnSpPr>
        <p:spPr>
          <a:xfrm>
            <a:off x="8823960" y="4864608"/>
            <a:ext cx="2926080" cy="0"/>
          </a:xfrm>
          <a:prstGeom prst="line">
            <a:avLst/>
          </a:prstGeom>
          <a:ln w="9525">
            <a:solidFill>
              <a:srgbClr val="1C6BB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778240" y="4937760"/>
            <a:ext cx="3063240" cy="1417320"/>
          </a:xfrm>
          <a:prstGeom prst="rect">
            <a:avLst/>
          </a:prstGeom>
          <a:noFill/>
        </p:spPr>
        <p:txBody>
          <a:bodyPr wrap="square" lIns="73152" tIns="18288" rIns="73152" anchor="t">
            <a:spAutoFit/>
          </a:bodyPr>
          <a:lstStyle/>
          <a:p>
            <a:pPr algn="l"/>
            <a:r>
              <a:rPr sz="1050" b="1" i="0">
                <a:solidFill>
                  <a:srgbClr val="003057"/>
                </a:solidFill>
                <a:latin typeface="Segoe UI"/>
              </a:rPr>
              <a:t>Además</a:t>
            </a:r>
          </a:p>
          <a:p>
            <a:pPr marL="164592" indent="-164592" algn="l">
              <a:spcBef>
                <a:spcPts val="200"/>
              </a:spcBef>
              <a:buClr>
                <a:srgbClr val="2563EB"/>
              </a:buClr>
              <a:buChar char="•"/>
            </a:pPr>
            <a:r>
              <a:rPr sz="900" b="0" i="0">
                <a:solidFill>
                  <a:srgbClr val="1E293B"/>
                </a:solidFill>
                <a:latin typeface="Segoe UI"/>
              </a:rPr>
              <a:t>Valores sin estándar: industria en inglés, estados escritos de distintas formas</a:t>
            </a:r>
          </a:p>
          <a:p>
            <a:pPr marL="164592" indent="-164592" algn="l">
              <a:spcBef>
                <a:spcPts val="200"/>
              </a:spcBef>
              <a:buClr>
                <a:srgbClr val="2563EB"/>
              </a:buClr>
              <a:buChar char="•"/>
            </a:pPr>
            <a:r>
              <a:rPr sz="900" b="0" i="0">
                <a:solidFill>
                  <a:srgbClr val="1E293B"/>
                </a:solidFill>
                <a:latin typeface="Segoe UI"/>
              </a:rPr>
              <a:t>Fechas en formatos distintos (año y mes separados)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 y="347472"/>
            <a:ext cx="5486400" cy="384048"/>
          </a:xfrm>
          <a:prstGeom prst="rect">
            <a:avLst/>
          </a:prstGeom>
          <a:noFill/>
        </p:spPr>
        <p:txBody>
          <a:bodyPr wrap="square" rIns="73152" anchor="t">
            <a:spAutoFit/>
          </a:bodyPr>
          <a:lstStyle/>
          <a:p>
            <a:pPr algn="l"/>
            <a:r>
              <a:rPr sz="1600" b="0" i="0">
                <a:solidFill>
                  <a:srgbClr val="595959"/>
                </a:solidFill>
                <a:latin typeface="Segoe UI"/>
              </a:rPr>
              <a:t>Empresa Demo Sistema de Gestión</a:t>
            </a:r>
          </a:p>
        </p:txBody>
      </p:sp>
      <p:cxnSp>
        <p:nvCxnSpPr>
          <p:cNvPr id="3" name="Connector 2"/>
          <p:cNvCxnSpPr/>
          <p:nvPr/>
        </p:nvCxnSpPr>
        <p:spPr>
          <a:xfrm>
            <a:off x="0" y="758952"/>
            <a:ext cx="40873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pic>
        <p:nvPicPr>
          <p:cNvPr id="4" name="Picture 3"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5" name="Connector 4"/>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6" name="Picture 5" descr="image.jpg"/>
          <p:cNvPicPr>
            <a:picLocks noChangeAspect="1"/>
          </p:cNvPicPr>
          <p:nvPr/>
        </p:nvPicPr>
        <p:blipFill>
          <a:blip r:embed="rId4"/>
          <a:stretch>
            <a:fillRect/>
          </a:stretch>
        </p:blipFill>
        <p:spPr>
          <a:xfrm>
            <a:off x="8769096" y="210312"/>
            <a:ext cx="3145536" cy="786384"/>
          </a:xfrm>
          <a:prstGeom prst="rect">
            <a:avLst/>
          </a:prstGeom>
        </p:spPr>
      </p:pic>
      <p:sp>
        <p:nvSpPr>
          <p:cNvPr id="7" name="TextBox 6"/>
          <p:cNvSpPr txBox="1"/>
          <p:nvPr/>
        </p:nvSpPr>
        <p:spPr>
          <a:xfrm>
            <a:off x="0" y="960120"/>
            <a:ext cx="12191695" cy="685800"/>
          </a:xfrm>
          <a:prstGeom prst="rect">
            <a:avLst/>
          </a:prstGeom>
          <a:noFill/>
        </p:spPr>
        <p:txBody>
          <a:bodyPr wrap="square" lIns="73152" rIns="73152" anchor="ctr">
            <a:spAutoFit/>
          </a:bodyPr>
          <a:lstStyle/>
          <a:p>
            <a:pPr algn="ctr"/>
            <a:r>
              <a:rPr sz="3400" b="1" i="0">
                <a:solidFill>
                  <a:srgbClr val="003057"/>
                </a:solidFill>
                <a:latin typeface="Segoe UI"/>
              </a:rPr>
              <a:t>Resultados obtenidos</a:t>
            </a:r>
          </a:p>
        </p:txBody>
      </p:sp>
      <p:sp>
        <p:nvSpPr>
          <p:cNvPr id="8" name="Rounded Rectangle 7"/>
          <p:cNvSpPr/>
          <p:nvPr/>
        </p:nvSpPr>
        <p:spPr>
          <a:xfrm>
            <a:off x="612648"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unded Rectangle 8"/>
          <p:cNvSpPr/>
          <p:nvPr/>
        </p:nvSpPr>
        <p:spPr>
          <a:xfrm>
            <a:off x="612648"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500" b="1" i="0">
                <a:solidFill>
                  <a:srgbClr val="FFFFFF"/>
                </a:solidFill>
                <a:latin typeface="Segoe UI"/>
              </a:rPr>
              <a:t>Centralizar</a:t>
            </a:r>
          </a:p>
        </p:txBody>
      </p:sp>
      <p:sp>
        <p:nvSpPr>
          <p:cNvPr id="10" name="TextBox 9"/>
          <p:cNvSpPr txBox="1"/>
          <p:nvPr/>
        </p:nvSpPr>
        <p:spPr>
          <a:xfrm>
            <a:off x="704088" y="2697480"/>
            <a:ext cx="2441448" cy="685800"/>
          </a:xfrm>
          <a:prstGeom prst="rect">
            <a:avLst/>
          </a:prstGeom>
          <a:noFill/>
        </p:spPr>
        <p:txBody>
          <a:bodyPr wrap="square" lIns="73152" rIns="73152" anchor="ctr">
            <a:spAutoFit/>
          </a:bodyPr>
          <a:lstStyle/>
          <a:p>
            <a:pPr algn="ctr"/>
            <a:r>
              <a:rPr sz="2400" b="1" i="0">
                <a:solidFill>
                  <a:srgbClr val="1C6BBA"/>
                </a:solidFill>
                <a:latin typeface="Segoe UI"/>
              </a:rPr>
              <a:t>1 sistema</a:t>
            </a:r>
          </a:p>
        </p:txBody>
      </p:sp>
      <p:sp>
        <p:nvSpPr>
          <p:cNvPr id="11" name="TextBox 10"/>
          <p:cNvSpPr txBox="1"/>
          <p:nvPr/>
        </p:nvSpPr>
        <p:spPr>
          <a:xfrm>
            <a:off x="749808" y="3383280"/>
            <a:ext cx="2350008" cy="731520"/>
          </a:xfrm>
          <a:prstGeom prst="rect">
            <a:avLst/>
          </a:prstGeom>
          <a:noFill/>
        </p:spPr>
        <p:txBody>
          <a:bodyPr wrap="square" lIns="73152" rIns="73152" anchor="t">
            <a:spAutoFit/>
          </a:bodyPr>
          <a:lstStyle/>
          <a:p>
            <a:pPr algn="ctr"/>
            <a:r>
              <a:rPr sz="1200" b="0" i="0">
                <a:solidFill>
                  <a:srgbClr val="1E293B"/>
                </a:solidFill>
                <a:latin typeface="Segoe UI"/>
              </a:rPr>
              <a:t>en lugar de 10 a 15 planillas dispersas</a:t>
            </a:r>
          </a:p>
        </p:txBody>
      </p:sp>
      <p:cxnSp>
        <p:nvCxnSpPr>
          <p:cNvPr id="12" name="Connector 11"/>
          <p:cNvCxnSpPr/>
          <p:nvPr/>
        </p:nvCxnSpPr>
        <p:spPr>
          <a:xfrm>
            <a:off x="1069848"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526280"/>
            <a:ext cx="2441448" cy="685800"/>
          </a:xfrm>
          <a:prstGeom prst="rect">
            <a:avLst/>
          </a:prstGeom>
          <a:noFill/>
        </p:spPr>
        <p:txBody>
          <a:bodyPr wrap="square" lIns="73152" rIns="73152" anchor="ctr">
            <a:spAutoFit/>
          </a:bodyPr>
          <a:lstStyle/>
          <a:p>
            <a:pPr algn="ctr"/>
            <a:r>
              <a:rPr sz="2400" b="1" i="0">
                <a:solidFill>
                  <a:srgbClr val="1C6BBA"/>
                </a:solidFill>
                <a:latin typeface="Segoe UI"/>
              </a:rPr>
              <a:t>9 módulos</a:t>
            </a:r>
          </a:p>
        </p:txBody>
      </p:sp>
      <p:sp>
        <p:nvSpPr>
          <p:cNvPr id="14" name="TextBox 13"/>
          <p:cNvSpPr txBox="1"/>
          <p:nvPr/>
        </p:nvSpPr>
        <p:spPr>
          <a:xfrm>
            <a:off x="749808" y="5212080"/>
            <a:ext cx="2350008" cy="461665"/>
          </a:xfrm>
          <a:prstGeom prst="rect">
            <a:avLst/>
          </a:prstGeom>
          <a:noFill/>
        </p:spPr>
        <p:txBody>
          <a:bodyPr wrap="square" lIns="73152" rIns="73152" anchor="t">
            <a:spAutoFit/>
          </a:bodyPr>
          <a:lstStyle/>
          <a:p>
            <a:pPr algn="ctr"/>
            <a:r>
              <a:rPr lang="es-CL" sz="1200" b="0" i="0">
                <a:solidFill>
                  <a:srgbClr val="1E293B"/>
                </a:solidFill>
                <a:latin typeface="Segoe UI"/>
              </a:rPr>
              <a:t>de gestión sobre una misma base de contratos</a:t>
            </a:r>
            <a:endParaRPr sz="1200" b="0" i="0">
              <a:solidFill>
                <a:srgbClr val="1E293B"/>
              </a:solidFill>
              <a:latin typeface="Segoe UI"/>
            </a:endParaRPr>
          </a:p>
        </p:txBody>
      </p:sp>
      <p:sp>
        <p:nvSpPr>
          <p:cNvPr id="15" name="Rounded Rectangle 14"/>
          <p:cNvSpPr/>
          <p:nvPr/>
        </p:nvSpPr>
        <p:spPr>
          <a:xfrm>
            <a:off x="3392424"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3392424"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500" b="1" i="0">
                <a:solidFill>
                  <a:srgbClr val="FFFFFF"/>
                </a:solidFill>
                <a:latin typeface="Segoe UI"/>
              </a:rPr>
              <a:t>Automatizar</a:t>
            </a:r>
          </a:p>
        </p:txBody>
      </p:sp>
      <p:sp>
        <p:nvSpPr>
          <p:cNvPr id="17" name="TextBox 16"/>
          <p:cNvSpPr txBox="1"/>
          <p:nvPr/>
        </p:nvSpPr>
        <p:spPr>
          <a:xfrm>
            <a:off x="3483864" y="2697480"/>
            <a:ext cx="2441448" cy="685800"/>
          </a:xfrm>
          <a:prstGeom prst="rect">
            <a:avLst/>
          </a:prstGeom>
          <a:noFill/>
        </p:spPr>
        <p:txBody>
          <a:bodyPr wrap="square" lIns="73152" rIns="73152" anchor="ctr">
            <a:spAutoFit/>
          </a:bodyPr>
          <a:lstStyle/>
          <a:p>
            <a:pPr algn="ctr"/>
            <a:r>
              <a:rPr sz="2400" b="1" i="0">
                <a:solidFill>
                  <a:srgbClr val="1C6BBA"/>
                </a:solidFill>
                <a:latin typeface="Segoe UI"/>
              </a:rPr>
              <a:t>3 reportes</a:t>
            </a:r>
          </a:p>
        </p:txBody>
      </p:sp>
      <p:sp>
        <p:nvSpPr>
          <p:cNvPr id="18" name="TextBox 17"/>
          <p:cNvSpPr txBox="1"/>
          <p:nvPr/>
        </p:nvSpPr>
        <p:spPr>
          <a:xfrm>
            <a:off x="3529584" y="3383280"/>
            <a:ext cx="2350008" cy="731520"/>
          </a:xfrm>
          <a:prstGeom prst="rect">
            <a:avLst/>
          </a:prstGeom>
          <a:noFill/>
        </p:spPr>
        <p:txBody>
          <a:bodyPr wrap="square" lIns="73152" rIns="73152" anchor="t">
            <a:spAutoFit/>
          </a:bodyPr>
          <a:lstStyle/>
          <a:p>
            <a:pPr algn="ctr"/>
            <a:r>
              <a:rPr sz="1200" b="0" i="0">
                <a:solidFill>
                  <a:srgbClr val="1E293B"/>
                </a:solidFill>
                <a:latin typeface="Segoe UI"/>
              </a:rPr>
              <a:t>externos que se importan automáticamente</a:t>
            </a:r>
          </a:p>
        </p:txBody>
      </p:sp>
      <p:cxnSp>
        <p:nvCxnSpPr>
          <p:cNvPr id="19" name="Connector 18"/>
          <p:cNvCxnSpPr/>
          <p:nvPr/>
        </p:nvCxnSpPr>
        <p:spPr>
          <a:xfrm>
            <a:off x="3849624"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83864" y="4526280"/>
            <a:ext cx="2441448" cy="685800"/>
          </a:xfrm>
          <a:prstGeom prst="rect">
            <a:avLst/>
          </a:prstGeom>
          <a:noFill/>
        </p:spPr>
        <p:txBody>
          <a:bodyPr wrap="square" lIns="73152" rIns="73152" anchor="ctr">
            <a:spAutoFit/>
          </a:bodyPr>
          <a:lstStyle/>
          <a:p>
            <a:pPr algn="ctr"/>
            <a:r>
              <a:rPr sz="2400" b="1" i="0">
                <a:solidFill>
                  <a:srgbClr val="1C6BBA"/>
                </a:solidFill>
                <a:latin typeface="Segoe UI"/>
              </a:rPr>
              <a:t>Correos</a:t>
            </a:r>
          </a:p>
        </p:txBody>
      </p:sp>
      <p:sp>
        <p:nvSpPr>
          <p:cNvPr id="21" name="TextBox 20"/>
          <p:cNvSpPr txBox="1"/>
          <p:nvPr/>
        </p:nvSpPr>
        <p:spPr>
          <a:xfrm>
            <a:off x="3529584" y="5212080"/>
            <a:ext cx="2350008" cy="731520"/>
          </a:xfrm>
          <a:prstGeom prst="rect">
            <a:avLst/>
          </a:prstGeom>
          <a:noFill/>
        </p:spPr>
        <p:txBody>
          <a:bodyPr wrap="square" lIns="73152" rIns="73152" anchor="t">
            <a:spAutoFit/>
          </a:bodyPr>
          <a:lstStyle/>
          <a:p>
            <a:pPr algn="ctr"/>
            <a:r>
              <a:rPr sz="1200" b="0" i="0">
                <a:solidFill>
                  <a:srgbClr val="1E293B"/>
                </a:solidFill>
                <a:latin typeface="Segoe UI"/>
              </a:rPr>
              <a:t>a clientes generados con plantillas en Outlook</a:t>
            </a:r>
          </a:p>
        </p:txBody>
      </p:sp>
      <p:sp>
        <p:nvSpPr>
          <p:cNvPr id="22" name="Rounded Rectangle 21"/>
          <p:cNvSpPr/>
          <p:nvPr/>
        </p:nvSpPr>
        <p:spPr>
          <a:xfrm>
            <a:off x="6172200"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6172200"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500" b="1" i="0">
                <a:solidFill>
                  <a:srgbClr val="FFFFFF"/>
                </a:solidFill>
                <a:latin typeface="Segoe UI"/>
              </a:rPr>
              <a:t>Rendimiento</a:t>
            </a:r>
          </a:p>
        </p:txBody>
      </p:sp>
      <p:sp>
        <p:nvSpPr>
          <p:cNvPr id="24" name="TextBox 23"/>
          <p:cNvSpPr txBox="1"/>
          <p:nvPr/>
        </p:nvSpPr>
        <p:spPr>
          <a:xfrm>
            <a:off x="6263640" y="2697480"/>
            <a:ext cx="2441448" cy="685800"/>
          </a:xfrm>
          <a:prstGeom prst="rect">
            <a:avLst/>
          </a:prstGeom>
          <a:noFill/>
        </p:spPr>
        <p:txBody>
          <a:bodyPr wrap="square" lIns="73152" rIns="73152" anchor="ctr">
            <a:spAutoFit/>
          </a:bodyPr>
          <a:lstStyle/>
          <a:p>
            <a:pPr algn="ctr"/>
            <a:r>
              <a:rPr sz="2000" b="1" i="0">
                <a:solidFill>
                  <a:srgbClr val="1C6BBA"/>
                </a:solidFill>
                <a:latin typeface="Segoe UI"/>
              </a:rPr>
              <a:t>6,2 s → 0,9 s</a:t>
            </a:r>
          </a:p>
        </p:txBody>
      </p:sp>
      <p:sp>
        <p:nvSpPr>
          <p:cNvPr id="25" name="TextBox 24"/>
          <p:cNvSpPr txBox="1"/>
          <p:nvPr/>
        </p:nvSpPr>
        <p:spPr>
          <a:xfrm>
            <a:off x="6309360" y="3383280"/>
            <a:ext cx="2350008" cy="731520"/>
          </a:xfrm>
          <a:prstGeom prst="rect">
            <a:avLst/>
          </a:prstGeom>
          <a:noFill/>
        </p:spPr>
        <p:txBody>
          <a:bodyPr wrap="square" lIns="73152" rIns="73152" anchor="t">
            <a:spAutoFit/>
          </a:bodyPr>
          <a:lstStyle/>
          <a:p>
            <a:pPr algn="ctr"/>
            <a:r>
              <a:rPr sz="1200" b="0" i="0">
                <a:solidFill>
                  <a:srgbClr val="1E293B"/>
                </a:solidFill>
                <a:latin typeface="Segoe UI"/>
              </a:rPr>
              <a:t>tiempo de carga al abrir la aplicación</a:t>
            </a:r>
          </a:p>
        </p:txBody>
      </p:sp>
      <p:cxnSp>
        <p:nvCxnSpPr>
          <p:cNvPr id="26" name="Connector 25"/>
          <p:cNvCxnSpPr/>
          <p:nvPr/>
        </p:nvCxnSpPr>
        <p:spPr>
          <a:xfrm>
            <a:off x="6629400"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263640" y="4526280"/>
            <a:ext cx="2441448" cy="685800"/>
          </a:xfrm>
          <a:prstGeom prst="rect">
            <a:avLst/>
          </a:prstGeom>
          <a:noFill/>
        </p:spPr>
        <p:txBody>
          <a:bodyPr wrap="square" lIns="73152" rIns="73152" anchor="ctr">
            <a:spAutoFit/>
          </a:bodyPr>
          <a:lstStyle/>
          <a:p>
            <a:pPr algn="ctr"/>
            <a:r>
              <a:rPr sz="2000" b="1" i="0">
                <a:solidFill>
                  <a:srgbClr val="1C6BBA"/>
                </a:solidFill>
                <a:latin typeface="Segoe UI"/>
              </a:rPr>
              <a:t>11–17 s → 0,5 s</a:t>
            </a:r>
          </a:p>
        </p:txBody>
      </p:sp>
      <p:sp>
        <p:nvSpPr>
          <p:cNvPr id="28" name="TextBox 27"/>
          <p:cNvSpPr txBox="1"/>
          <p:nvPr/>
        </p:nvSpPr>
        <p:spPr>
          <a:xfrm>
            <a:off x="6309360" y="5212080"/>
            <a:ext cx="2350008" cy="731520"/>
          </a:xfrm>
          <a:prstGeom prst="rect">
            <a:avLst/>
          </a:prstGeom>
          <a:noFill/>
        </p:spPr>
        <p:txBody>
          <a:bodyPr wrap="square" lIns="73152" rIns="73152" anchor="t">
            <a:spAutoFit/>
          </a:bodyPr>
          <a:lstStyle/>
          <a:p>
            <a:pPr algn="ctr"/>
            <a:r>
              <a:rPr sz="1200" b="0" i="0">
                <a:solidFill>
                  <a:srgbClr val="1E293B"/>
                </a:solidFill>
                <a:latin typeface="Segoe UI"/>
              </a:rPr>
              <a:t>lectura de la base de clientes de Power BI</a:t>
            </a:r>
          </a:p>
        </p:txBody>
      </p:sp>
      <p:sp>
        <p:nvSpPr>
          <p:cNvPr id="29" name="Rounded Rectangle 28"/>
          <p:cNvSpPr/>
          <p:nvPr/>
        </p:nvSpPr>
        <p:spPr>
          <a:xfrm>
            <a:off x="8951976" y="1965960"/>
            <a:ext cx="2624328" cy="443484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8951976" y="1965960"/>
            <a:ext cx="2624328" cy="502920"/>
          </a:xfrm>
          <a:prstGeom prst="roundRect">
            <a:avLst>
              <a:gd name="adj" fmla="val 25000"/>
            </a:avLst>
          </a:prstGeom>
          <a:solidFill>
            <a:srgbClr val="003057"/>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73152" rtlCol="0" anchor="ctr"/>
          <a:lstStyle/>
          <a:p>
            <a:pPr algn="ctr"/>
            <a:r>
              <a:rPr sz="1500" b="1" i="0">
                <a:solidFill>
                  <a:srgbClr val="FFFFFF"/>
                </a:solidFill>
                <a:latin typeface="Segoe UI"/>
              </a:rPr>
              <a:t>Seguridad</a:t>
            </a:r>
          </a:p>
        </p:txBody>
      </p:sp>
      <p:sp>
        <p:nvSpPr>
          <p:cNvPr id="31" name="TextBox 30"/>
          <p:cNvSpPr txBox="1"/>
          <p:nvPr/>
        </p:nvSpPr>
        <p:spPr>
          <a:xfrm>
            <a:off x="9043416" y="2697480"/>
            <a:ext cx="2441448" cy="685800"/>
          </a:xfrm>
          <a:prstGeom prst="rect">
            <a:avLst/>
          </a:prstGeom>
          <a:noFill/>
        </p:spPr>
        <p:txBody>
          <a:bodyPr wrap="square" lIns="73152" rIns="73152" anchor="ctr">
            <a:spAutoFit/>
          </a:bodyPr>
          <a:lstStyle/>
          <a:p>
            <a:pPr algn="ctr"/>
            <a:r>
              <a:rPr sz="2400" b="1" i="0">
                <a:solidFill>
                  <a:srgbClr val="1C6BBA"/>
                </a:solidFill>
                <a:latin typeface="Segoe UI"/>
              </a:rPr>
              <a:t>9 de 9</a:t>
            </a:r>
          </a:p>
        </p:txBody>
      </p:sp>
      <p:sp>
        <p:nvSpPr>
          <p:cNvPr id="32" name="TextBox 31"/>
          <p:cNvSpPr txBox="1"/>
          <p:nvPr/>
        </p:nvSpPr>
        <p:spPr>
          <a:xfrm>
            <a:off x="9089136" y="3383280"/>
            <a:ext cx="2350008" cy="731520"/>
          </a:xfrm>
          <a:prstGeom prst="rect">
            <a:avLst/>
          </a:prstGeom>
          <a:noFill/>
        </p:spPr>
        <p:txBody>
          <a:bodyPr wrap="square" lIns="73152" rIns="73152" anchor="t">
            <a:spAutoFit/>
          </a:bodyPr>
          <a:lstStyle/>
          <a:p>
            <a:pPr algn="ctr"/>
            <a:r>
              <a:rPr sz="1200" b="0" i="0">
                <a:solidFill>
                  <a:srgbClr val="1E293B"/>
                </a:solidFill>
                <a:latin typeface="Segoe UI"/>
              </a:rPr>
              <a:t>operaciones de guardado con respaldo obligatorio</a:t>
            </a:r>
          </a:p>
        </p:txBody>
      </p:sp>
      <p:cxnSp>
        <p:nvCxnSpPr>
          <p:cNvPr id="33" name="Connector 32"/>
          <p:cNvCxnSpPr/>
          <p:nvPr/>
        </p:nvCxnSpPr>
        <p:spPr>
          <a:xfrm>
            <a:off x="9409176" y="4251960"/>
            <a:ext cx="170992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43416" y="4526280"/>
            <a:ext cx="2441448" cy="685800"/>
          </a:xfrm>
          <a:prstGeom prst="rect">
            <a:avLst/>
          </a:prstGeom>
          <a:noFill/>
        </p:spPr>
        <p:txBody>
          <a:bodyPr wrap="square" lIns="73152" rIns="73152" anchor="ctr">
            <a:spAutoFit/>
          </a:bodyPr>
          <a:lstStyle/>
          <a:p>
            <a:pPr algn="ctr"/>
            <a:r>
              <a:rPr sz="2400" b="1" i="0">
                <a:solidFill>
                  <a:srgbClr val="1C6BBA"/>
                </a:solidFill>
                <a:latin typeface="Segoe UI"/>
              </a:rPr>
              <a:t>+1.000</a:t>
            </a:r>
          </a:p>
        </p:txBody>
      </p:sp>
      <p:sp>
        <p:nvSpPr>
          <p:cNvPr id="35" name="TextBox 34"/>
          <p:cNvSpPr txBox="1"/>
          <p:nvPr/>
        </p:nvSpPr>
        <p:spPr>
          <a:xfrm>
            <a:off x="9089136" y="5212080"/>
            <a:ext cx="2350008" cy="731520"/>
          </a:xfrm>
          <a:prstGeom prst="rect">
            <a:avLst/>
          </a:prstGeom>
          <a:noFill/>
        </p:spPr>
        <p:txBody>
          <a:bodyPr wrap="square" lIns="73152" rIns="73152" anchor="t">
            <a:spAutoFit/>
          </a:bodyPr>
          <a:lstStyle/>
          <a:p>
            <a:pPr algn="ctr"/>
            <a:r>
              <a:rPr sz="1200" b="0" i="0">
                <a:solidFill>
                  <a:srgbClr val="1E293B"/>
                </a:solidFill>
                <a:latin typeface="Segoe UI"/>
              </a:rPr>
              <a:t>pruebas automáticas sobre datos de prueba</a:t>
            </a:r>
          </a:p>
        </p:txBody>
      </p:sp>
      <p:sp>
        <p:nvSpPr>
          <p:cNvPr id="36" name="TextBox 35"/>
          <p:cNvSpPr txBox="1"/>
          <p:nvPr/>
        </p:nvSpPr>
        <p:spPr>
          <a:xfrm>
            <a:off x="612648" y="6473952"/>
            <a:ext cx="10972800" cy="292608"/>
          </a:xfrm>
          <a:prstGeom prst="rect">
            <a:avLst/>
          </a:prstGeom>
          <a:noFill/>
        </p:spPr>
        <p:txBody>
          <a:bodyPr wrap="square" lIns="73152" tIns="0" rIns="73152" anchor="t">
            <a:spAutoFit/>
          </a:bodyPr>
          <a:lstStyle/>
          <a:p>
            <a:pPr algn="ctr"/>
            <a:r>
              <a:rPr sz="1000" b="0" i="0">
                <a:solidFill>
                  <a:srgbClr val="64748B"/>
                </a:solidFill>
                <a:latin typeface="Segoe UI"/>
              </a:rPr>
              <a:t>Tiempos medidos durante el desarrollo con los datos reales del área, en modo solo lectura.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lash_logo.png"/>
          <p:cNvPicPr>
            <a:picLocks noChangeAspect="1"/>
          </p:cNvPicPr>
          <p:nvPr/>
        </p:nvPicPr>
        <p:blipFill>
          <a:blip r:embed="rId3"/>
          <a:stretch>
            <a:fillRect/>
          </a:stretch>
        </p:blipFill>
        <p:spPr>
          <a:xfrm>
            <a:off x="7882127" y="246888"/>
            <a:ext cx="713232" cy="713232"/>
          </a:xfrm>
          <a:prstGeom prst="rect">
            <a:avLst/>
          </a:prstGeom>
        </p:spPr>
      </p:pic>
      <p:cxnSp>
        <p:nvCxnSpPr>
          <p:cNvPr id="3" name="Connector 2"/>
          <p:cNvCxnSpPr/>
          <p:nvPr/>
        </p:nvCxnSpPr>
        <p:spPr>
          <a:xfrm>
            <a:off x="8705088" y="274320"/>
            <a:ext cx="0" cy="658368"/>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pic>
        <p:nvPicPr>
          <p:cNvPr id="4" name="Picture 3" descr="image.jpg"/>
          <p:cNvPicPr>
            <a:picLocks noChangeAspect="1"/>
          </p:cNvPicPr>
          <p:nvPr/>
        </p:nvPicPr>
        <p:blipFill>
          <a:blip r:embed="rId4"/>
          <a:stretch>
            <a:fillRect/>
          </a:stretch>
        </p:blipFill>
        <p:spPr>
          <a:xfrm>
            <a:off x="8769096" y="210312"/>
            <a:ext cx="3145536" cy="786384"/>
          </a:xfrm>
          <a:prstGeom prst="rect">
            <a:avLst/>
          </a:prstGeom>
        </p:spPr>
      </p:pic>
      <p:sp>
        <p:nvSpPr>
          <p:cNvPr id="5" name="TextBox 4"/>
          <p:cNvSpPr txBox="1"/>
          <p:nvPr/>
        </p:nvSpPr>
        <p:spPr>
          <a:xfrm>
            <a:off x="274320" y="109728"/>
            <a:ext cx="7498079" cy="1188720"/>
          </a:xfrm>
          <a:prstGeom prst="rect">
            <a:avLst/>
          </a:prstGeom>
          <a:noFill/>
        </p:spPr>
        <p:txBody>
          <a:bodyPr wrap="square" lIns="73152" rIns="73152" anchor="ctr">
            <a:spAutoFit/>
          </a:bodyPr>
          <a:lstStyle/>
          <a:p>
            <a:pPr algn="l"/>
            <a:r>
              <a:rPr sz="3000" b="1" i="0">
                <a:solidFill>
                  <a:srgbClr val="003057"/>
                </a:solidFill>
                <a:latin typeface="Segoe UI"/>
              </a:rPr>
              <a:t>Obstáculos presentados durante el desarrollo</a:t>
            </a:r>
          </a:p>
        </p:txBody>
      </p:sp>
      <p:graphicFrame>
        <p:nvGraphicFramePr>
          <p:cNvPr id="6" name="Table 5"/>
          <p:cNvGraphicFramePr>
            <a:graphicFrameLocks noGrp="1"/>
          </p:cNvGraphicFramePr>
          <p:nvPr/>
        </p:nvGraphicFramePr>
        <p:xfrm>
          <a:off x="502920" y="1417320"/>
          <a:ext cx="11201399" cy="5120640"/>
        </p:xfrm>
        <a:graphic>
          <a:graphicData uri="http://schemas.openxmlformats.org/drawingml/2006/table">
            <a:tbl>
              <a:tblPr>
                <a:tableStyleId>{5C22544A-7EE6-4342-B048-85BDC9FD1C3A}</a:tableStyleId>
              </a:tblPr>
              <a:tblGrid>
                <a:gridCol w="1143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3749039">
                  <a:extLst>
                    <a:ext uri="{9D8B030D-6E8A-4147-A177-3AD203B41FA5}">
                      <a16:colId xmlns:a16="http://schemas.microsoft.com/office/drawing/2014/main" val="20003"/>
                    </a:ext>
                  </a:extLst>
                </a:gridCol>
              </a:tblGrid>
              <a:tr h="457200">
                <a:tc>
                  <a:txBody>
                    <a:bodyPr/>
                    <a:lstStyle/>
                    <a:p>
                      <a:r>
                        <a:rPr sz="1200" b="1" i="0">
                          <a:solidFill>
                            <a:srgbClr val="FFFFFF"/>
                          </a:solidFill>
                          <a:latin typeface="Segoe UI"/>
                        </a:rPr>
                        <a:t>Ámbito</a:t>
                      </a:r>
                    </a:p>
                  </a:txBody>
                  <a:tcPr marR="73152" anchor="ctr">
                    <a:solidFill>
                      <a:srgbClr val="003057"/>
                    </a:solidFill>
                  </a:tcPr>
                </a:tc>
                <a:tc>
                  <a:txBody>
                    <a:bodyPr/>
                    <a:lstStyle/>
                    <a:p>
                      <a:r>
                        <a:rPr sz="1200" b="1" i="0">
                          <a:solidFill>
                            <a:srgbClr val="FFFFFF"/>
                          </a:solidFill>
                          <a:latin typeface="Segoe UI"/>
                        </a:rPr>
                        <a:t>Obstáculo presentado</a:t>
                      </a:r>
                    </a:p>
                  </a:txBody>
                  <a:tcPr marR="73152" anchor="ctr">
                    <a:solidFill>
                      <a:srgbClr val="003057"/>
                    </a:solidFill>
                  </a:tcPr>
                </a:tc>
                <a:tc>
                  <a:txBody>
                    <a:bodyPr/>
                    <a:lstStyle/>
                    <a:p>
                      <a:r>
                        <a:rPr sz="1200" b="1" i="0">
                          <a:solidFill>
                            <a:srgbClr val="FFFFFF"/>
                          </a:solidFill>
                          <a:latin typeface="Segoe UI"/>
                        </a:rPr>
                        <a:t>Impacto operativo</a:t>
                      </a:r>
                    </a:p>
                  </a:txBody>
                  <a:tcPr marR="73152" anchor="ctr">
                    <a:solidFill>
                      <a:srgbClr val="003057"/>
                    </a:solidFill>
                  </a:tcPr>
                </a:tc>
                <a:tc>
                  <a:txBody>
                    <a:bodyPr/>
                    <a:lstStyle/>
                    <a:p>
                      <a:r>
                        <a:rPr sz="1200" b="1" i="0">
                          <a:solidFill>
                            <a:srgbClr val="FFFFFF"/>
                          </a:solidFill>
                          <a:latin typeface="Segoe UI"/>
                        </a:rPr>
                        <a:t>Solución / estrategia aplicada</a:t>
                      </a:r>
                    </a:p>
                  </a:txBody>
                  <a:tcPr marR="73152" anchor="ctr">
                    <a:solidFill>
                      <a:srgbClr val="003057"/>
                    </a:solidFill>
                  </a:tcPr>
                </a:tc>
                <a:extLst>
                  <a:ext uri="{0D108BD9-81ED-4DB2-BD59-A6C34878D82A}">
                    <a16:rowId xmlns:a16="http://schemas.microsoft.com/office/drawing/2014/main" val="10000"/>
                  </a:ext>
                </a:extLst>
              </a:tr>
              <a:tr h="777240">
                <a:tc>
                  <a:txBody>
                    <a:bodyPr/>
                    <a:lstStyle/>
                    <a:p>
                      <a:r>
                        <a:rPr sz="1200" b="0" i="0">
                          <a:solidFill>
                            <a:srgbClr val="1E293B"/>
                          </a:solidFill>
                          <a:latin typeface="Segoe UI"/>
                        </a:rPr>
                        <a:t>Técnico</a:t>
                      </a:r>
                    </a:p>
                  </a:txBody>
                  <a:tcPr marR="73152" anchor="ctr">
                    <a:solidFill>
                      <a:srgbClr val="FFFFFF"/>
                    </a:solidFill>
                  </a:tcPr>
                </a:tc>
                <a:tc>
                  <a:txBody>
                    <a:bodyPr/>
                    <a:lstStyle/>
                    <a:p>
                      <a:r>
                        <a:rPr sz="1200" b="1" i="0">
                          <a:solidFill>
                            <a:srgbClr val="003057"/>
                          </a:solidFill>
                          <a:latin typeface="Segoe UI"/>
                        </a:rPr>
                        <a:t>Restricción de ciberseguridad (sin SQL)</a:t>
                      </a:r>
                    </a:p>
                  </a:txBody>
                  <a:tcPr marR="73152" anchor="ctr">
                    <a:solidFill>
                      <a:srgbClr val="FFFFFF"/>
                    </a:solidFill>
                  </a:tcPr>
                </a:tc>
                <a:tc>
                  <a:txBody>
                    <a:bodyPr/>
                    <a:lstStyle/>
                    <a:p>
                      <a:r>
                        <a:rPr sz="1100" b="0" i="0">
                          <a:solidFill>
                            <a:srgbClr val="1E293B"/>
                          </a:solidFill>
                          <a:latin typeface="Segoe UI"/>
                        </a:rPr>
                        <a:t>No se podía usar una base de datos ni un servidor propio.</a:t>
                      </a:r>
                    </a:p>
                  </a:txBody>
                  <a:tcPr marR="73152" anchor="ctr">
                    <a:solidFill>
                      <a:srgbClr val="FFFFFF"/>
                    </a:solidFill>
                  </a:tcPr>
                </a:tc>
                <a:tc>
                  <a:txBody>
                    <a:bodyPr/>
                    <a:lstStyle/>
                    <a:p>
                      <a:r>
                        <a:rPr sz="1100" b="0" i="0">
                          <a:solidFill>
                            <a:srgbClr val="1E293B"/>
                          </a:solidFill>
                          <a:latin typeface="Segoe UI"/>
                        </a:rPr>
                        <a:t>Aplicación de escritorio que trabaja en memoria sobre archivos Excel/CSV compartidos en SharePoint.</a:t>
                      </a:r>
                    </a:p>
                  </a:txBody>
                  <a:tcPr marR="73152" anchor="ctr">
                    <a:solidFill>
                      <a:srgbClr val="FFFFFF"/>
                    </a:solidFill>
                  </a:tcPr>
                </a:tc>
                <a:extLst>
                  <a:ext uri="{0D108BD9-81ED-4DB2-BD59-A6C34878D82A}">
                    <a16:rowId xmlns:a16="http://schemas.microsoft.com/office/drawing/2014/main" val="10001"/>
                  </a:ext>
                </a:extLst>
              </a:tr>
              <a:tr h="777240">
                <a:tc>
                  <a:txBody>
                    <a:bodyPr/>
                    <a:lstStyle/>
                    <a:p>
                      <a:r>
                        <a:rPr sz="1200" b="0" i="0">
                          <a:solidFill>
                            <a:srgbClr val="1E293B"/>
                          </a:solidFill>
                          <a:latin typeface="Segoe UI"/>
                        </a:rPr>
                        <a:t>Técnico</a:t>
                      </a:r>
                    </a:p>
                  </a:txBody>
                  <a:tcPr marR="73152" anchor="ctr">
                    <a:solidFill>
                      <a:srgbClr val="F8FAFC"/>
                    </a:solidFill>
                  </a:tcPr>
                </a:tc>
                <a:tc>
                  <a:txBody>
                    <a:bodyPr/>
                    <a:lstStyle/>
                    <a:p>
                      <a:r>
                        <a:rPr sz="1200" b="1" i="0">
                          <a:solidFill>
                            <a:srgbClr val="003057"/>
                          </a:solidFill>
                          <a:latin typeface="Segoe UI"/>
                        </a:rPr>
                        <a:t>Archivos bloqueados por OneDrive / SharePoint</a:t>
                      </a:r>
                    </a:p>
                  </a:txBody>
                  <a:tcPr marR="73152" anchor="ctr">
                    <a:solidFill>
                      <a:srgbClr val="F8FAFC"/>
                    </a:solidFill>
                  </a:tcPr>
                </a:tc>
                <a:tc>
                  <a:txBody>
                    <a:bodyPr/>
                    <a:lstStyle/>
                    <a:p>
                      <a:r>
                        <a:rPr sz="1100" b="0" i="0">
                          <a:solidFill>
                            <a:srgbClr val="1E293B"/>
                          </a:solidFill>
                          <a:latin typeface="Segoe UI"/>
                        </a:rPr>
                        <a:t>Errores al guardar cuando otra persona o la sincronización tenía el archivo abierto.</a:t>
                      </a:r>
                    </a:p>
                  </a:txBody>
                  <a:tcPr marR="73152" anchor="ctr">
                    <a:solidFill>
                      <a:srgbClr val="F8FAFC"/>
                    </a:solidFill>
                  </a:tcPr>
                </a:tc>
                <a:tc>
                  <a:txBody>
                    <a:bodyPr/>
                    <a:lstStyle/>
                    <a:p>
                      <a:r>
                        <a:rPr sz="1100" b="0" i="0">
                          <a:solidFill>
                            <a:srgbClr val="1E293B"/>
                          </a:solidFill>
                          <a:latin typeface="Segoe UI"/>
                        </a:rPr>
                        <a:t>Guardado sobre una copia temporal que reemplaza al original de una sola vez, reintentos y aviso al usuario.</a:t>
                      </a:r>
                    </a:p>
                  </a:txBody>
                  <a:tcPr marR="73152" anchor="ctr">
                    <a:solidFill>
                      <a:srgbClr val="F8FAFC"/>
                    </a:solidFill>
                  </a:tcPr>
                </a:tc>
                <a:extLst>
                  <a:ext uri="{0D108BD9-81ED-4DB2-BD59-A6C34878D82A}">
                    <a16:rowId xmlns:a16="http://schemas.microsoft.com/office/drawing/2014/main" val="10002"/>
                  </a:ext>
                </a:extLst>
              </a:tr>
              <a:tr h="777240">
                <a:tc>
                  <a:txBody>
                    <a:bodyPr/>
                    <a:lstStyle/>
                    <a:p>
                      <a:r>
                        <a:rPr sz="1200" b="0" i="0">
                          <a:solidFill>
                            <a:srgbClr val="1E293B"/>
                          </a:solidFill>
                          <a:latin typeface="Segoe UI"/>
                        </a:rPr>
                        <a:t>Técnico</a:t>
                      </a:r>
                    </a:p>
                  </a:txBody>
                  <a:tcPr marR="73152" anchor="ctr">
                    <a:solidFill>
                      <a:srgbClr val="FFFFFF"/>
                    </a:solidFill>
                  </a:tcPr>
                </a:tc>
                <a:tc>
                  <a:txBody>
                    <a:bodyPr/>
                    <a:lstStyle/>
                    <a:p>
                      <a:r>
                        <a:rPr sz="1200" b="1" i="0">
                          <a:solidFill>
                            <a:srgbClr val="003057"/>
                          </a:solidFill>
                          <a:latin typeface="Segoe UI"/>
                        </a:rPr>
                        <a:t>Lentitud con miles de registros</a:t>
                      </a:r>
                    </a:p>
                  </a:txBody>
                  <a:tcPr marR="73152" anchor="ctr">
                    <a:solidFill>
                      <a:srgbClr val="FFFFFF"/>
                    </a:solidFill>
                  </a:tcPr>
                </a:tc>
                <a:tc>
                  <a:txBody>
                    <a:bodyPr/>
                    <a:lstStyle/>
                    <a:p>
                      <a:r>
                        <a:rPr sz="1100" b="0" i="0">
                          <a:solidFill>
                            <a:srgbClr val="1E293B"/>
                          </a:solidFill>
                          <a:latin typeface="Segoe UI"/>
                        </a:rPr>
                        <a:t>La pantalla se congelaba al cargar, buscar o guardar más de 12.000 camiones.</a:t>
                      </a:r>
                    </a:p>
                  </a:txBody>
                  <a:tcPr marR="73152" anchor="ctr">
                    <a:solidFill>
                      <a:srgbClr val="FFFFFF"/>
                    </a:solidFill>
                  </a:tcPr>
                </a:tc>
                <a:tc>
                  <a:txBody>
                    <a:bodyPr/>
                    <a:lstStyle/>
                    <a:p>
                      <a:r>
                        <a:rPr sz="1100" b="0" i="0">
                          <a:solidFill>
                            <a:srgbClr val="1E293B"/>
                          </a:solidFill>
                          <a:latin typeface="Segoe UI"/>
                        </a:rPr>
                        <a:t>Carga en segundo plano y optimizaciones medidas antes y después (carga de 6,2 s a 0,9 s).</a:t>
                      </a:r>
                    </a:p>
                  </a:txBody>
                  <a:tcPr marR="73152" anchor="ctr">
                    <a:solidFill>
                      <a:srgbClr val="FFFFFF"/>
                    </a:solidFill>
                  </a:tcPr>
                </a:tc>
                <a:extLst>
                  <a:ext uri="{0D108BD9-81ED-4DB2-BD59-A6C34878D82A}">
                    <a16:rowId xmlns:a16="http://schemas.microsoft.com/office/drawing/2014/main" val="10003"/>
                  </a:ext>
                </a:extLst>
              </a:tr>
              <a:tr h="777240">
                <a:tc>
                  <a:txBody>
                    <a:bodyPr/>
                    <a:lstStyle/>
                    <a:p>
                      <a:r>
                        <a:rPr sz="1200" b="0" i="0">
                          <a:solidFill>
                            <a:srgbClr val="1E293B"/>
                          </a:solidFill>
                          <a:latin typeface="Segoe UI"/>
                        </a:rPr>
                        <a:t>Técnico</a:t>
                      </a:r>
                    </a:p>
                  </a:txBody>
                  <a:tcPr marR="73152" anchor="ctr">
                    <a:solidFill>
                      <a:srgbClr val="F8FAFC"/>
                    </a:solidFill>
                  </a:tcPr>
                </a:tc>
                <a:tc>
                  <a:txBody>
                    <a:bodyPr/>
                    <a:lstStyle/>
                    <a:p>
                      <a:r>
                        <a:rPr sz="1200" b="1" i="0">
                          <a:solidFill>
                            <a:srgbClr val="003057"/>
                          </a:solidFill>
                          <a:latin typeface="Segoe UI"/>
                        </a:rPr>
                        <a:t>Datos inconsistentes entre archivos</a:t>
                      </a:r>
                    </a:p>
                  </a:txBody>
                  <a:tcPr marR="73152" anchor="ctr">
                    <a:solidFill>
                      <a:srgbClr val="F8FAFC"/>
                    </a:solidFill>
                  </a:tcPr>
                </a:tc>
                <a:tc>
                  <a:txBody>
                    <a:bodyPr/>
                    <a:lstStyle/>
                    <a:p>
                      <a:r>
                        <a:rPr sz="1100" b="0" i="0">
                          <a:solidFill>
                            <a:srgbClr val="1E293B"/>
                          </a:solidFill>
                          <a:latin typeface="Segoe UI"/>
                        </a:rPr>
                        <a:t>El mismo dato llegaba con distinto nombre o formato en cada planilla.</a:t>
                      </a:r>
                    </a:p>
                  </a:txBody>
                  <a:tcPr marR="73152" anchor="ctr">
                    <a:solidFill>
                      <a:srgbClr val="F8FAFC"/>
                    </a:solidFill>
                  </a:tcPr>
                </a:tc>
                <a:tc>
                  <a:txBody>
                    <a:bodyPr/>
                    <a:lstStyle/>
                    <a:p>
                      <a:r>
                        <a:rPr sz="1100" b="0" i="0">
                          <a:solidFill>
                            <a:srgbClr val="1E293B"/>
                          </a:solidFill>
                          <a:latin typeface="Segoe UI"/>
                        </a:rPr>
                        <a:t>Limpieza automática al cargar y llaves comunes (VIN y CDB) para unir la información.</a:t>
                      </a:r>
                    </a:p>
                  </a:txBody>
                  <a:tcPr marR="73152" anchor="ctr">
                    <a:solidFill>
                      <a:srgbClr val="F8FAFC"/>
                    </a:solidFill>
                  </a:tcPr>
                </a:tc>
                <a:extLst>
                  <a:ext uri="{0D108BD9-81ED-4DB2-BD59-A6C34878D82A}">
                    <a16:rowId xmlns:a16="http://schemas.microsoft.com/office/drawing/2014/main" val="10004"/>
                  </a:ext>
                </a:extLst>
              </a:tr>
              <a:tr h="777240">
                <a:tc>
                  <a:txBody>
                    <a:bodyPr/>
                    <a:lstStyle/>
                    <a:p>
                      <a:r>
                        <a:rPr sz="1200" b="0" i="0">
                          <a:solidFill>
                            <a:srgbClr val="1E293B"/>
                          </a:solidFill>
                          <a:latin typeface="Segoe UI"/>
                        </a:rPr>
                        <a:t>Gestión</a:t>
                      </a:r>
                    </a:p>
                  </a:txBody>
                  <a:tcPr marR="73152" anchor="ctr">
                    <a:solidFill>
                      <a:srgbClr val="FFFFFF"/>
                    </a:solidFill>
                  </a:tcPr>
                </a:tc>
                <a:tc>
                  <a:txBody>
                    <a:bodyPr/>
                    <a:lstStyle/>
                    <a:p>
                      <a:r>
                        <a:rPr sz="1200" b="1" i="0">
                          <a:solidFill>
                            <a:srgbClr val="003057"/>
                          </a:solidFill>
                          <a:latin typeface="Segoe UI"/>
                        </a:rPr>
                        <a:t>Coordinación híbrida (Empresa Demo vs. Duoc UC)</a:t>
                      </a:r>
                    </a:p>
                  </a:txBody>
                  <a:tcPr marR="73152" anchor="ctr">
                    <a:solidFill>
                      <a:srgbClr val="FFFFFF"/>
                    </a:solidFill>
                  </a:tcPr>
                </a:tc>
                <a:tc>
                  <a:txBody>
                    <a:bodyPr/>
                    <a:lstStyle/>
                    <a:p>
                      <a:r>
                        <a:rPr sz="1100" b="0" i="0">
                          <a:solidFill>
                            <a:srgbClr val="1E293B"/>
                          </a:solidFill>
                          <a:latin typeface="Segoe UI"/>
                        </a:rPr>
                        <a:t>Felipe trabajaba presencialmente en Empresa Demo mientras Integrante B lideraba la gobernanza documental en Duoc UC.</a:t>
                      </a:r>
                    </a:p>
                  </a:txBody>
                  <a:tcPr marR="73152" anchor="ctr">
                    <a:solidFill>
                      <a:srgbClr val="FFFFFF"/>
                    </a:solidFill>
                  </a:tcPr>
                </a:tc>
                <a:tc>
                  <a:txBody>
                    <a:bodyPr/>
                    <a:lstStyle/>
                    <a:p>
                      <a:r>
                        <a:rPr sz="1100" b="0" i="0">
                          <a:solidFill>
                            <a:srgbClr val="1E293B"/>
                          </a:solidFill>
                          <a:latin typeface="Segoe UI"/>
                        </a:rPr>
                        <a:t>Comunicación continua, sincronizaciones periódicas y ceremonias ágiles.</a:t>
                      </a:r>
                    </a:p>
                  </a:txBody>
                  <a:tcPr marR="73152" anchor="ctr">
                    <a:solidFill>
                      <a:srgbClr val="FFFFFF"/>
                    </a:solidFill>
                  </a:tcPr>
                </a:tc>
                <a:extLst>
                  <a:ext uri="{0D108BD9-81ED-4DB2-BD59-A6C34878D82A}">
                    <a16:rowId xmlns:a16="http://schemas.microsoft.com/office/drawing/2014/main" val="10005"/>
                  </a:ext>
                </a:extLst>
              </a:tr>
              <a:tr h="777240">
                <a:tc>
                  <a:txBody>
                    <a:bodyPr/>
                    <a:lstStyle/>
                    <a:p>
                      <a:r>
                        <a:rPr sz="1200" b="0" i="0">
                          <a:solidFill>
                            <a:srgbClr val="1E293B"/>
                          </a:solidFill>
                          <a:latin typeface="Segoe UI"/>
                        </a:rPr>
                        <a:t>Gestión</a:t>
                      </a:r>
                    </a:p>
                  </a:txBody>
                  <a:tcPr marR="73152" anchor="ctr">
                    <a:solidFill>
                      <a:srgbClr val="F8FAFC"/>
                    </a:solidFill>
                  </a:tcPr>
                </a:tc>
                <a:tc>
                  <a:txBody>
                    <a:bodyPr/>
                    <a:lstStyle/>
                    <a:p>
                      <a:r>
                        <a:rPr sz="1200" b="1" i="0">
                          <a:solidFill>
                            <a:srgbClr val="003057"/>
                          </a:solidFill>
                          <a:latin typeface="Segoe UI"/>
                        </a:rPr>
                        <a:t>Cambios en reglas de negocio y alcance</a:t>
                      </a:r>
                    </a:p>
                  </a:txBody>
                  <a:tcPr marR="73152" anchor="ctr">
                    <a:solidFill>
                      <a:srgbClr val="F8FAFC"/>
                    </a:solidFill>
                  </a:tcPr>
                </a:tc>
                <a:tc>
                  <a:txBody>
                    <a:bodyPr/>
                    <a:lstStyle/>
                    <a:p>
                      <a:r>
                        <a:rPr sz="1100" b="0" i="0">
                          <a:solidFill>
                            <a:srgbClr val="1E293B"/>
                          </a:solidFill>
                          <a:latin typeface="Segoe UI"/>
                        </a:rPr>
                        <a:t>Reglas que se ajustaban con el uso; el dashboard pasó a ser una página web de otro practicante.</a:t>
                      </a:r>
                    </a:p>
                  </a:txBody>
                  <a:tcPr marR="73152" anchor="ctr">
                    <a:solidFill>
                      <a:srgbClr val="F8FAFC"/>
                    </a:solidFill>
                  </a:tcPr>
                </a:tc>
                <a:tc>
                  <a:txBody>
                    <a:bodyPr/>
                    <a:lstStyle/>
                    <a:p>
                      <a:r>
                        <a:rPr sz="1100" b="0" i="0">
                          <a:solidFill>
                            <a:srgbClr val="1E293B"/>
                          </a:solidFill>
                          <a:latin typeface="Segoe UI"/>
                        </a:rPr>
                        <a:t>Refinamiento del backlog con la Product Owner y control formal de cambios.</a:t>
                      </a:r>
                    </a:p>
                  </a:txBody>
                  <a:tcPr marR="73152" anchor="ctr">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9540963-e559-4020-8a90-fe8a502c2801}" enabled="1" method="Standard" siteId="{f25493ae-1c98-41d7-8a33-0be75f5fe603}" contentBits="0" removed="0"/>
</clbl:labelList>
</file>

<file path=docProps/app.xml><?xml version="1.0" encoding="utf-8"?>
<Properties xmlns="http://schemas.openxmlformats.org/officeDocument/2006/extended-properties" xmlns:vt="http://schemas.openxmlformats.org/officeDocument/2006/docPropsVTypes">
  <TotalTime>3</TotalTime>
  <Words>3990</Words>
  <Application>Microsoft Office PowerPoint</Application>
  <PresentationFormat>Widescreen</PresentationFormat>
  <Paragraphs>421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Segoe UI</vt:lpstr>
      <vt:lpstr>Arial</vt:lpstr>
      <vt:lpstr>Calibri</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Felipe Monsalve</cp:lastModifiedBy>
  <cp:revision>9</cp:revision>
  <dcterms:created xsi:type="dcterms:W3CDTF">2023-10-28T21:12:11Z</dcterms:created>
  <dcterms:modified xsi:type="dcterms:W3CDTF">2026-10-11T02:40:02Z</dcterms:modified>
</cp:coreProperties>
</file>