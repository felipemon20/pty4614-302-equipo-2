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Space Grotesk"/>
      <ns0:bold ns1:id="rIdFont11"/>
    </ns0:embeddedFon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9a388eaa-18f9-4faa-bfc1-b4ca22ffac47.fntdata" /><ns0:Relationship Id="rIdFont12" Type="http://schemas.openxmlformats.org/officeDocument/2006/relationships/font" Target="fonts/3ab633ed-9438-4dac-bda4-a33a7af1e6b4.fntdata" /><ns0:Relationship Id="rIdFont13" Type="http://schemas.openxmlformats.org/officeDocument/2006/relationships/font" Target="fonts/b18a4a5c-db69-41a0-b996-1ff4eaa009a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3510855"/>
            <a:ext cx="762000" cy="38100"/>
          </a:xfrm>
          <a:prstGeom prst="rect">
            <a:avLst/>
          </a:prstGeom>
          <a:solidFill>
            <a:srgbClr val="125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18394"/>
            <a:ext cx="28575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451794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Volvo Dashboard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53755"/>
            <a:ext cx="8334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DBE4F0"/>
                </a:solidFill>
                <a:latin typeface="Inter"/>
              </a:rPr>
              <a:t>Centralización y gestión inteligente para la flota comercial.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73958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A9C6E8"/>
                </a:solidFill>
                <a:latin typeface="Inter"/>
              </a:rPr>
              <a:t>Gerencia OCT | Felipe Monsalve · Irma Beltrán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1937444"/>
            <a:ext cx="45053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9C6E8"/>
                </a:solidFill>
                <a:latin typeface="Inter"/>
              </a:rPr>
              <a:t>VOLVO CHILE · SERVICIOS CONECTADOS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48175"/>
            <a:ext cx="10668000" cy="1143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1237" y="2362200"/>
            <a:ext cx="9525" cy="1476375"/>
          </a:xfrm>
          <a:prstGeom prst="rect">
            <a:avLst/>
          </a:prstGeom>
          <a:solidFill>
            <a:srgbClr val="DB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48175"/>
            <a:ext cx="57150" cy="1143000"/>
          </a:xfrm>
          <a:prstGeom prst="rect">
            <a:avLst/>
          </a:prstGeom>
          <a:solidFill>
            <a:srgbClr val="125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62" y="240030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2" y="2909887"/>
            <a:ext cx="114300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2" y="3224212"/>
            <a:ext cx="11430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2" y="3538537"/>
            <a:ext cx="11430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2668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1F3D"/>
                </a:solidFill>
                <a:latin typeface="Space Grotesk"/>
              </a:rPr>
              <a:t>El Problema: Fragmentación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4752975"/>
            <a:ext cx="11068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257A1"/>
                </a:solidFill>
                <a:latin typeface="Inter"/>
              </a:rPr>
              <a:t>RESTRICCIÓN DE CIBERSEGURIDAD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991100"/>
            <a:ext cx="110680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3D"/>
                </a:solidFill>
                <a:latin typeface="Space Grotesk"/>
              </a:rPr>
              <a:t>Bases de datos relacionales tradicionales prohibidas.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362200"/>
            <a:ext cx="6090046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600" i="0" u="none">
                <a:solidFill>
                  <a:srgbClr val="1257A1"/>
                </a:solidFill>
                <a:latin typeface="Space Grotes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14700"/>
            <a:ext cx="609004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F3D"/>
                </a:solidFill>
                <a:latin typeface="Inter"/>
              </a:rPr>
              <a:t>Fuentes de datos aisladas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38550"/>
            <a:ext cx="60900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B6470"/>
                </a:solidFill>
                <a:latin typeface="Inter"/>
              </a:rPr>
              <a:t>Excel operativos y tableros Power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7062" y="2362200"/>
            <a:ext cx="355996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A1F3D"/>
                </a:solidFill>
                <a:latin typeface="Space Grotesk"/>
              </a:rPr>
              <a:t>Riesgos Operativos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6562" y="2857500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B6470"/>
                </a:solidFill>
                <a:latin typeface="Inter"/>
              </a:rPr>
              <a:t>Procesos 100% manuales.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562" y="3171825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B6470"/>
                </a:solidFill>
                <a:latin typeface="Inter"/>
              </a:rPr>
              <a:t>Duplicidad de información constante.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6562" y="3486150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B6470"/>
                </a:solidFill>
                <a:latin typeface="Inter"/>
              </a:rPr>
              <a:t>Pérdida absoluta de trazabilidad.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62" y="1641276"/>
            <a:ext cx="676275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2913" y="2631876"/>
            <a:ext cx="24861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257A1"/>
                </a:solidFill>
                <a:latin typeface="Inter"/>
              </a:rPr>
              <a:t>OBJETIVO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" y="3136701"/>
            <a:ext cx="11906250" cy="208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b="1" sz="3150" i="0" u="none">
                <a:solidFill>
                  <a:srgbClr val="0A1F3D"/>
                </a:solidFill>
                <a:latin typeface="Space Grotesk"/>
              </a:rPr>
              <a:t>"Centralizar y automatizar la gestión de la flota comercial mediante una aplicación de escritorio, eliminando procesos manuales y cumpliendo las restricciones de ciberseguridad."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60315"/>
            <a:ext cx="2495550" cy="2280195"/>
          </a:xfrm>
          <a:prstGeom prst="roundRect">
            <a:avLst>
              <a:gd name="adj" fmla="val 5012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2760315"/>
            <a:ext cx="2495550" cy="2280195"/>
          </a:xfrm>
          <a:prstGeom prst="roundRect">
            <a:avLst>
              <a:gd name="adj" fmla="val 5012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60315"/>
            <a:ext cx="2495550" cy="2280195"/>
          </a:xfrm>
          <a:prstGeom prst="roundRect">
            <a:avLst>
              <a:gd name="adj" fmla="val 5012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2873722"/>
            <a:ext cx="2495550" cy="2053530"/>
          </a:xfrm>
          <a:prstGeom prst="roundRect">
            <a:avLst>
              <a:gd name="adj" fmla="val 5566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1F3D"/>
                </a:solidFill>
                <a:latin typeface="Space Grotesk"/>
              </a:rPr>
              <a:t>Cuatro Focos Estratégicos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065115"/>
            <a:ext cx="254793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674715"/>
            <a:ext cx="26753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F3D"/>
                </a:solidFill>
                <a:latin typeface="Space Grotesk"/>
              </a:rPr>
              <a:t>Centralizar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055715"/>
            <a:ext cx="21336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5B6470"/>
                </a:solidFill>
                <a:latin typeface="Inter"/>
              </a:rPr>
              <a:t>Toda la información comercial y financiera en una sola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4750" y="3065115"/>
            <a:ext cx="254793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3674715"/>
            <a:ext cx="26753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F3D"/>
                </a:solidFill>
                <a:latin typeface="Space Grotesk"/>
              </a:rPr>
              <a:t>Resguardar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0" y="4055715"/>
            <a:ext cx="21336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5B6470"/>
                </a:solidFill>
                <a:latin typeface="Inter"/>
              </a:rPr>
              <a:t>Respaldo continuo e integridad de datos segura.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065115"/>
            <a:ext cx="254793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674715"/>
            <a:ext cx="26753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F3D"/>
                </a:solidFill>
                <a:latin typeface="Space Grotesk"/>
              </a:rPr>
              <a:t>Automatizar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4055715"/>
            <a:ext cx="21336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5B6470"/>
                </a:solidFill>
                <a:latin typeface="Inter"/>
              </a:rPr>
              <a:t>Cálculos exactos y procesos operativos recurrentes.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3050" y="3178522"/>
            <a:ext cx="254793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3050" y="3788122"/>
            <a:ext cx="26753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F3D"/>
                </a:solidFill>
                <a:latin typeface="Space Grotesk"/>
              </a:rPr>
              <a:t>Facilitar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3050" y="4169122"/>
            <a:ext cx="213360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5B6470"/>
                </a:solidFill>
                <a:latin typeface="Inter"/>
              </a:rPr>
              <a:t>Filtros rápidos y búsqueda ágil de clientes.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